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orient an incoming technical lead, product owner and engineers who have never seen Modeer.</a:t>
            </a:r>
          </a:p>
          <a:p/>
          <a:p>
            <a:r>
              <a:t>Evidence baseline recorded when this deck was prepared (2026-09-15):</a:t>
            </a:r>
          </a:p>
          <a:p>
            <a:r>
              <a:t>- Branch fixes/launch-readiness-20260911, HEAD 1ed17eb5748d948a541f0e76a7fabcddd094534d.</a:t>
            </a:r>
          </a:p>
          <a:p>
            <a:r>
              <a:t>- Large uncommitted working tree on top of HEAD: September 13–14 remediation (atomic credential changes, null validation, stale-fetch fix, new-conversation errors, six prompt revisions, judge changes), new tests, rehearsal scripts and all dated evidence documents. A working-tree implementation is not a released commit.</a:t>
            </a:r>
          </a:p>
          <a:p>
            <a:r>
              <a:t>- Primary sources read in full: docs/PROJECT-REPORT.md, docs/MOBILE-ROADMAP.md, docs/production-readiness-review-2026-09-14.md (with remediation appendix), docs/launch-rehearsal-2026-09-14.md (with Sept 15 closeout), docs/quality-evidence-2026-09-15.md, docs/launch-fixes.md, docs/DEPLOYMENT.md, docs/OPERATIONS.md, plus the raw JSON/TXT artifacts dated 2026-09-14.</a:t>
            </a:r>
          </a:p>
          <a:p>
            <a:r>
              <a:t>- No application code, frontend, deployment or provider quota was touched to make this deck.</a:t>
            </a:r>
          </a:p>
          <a:p/>
          <a:p>
            <a:r>
              <a:t>SOURCES (repository paths are relative to the root): Branch fixes/launch-readiness-20260911 · HEAD 1ed17eb + uncommitted working tree · prepared 2026-09-15</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material claim in this deck carries one of these labels, or its speaker notes say which applies.</a:t>
            </a:r>
          </a:p>
          <a:p/>
          <a:p>
            <a:r>
              <a:t>- IMPLEMENTED: present in source (HEAD 1ed17eb and/or the working tree). Says nothing about behaviour in production.</a:t>
            </a:r>
          </a:p>
          <a:p>
            <a:r>
              <a:t>- VERIFIED (named environment): a dated check passed in the environment stated on the slide (e.g. locked production image on localhost, disposable PostgreSQL 16). Never generalise beyond that environment.</a:t>
            </a:r>
          </a:p>
          <a:p>
            <a:r>
              <a:t>- HISTORICAL: completed earlier, under different code, prompts or rubric. Kept for context, not current acceptance (e.g. 33/39 quality run of Sept 13).</a:t>
            </a:r>
          </a:p>
          <a:p>
            <a:r>
              <a:t>- PROPOSED: planned, not built.</a:t>
            </a:r>
          </a:p>
          <a:p>
            <a:r>
              <a:t>- UNRESOLVED DEFECT: measured, reproduced problem still open (mainly answer quality).</a:t>
            </a:r>
          </a:p>
          <a:p>
            <a:r>
              <a:t>- COVERAGE GAP: something nobody has tested (screen reader, physical phone, load).</a:t>
            </a:r>
          </a:p>
          <a:p>
            <a:r>
              <a:t>- OPERATIONAL GATE: deployment-day work that needs the real host, storage or people.</a:t>
            </a:r>
          </a:p>
          <a:p>
            <a:r>
              <a:t>- OWNER DECISION: a choice only the owner can make.</a:t>
            </a:r>
          </a:p>
          <a:p/>
          <a:p>
            <a:r>
              <a:t>Original findings (e.g. review R14-01..04) are shown separately from their later remediation.</a:t>
            </a:r>
          </a:p>
          <a:p>
            <a:r>
              <a:t>The Sept 13–14 fixes exist only in the uncommitted working tree on top of 1ed17eb; treat them as implemented-and-locally-verified, not released.</a:t>
            </a:r>
          </a:p>
          <a:p/>
          <a:p>
            <a:r>
              <a:t>SOURCES (repository paths are relative to the root): Labels follow docs/PRESENTATION-PROMPT.md · sources for each slide are in its speaker notes</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(implemented): Modeer is a general personal assistant plus nine specialists (Study, Career, Research, Writing, Travel, Shopping, Finance, Fitness, Email). All run in one FastAPI runtime; each has its own config, prompt, private notes and conversations. Selected facts about the person are shared across the team.</a:t>
            </a:r>
          </a:p>
          <a:p/>
          <a:p>
            <a:r>
              <a:t>INTENDED USE CASES: study planning, career preparation, research reasoning, writing/editing, travel planning, purchasing advice, budgeting discussion, fitness planning, email drafting. These are supported workflows, NOT evidence of market validation or paying users (none exist in the evidence).</a:t>
            </a:r>
          </a:p>
          <a:p/>
          <a:p>
            <a:r>
              <a:t>DIFFERENTIATOR (design intent): a persistent personal-context layer and distinct human characters instead of ten unrelated chatbots.</a:t>
            </a:r>
          </a:p>
          <a:p/>
          <a:p>
            <a:r>
              <a:t>CAPABILITY BOUNDARY (implemented guardrails): no browsing, email sending, calendar, purchasing, booking or file access. Shopping cannot verify prices; Email drafts only. Shared guardrails forbid claiming such actions. Do not market integrations that do not exist.</a:t>
            </a:r>
          </a:p>
          <a:p/>
          <a:p>
            <a:r>
              <a:t>NOT PRESENT: native mobile app, payments, push notifications, general background agent scheduler.</a:t>
            </a:r>
          </a:p>
          <a:p/>
          <a:p>
            <a:r>
              <a:t>RELEASE STATUS (docs/launch-rehearsal-2026-09-14.md closeout; review 2026-09-14): local use usable with known limits; invite-only beta and public production are on hold pending the gates on later slides.</a:t>
            </a:r>
          </a:p>
          <a:p/>
          <a:p>
            <a:r>
              <a:t>SOURCES (repository paths are relative to the root): docs/PROJECT-REPORT.md §1 · docs/product.md · backend/app/agents/registry.py · backend/app/agents/context.py</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ten characters use raster artwork from frontend/public/art/sunshine (WebP, converted to PNG for this deck without cropping or changing aspect ratio).</a:t>
            </a:r>
          </a:p>
          <a:p/>
          <a:p>
            <a:r>
              <a:t>PROVENANCE (documented) and RIGHTS GAP:</a:t>
            </a:r>
          </a:p>
          <a:p>
            <a:r>
              <a:t>- docs/SUNSHINE-HOME.md: modeer-hero, study, career, research, writing were generated with an image_gen tool on 2026-09-10 and called "provisional character identities".</a:t>
            </a:r>
          </a:p>
          <a:p>
            <a:r>
              <a:t>- docs/CHARACTER-ART.md: travel, shopping, finance, fitness, email generated 2026-09-10 with image_gen using career.webp as style reference; exact prompts recorded.</a:t>
            </a:r>
          </a:p>
          <a:p>
            <a:r>
              <a:t>- There is NO licence/ownership inventory for these images or for the fonts (Inter, Archivo Black, Permanent Marker, Caveat via next/font/google). Assemble an asset manifest and applicable generation terms before transfer or store publication. Do not infer exclusivity or rights clearance from possession of the files.</a:t>
            </a:r>
          </a:p>
          <a:p/>
          <a:p>
            <a:r>
              <a:t>Roles (registry): Modeer = personal assistant &amp; context keeper; Study = learning coach &amp; explainer; Career = careers, CVs, interviews; Research = analysis; Writing = drafting/editing; Travel = itineraries; Shopping = choices and trade-offs; Finance = budgeting discussion; Fitness = training plans; Email = drafting emails.</a:t>
            </a:r>
          </a:p>
          <a:p/>
          <a:p>
            <a:r>
              <a:t>SOURCES (repository paths are relative to the root): backend/app/agents/*/config.py · frontend/public/art/sunshine · docs/CHARACTER-ART.md · docs/SUNSHINE-HOME.md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(implemented): Login, Signup, Recover, Privacy are the public pages. /api/auth/status says whether auth is required and signup enabled. Invitation-key accounts are provisioned by the operator; password signup (SIGNUP_ENABLED, default false) collects email, display name, password and shows ten recovery codes that must be acknowledged. No email reset and no email-ownership verification exist.</a:t>
            </a:r>
          </a:p>
          <a:p/>
          <a:p>
            <a:r>
              <a:t>ONBOARDING (implemented): conversational. The runtime marks the account onboarded after &gt;=3 shared facts, or 4 usable assistant turns plus &gt;=1 fact. With automatic memory off, facts may need to be saved by hand.</a:t>
            </a:r>
          </a:p>
          <a:p/>
          <a:p>
            <a:r>
              <a:t>TEAM &amp; CHAT: Team lists all ten; a workspace has artwork, starter prompt, composer, history drawer, new/delete conversation. Replies stream; the finished answer is stored before memory extraction runs.</a:t>
            </a:r>
          </a:p>
          <a:p/>
          <a:p>
            <a:r>
              <a:t>MEMORY: shared facts (every specialist can read, filtered by category) vs private notes (one specialist). Users save/edit/delete; shared facts can be pinned; user edits are protected from automatic overwrite.</a:t>
            </a:r>
          </a:p>
          <a:p/>
          <a:p>
            <a:r>
              <a:t>GOALS &amp; TODAY: goals with priority 1–5, status active/done/paused, optional target date. Today is generated deterministically from goals and shared context; no calendar, inbox or weather.</a:t>
            </a:r>
          </a:p>
          <a:p/>
          <a:p>
            <a:r>
              <a:t>ACCOUNT: automatic-memory switch (on by default), password change, recovery codes, export (JSON, no-store), logout, sign out everywhere, deletion (type DELETE).</a:t>
            </a:r>
          </a:p>
          <a:p/>
          <a:p>
            <a:r>
              <a:t>FAILURE RECOVERY: completed / truncated (Continue = new charged turn) / interrupted and failed (Try again = regenerate latest unfinished turn in place). Post-answer memory errors show a notice without discarding the answer (working-tree fix R13-02).</a:t>
            </a:r>
          </a:p>
          <a:p/>
          <a:p>
            <a:r>
              <a:t>SOURCES (repository paths are relative to the root): docs/PROJECT-REPORT.md §2 · frontend/src/app/* · backend/app/api/routes/auth.py · backend/app/agents/runtime.py</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THESE WERE CAPTURED (verified in a named environment): 2026-09-15, headless Chrome via Playwright, frontend working tree served by `next dev` on localhost:3300, API = backend tools.qa_server on 127.0.0.1:8102 with LLM_PROVIDER=mock and MEMORY_EXTRACTION=rules, throwaway SQLite database in a scratch folder, the public QA access key. Goals and memory facts are synthetic and were created through the real API.</a:t>
            </a:r>
          </a:p>
          <a:p/>
          <a:p>
            <a:r>
              <a:t>Chat replies show the MOCK provider's placeholder text ("offline preview response"), not model output. Do not read them as answer quality.</a:t>
            </a:r>
          </a:p>
          <a:p>
            <a:r>
              <a:t>The dev server auto-generated frontend/AGENTS.md and CLAUDE.md; both were deleted afterwards so the frontend tree is unchanged.</a:t>
            </a:r>
          </a:p>
          <a:p>
            <a:r>
              <a:t>These are not screenshots of a production deployment, and not of a phone (the phone view is desktop Chrome at 390px).</a:t>
            </a:r>
          </a:p>
          <a:p/>
          <a:p>
            <a:r>
              <a:t>SOURCES (repository paths are relative to the root): Screenshots 2026-09-15: working tree on Next dev + tools.qa_server (mock model, throwaway SQLite, synthetic data)</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TOKENS (read from frontend/src/app/globals.css): paper #FFF7DF, reading paper #FFFCF2, recessed #FDF0CD, sun #FFDA45, pink #FF438A, deep pink #CC1757 (text), ink #151714, ink-soft #43483F, navy #202D3B. 2px ink borders, hard offset shadows (4/3/2px, no blur).</a:t>
            </a:r>
          </a:p>
          <a:p>
            <a:r>
              <a:t>FONTS in the product: Inter (UI), Archivo Black (display), Permanent Marker (wordmark), Caveat (annotations), via next/font/google. This deck uses installed stand-ins (Arial Black, Segoe UI, Ink Free) because those fonts are not installed on the build machine.</a:t>
            </a:r>
          </a:p>
          <a:p/>
          <a:p>
            <a:r>
              <a:t>CONTRAST (historical finding, then implemented fix 80cf49a, owner-chosen): white on pink was 3.27:1; now ink on pink 5.5:1 and deep pink text #CC1757 meets 4.5:1 on every paper tone.</a:t>
            </a:r>
          </a:p>
          <a:p/>
          <a:p>
            <a:r>
              <a:t>ACCESSIBILITY EVIDENCE (verified, local): 2026-09-14 rehearsal on production images at https://localhost:8443 — 25 axe-core scans (WCAG 2 A/AA, 2.1/2.2 AA, best practice) with zero findings across desktop and 390px widths, including invitation login and recovery-code acknowledgement; keyboard pass over 11 routes with visible focus at every stop; signup to first message without a mouse. An earlier (2026-09-14 review) run had 20 scans with zero violations.</a:t>
            </a:r>
          </a:p>
          <a:p/>
          <a:p>
            <a:r>
              <a:t>GAPS: desktop Chrome emulation only. No physical iPhone/Android test. No completed human screen-reader pass — an automated NVDA attempt on 2026-09-13 was cancelled by the owner (docs/launch-fixes.md). Arabic/RTL and localisation not established.</a:t>
            </a:r>
          </a:p>
          <a:p>
            <a:r>
              <a:t>RESPONSIVE: 390px views render without horizontal overflow in the rehearsal; bottom navigation on phone width (see screenshot).</a:t>
            </a:r>
          </a:p>
          <a:p/>
          <a:p>
            <a:r>
              <a:t>SOURCES (repository paths are relative to the root): frontend/src/app/globals.css :root · docs/accessibility-rehearsal-2026-09-14.json · docs/launch-fixes.md (contrast, NVDA)</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TOPOLOGY (implemented, configured — not proof a host exists): Browser → Caddy (only service publishing 80/443; HTTPS; security headers; fallback CSP) → /api/* to FastAPI with immediate flush for streaming; everything else to Next.js. PostgreSQL 16 on the private Compose network; no published ports for db/backend/frontend. Volumes: database, Caddy certificates/config.</a:t>
            </a:r>
          </a:p>
          <a:p/>
          <a:p>
            <a:r>
              <a:t>BACKEND: one FastAPI app (modules: users, auth, conversations, memory, goals, briefings, agents, admin/ops). SQLAlchemy + Alembic (schema 0004). One Uvicorn worker by design: conversation turn locks and operational counters are process-local. Usage counters and credential locks are database-backed.</a:t>
            </a:r>
          </a:p>
          <a:p>
            <a:r>
              <a:t>LOCAL/TEST: SQLite path; production refuses mock provider or missing LLM_API_KEY.</a:t>
            </a:r>
          </a:p>
          <a:p>
            <a:r>
              <a:t>PROVIDER: one configured OpenAI-compatible provider (Groq in the example config), receives instructions, selected personal context, recent history and the message; extraction is a second call.</a:t>
            </a:r>
          </a:p>
          <a:p/>
          <a:p>
            <a:r>
              <a:t>OPERATOR JOBS (implemented scripts, NOT installed anywhere): nightly-backup.sh (pg_dump → OpenSSL AES-256-CBC/PBKDF2 → copy with byte compare → restore check) and watchdog.sh (reads readiness, alerts on state change). Cron lines documented in docs/OPERATIONS.md.</a:t>
            </a:r>
          </a:p>
          <a:p/>
          <a:p>
            <a:r>
              <a:t>BOUNDARIES that matter for a successor: keep one backend worker until distributed turn claims exist; there is no job queue, no stream replay, no CI workflow directory (.github absent at review).</a:t>
            </a:r>
          </a:p>
          <a:p/>
          <a:p>
            <a:r>
              <a:t>SOURCES (repository paths are relative to the root): deploy/compose.yml · deploy/Caddyfile · backend/app/main.py · docs/PROJECT-REPORT.md §4, §8</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(implemented), POST /api/agents/{id}/chat/stream:</a:t>
            </a:r>
          </a:p>
          <a:p>
            <a:r>
              <a:t>1. Authenticate the signed cookie; charge the per-account request window (default 6/min).</a:t>
            </a:r>
          </a:p>
          <a:p>
            <a:r>
              <a:t>2. Resolve account + session epoch and conversation ownership BEFORE the response starts (revoked sessions get HTTP 401, not an interrupted stream).</a:t>
            </a:r>
          </a:p>
          <a:p>
            <a:r>
              <a:t>3. Serialise turns per conversation inside the process; persist the user message (strictly increasing timestamps).</a:t>
            </a:r>
          </a:p>
          <a:p>
            <a:r>
              <a:t>4. Load filtered shared memory, this specialist's private notes, up to 5 active goals and up to 20 history turns (40 messages); build the context packet.</a:t>
            </a:r>
          </a:p>
          <a:p>
            <a:r>
              <a:t>5. Charge estimated provider budget units (UTF-8 bytes + output allowance + framing; not provider tokens).</a:t>
            </a:r>
          </a:p>
          <a:p>
            <a:r>
              <a:t>6. Stream from the provider; SSE frames start → delta… → end(completion, notice). Errors after headers travel as error events with completion=failed.</a:t>
            </a:r>
          </a:p>
          <a:p>
            <a:r>
              <a:t>7. Save final or partial assistant message with meta.completion and meta.notice.</a:t>
            </a:r>
          </a:p>
          <a:p>
            <a:r>
              <a:t>8. If automatic memory is on: extract candidate facts from the USER message, validate, store; emit a memory event (or a memory error).</a:t>
            </a:r>
          </a:p>
          <a:p/>
          <a:p>
            <a:r>
              <a:t>KEY POINT: the browser's `end` event does not mean memory processing finished. There is no stream replay, Last-Event-ID or idempotency key; clients must re-fetch history after uncertain delivery.</a:t>
            </a:r>
          </a:p>
          <a:p>
            <a:r>
              <a:t>Timeouts: provider total 35s with idle-gap watch (idle counted only after words flow), memory 8s, frontend aborts at 50s.</a:t>
            </a:r>
          </a:p>
          <a:p/>
          <a:p>
            <a:r>
              <a:t>SOURCES (repository paths are relative to the root): backend/app/api/routes/chat.py · backend/app/agents/runtime.py · backend/app/agents/context.py · docs/PROJECT-REPORT.md §4, §7</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STATES (implemented; verified locally through Caddy with a scripted upstream on 2026-09-14):</a:t>
            </a:r>
          </a:p>
          <a:p>
            <a:r>
              <a:t>- completed: provider finished normally.</a:t>
            </a:r>
          </a:p>
          <a:p>
            <a:r>
              <a:t>- truncated: hit the agent's output cap; text kept, labelled; Continue sends "Continue from where you stopped." as a new, charged user turn (not a transport resume).</a:t>
            </a:r>
          </a:p>
          <a:p>
            <a:r>
              <a:t>- interrupted: upstream error, missing finish, timeout, or the client's connection dropped after text arrived; partial text kept.</a:t>
            </a:r>
          </a:p>
          <a:p>
            <a:r>
              <a:t>- failed: nothing usable arrived (including empty reply); an empty placeholder is stored and excluded from the next prompt.</a:t>
            </a:r>
          </a:p>
          <a:p/>
          <a:p>
            <a:r>
              <a:t>RETRY: {"conversation_id": …, "retry": true} regenerates the latest unfinished turn in place — reuses the user message, replaces the unfinished reply, refused with 409 once the latest reply completed; never automatic; does not re-run extraction.</a:t>
            </a:r>
          </a:p>
          <a:p>
            <a:r>
              <a:t>REFUNDS: a provider failure before any text refunds that call's budget units; partial replies and cancellations stay charged; request-attempt limits are separate.</a:t>
            </a:r>
          </a:p>
          <a:p/>
          <a:p>
            <a:r>
              <a:t>VERIFIED 2026-09-14 (production images, https://localhost:8443, scripted model): truncated/Continue, interrupted/Try again without duplicates, failed then recovered, offline mid-reply then reload + Try again, progressive streaming (14 visible steps), unfinished reply announced to assistive tech.</a:t>
            </a:r>
          </a:p>
          <a:p>
            <a:r>
              <a:t>LIMITS (coverage gaps): turn serialisation is per process only; no multi-worker claim; no durable job; no replay; real mobile/cellular disconnects untested; the live journey's early client close uses an in-process TestClient and is NOT a network disconnect test.</a:t>
            </a:r>
          </a:p>
          <a:p/>
          <a:p>
            <a:r>
              <a:t>SOURCES (repository paths are relative to the root): backend/app/llm/openai_compat_provider.py · backend/app/conversations/service.py · docs/launch-fixes.md §2 · production-rehearsal-2026-09-14.json</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(implemented): backend/app/agents/&lt;slug&gt;/ holds config.py (ModelConfig, framework, behaviour, safety), prompt.md and evals.json. registry.py is authoritative; startup syncs an `agents` table for foreign keys. Routing is explicit: the person picks the agent; Modeer points to the right specialist in text. There is no automatic router.</a:t>
            </a:r>
          </a:p>
          <a:p/>
          <a:p>
            <a:r>
              <a:t>MODELS (source/example settings, not declared private deployment values): default LLM_MODEL openai/gpt-oss-120b, reasoning effort low; Writing overrides to qwen/qwen3.8-27b. The Groq GPT-OSS adapter adds 512 completion tokens for reasoning on top of caps.</a:t>
            </a:r>
          </a:p>
          <a:p/>
          <a:p>
            <a:r>
              <a:t>DISCREPANCY RESOLVED FROM CODE: docs/PROJECT-REPORT.md §5 lists older prompt versions (Study 4, Research 5, Writing 4, Travel 7, Shopping 4, Fitness 5). The code read on 2026-09-15 and the Sept 14 quality artifact's effective settings both show Study 5, Research 6, Writing 5, Travel 8, Shopping 5, Fitness 6. This slide uses the code values. Note these six prompt changes are in the uncommitted working tree.</a:t>
            </a:r>
          </a:p>
          <a:p/>
          <a:p>
            <a:r>
              <a:t>ASK MY TEAM (implemented, OFF): TEAM_ENABLED=false by default and no frontend caller. If enabled: up to five selected agents run sequentially, each in a new conversation with shared context only, no extraction, then Modeer synthesises — up to six generation calls. Private notes do not reach synthesis. Consult conversations still appear in specialists' histories. Keep it off until its own interaction/cost/failure design is approved.</a:t>
            </a:r>
          </a:p>
          <a:p/>
          <a:p>
            <a:r>
              <a:t>SOURCES (repository paths are relative to the root): backend/app/agents/&lt;slug&gt;/config.py (read 2026-09-15) · backend/app/api/routes/team.py · docs/quality-remediation-2026-09-14b.json</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PACKET (implemented): agent prompt + framework/behaviour/safety + shared guardrails + name/profile + shared facts the agent's category filter allows (preferences are broadly relevant) + THIS specialist's private notes + up to 5 active goals + up to 20 history turns (40 messages). Failed placeholders omitted. Each profile/goals/memory block body is capped at 6000 characters (per block, not a total token guarantee); new memory values and goal details limited to 2000 characters; profile at most 20 fields, 40-char keys, 300-char values. No embeddings or vector database.</a:t>
            </a:r>
          </a:p>
          <a:p/>
          <a:p>
            <a:r>
              <a:t>SCOPE:</a:t>
            </a:r>
          </a:p>
          <a:p>
            <a:r>
              <a:t>- Shared memory: one person's facts readable by every specialist whose filter includes the category.</a:t>
            </a:r>
          </a:p>
          <a:p>
            <a:r>
              <a:t>- Private notes: one specialist namespace; never in another specialist's prompt; never in Ask My Team synthesis.</a:t>
            </a:r>
          </a:p>
          <a:p>
            <a:r>
              <a:t>- Accounts: never cross.</a:t>
            </a:r>
          </a:p>
          <a:p>
            <a:r>
              <a:t>VERIFIED (automated, local): test_prompt_isolation.py drives real HTTP chat requests with a recording provider and inspects the actual system/messages sent, with positive controls. These tests judge prompt construction, not generated answers.</a:t>
            </a:r>
          </a:p>
          <a:p/>
          <a:p>
            <a:r>
              <a:t>EXTRACTION: from the user's message only; candidates validated field by field; invalid scopes dropped (never widened to shared); malformed/missing sensitivity flags treated as sensitive; keyword/category backstop can still MISS sensitive wording (best effort, disclosed). User-saved and user-edited facts are never overwritten automatically; pinning alone does not claim authorship.</a:t>
            </a:r>
          </a:p>
          <a:p>
            <a:r>
              <a:t>CONSENT SWITCH: automatic memory ON by default, including migrated accounts; OFF stops new extraction calls but does not delete facts or stop existing context reaching the reply model. No per-fact approval queue.</a:t>
            </a:r>
          </a:p>
          <a:p/>
          <a:p>
            <a:r>
              <a:t>SOURCES (repository paths are relative to the root): backend/app/agents/context.py · backend/app/memory/* · backend/tests/test_prompt_isolation.py · docs/PROJECT-REPORT.md §5–6</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TABLES (implemented; ten application tables plus alembic_version — some older docs said eleven, which was wrong):</a:t>
            </a:r>
          </a:p>
          <a:p>
            <a:r>
              <a:t>users (account, optional email/password hash, display name, profile JSON, onboarded, session_epoch, memory_auto) · recovery_codes (hashes + used_at) · agents (registry mirror) · conversations · messages (text, role, timestamps, completion metadata) · shared_memories (unique per user/key; source, confidence, sensitive, pinned) · agent_memories (unique per user/agent/key) · goals · briefings · usage_buckets (fixed-window counters incl. hashed auth-attempt subjects).</a:t>
            </a:r>
          </a:p>
          <a:p/>
          <a:p>
            <a:r>
              <a:t>MIGRATIONS: 0001 initial eight tables; 0002 usage_buckets; 0003 session_epoch; 0004 password_hash, memory_auto, recovery_codes.</a:t>
            </a:r>
          </a:p>
          <a:p>
            <a:r>
              <a:t>VERIFIED 2026-09-14 on a disposable PostgreSQL 16 database: empty → 0004; 0004 → 0003 → 0004; sentinel user and epoch kept. DOWNGRADE DELETES password and recovery data — not a data-preserving rollback; use a tested backup.</a:t>
            </a:r>
          </a:p>
          <a:p/>
          <a:p>
            <a:r>
              <a:t>EXPORT: account, conversations/messages, memories, goals, briefings; not password or recovery secrets; Cache-Control: no-store.</a:t>
            </a:r>
          </a:p>
          <a:p>
            <a:r>
              <a:t>DELETION: type DELETE; cascades account-owned rows and usage counters; clears the session. Does NOT erase existing backups or copies already sent to the provider. Owner must define retention and prevent a disaster restore from resurrecting deleted accounts.</a:t>
            </a:r>
          </a:p>
          <a:p>
            <a:r>
              <a:t>LEGACY DATA: tools/memory_audit.py is read-only; the configured local SQLite DB had zero automatic memories. Other databases and previous backups were not audited (operational gate).</a:t>
            </a:r>
          </a:p>
          <a:p/>
          <a:p>
            <a:r>
              <a:t>SOURCES (repository paths are relative to the root): backend/app/db/models.py · backend/migrations/versions/0001–0004 · docs/production-verification-2026-09-14.json · docs/PROJECT-REPORT.md §6</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SESSIONS (implemented): signed `modeer_session` cookie, path /api, HttpOnly, SameSite=Strict, Secure in production, default 7 days (SESSION_SECONDS 604800). HMAC covers account id, epoch, expiry and any invitation-key digest. Revocation: account session_epoch (password change, recovery, sign out everywhere, deletion) or removing/rotating an access-key entry; rotating AUTH_SECRET signs everyone out. No per-device session table.</a:t>
            </a:r>
          </a:p>
          <a:p>
            <a:r>
              <a:t>AUTHORIZATION: account-scoped route dependencies; admin endpoints gated by ADMIN_ACCOUNTS (empty = nobody, non-admins get 404). Browser mutations require the configured Origin. Development-only X-User-Id must never be exposed.</a:t>
            </a:r>
          </a:p>
          <a:p>
            <a:r>
              <a:t>PASSWORDS &amp; RECOVERY: salted scrypt; 10–128 chars; ten single-use recovery codes stored as SHA-256 hashes; wrong password and unknown email get the same message after the same work. Recovery locks the account row, conditionally consumes an unused code and bumps the epoch in one transaction (working-tree fix R13-01).</a:t>
            </a:r>
          </a:p>
          <a:p>
            <a:r>
              <a:t>VERIFIED 2026-09-14 on PostgreSQL 16 in the locked image: same code twice → one success, one 401; two different codes → sessions at epochs 1 and 2. Not a multi-worker load test.</a:t>
            </a:r>
          </a:p>
          <a:p>
            <a:r>
              <a:t>THROTTLES: 10 password/recovery attempts per email per 15 min; 5 signups per client address per hour; hashed subjects in usage_buckets. Not proven against distributed signup, random-email load, or lock-out of a known person's allowance.</a:t>
            </a:r>
          </a:p>
          <a:p>
            <a:r>
              <a:t>QUOTAS: 6 chat requests per account per minute; 60,000 conservative budget units per UTC day (bytes + output allowance, not provider tokens); refund when the provider fails before any text. All accounts share the upstream free-tier quota.</a:t>
            </a:r>
          </a:p>
          <a:p>
            <a:r>
              <a:t>OPERATOR RECOVERY: provision_user.py --rotate [--clear-password] when a person loses password and all codes.</a:t>
            </a:r>
          </a:p>
          <a:p/>
          <a:p>
            <a:r>
              <a:t>SOURCES (repository paths are relative to the root): backend/app/core/auth.py · passwords.py · usage.py · api/routes/auth.py · docs/launch-rehearsal-2026-09-14.md · docs/usage-limits.md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(implemented): per-request script nonce + 'strict-dynamic' CSP on pages (styles keep 'unsafe-inline' for style attributes); Caddy fallback CSP, HSTS, nosniff, X-Frame-Options/frame-ancestors none, same-origin referrer, COOP, Permissions-Policy; X-Powered-By off. Markdown rendered as React elements with an explicit URL policy (8 allowed / 21 refused forms tested). Production disables /docs, /redoc, /openapi.json (verified 404 on the direct backend port 2026-09-14). Logs carry route templates, incident ids and exception types — never message content, SQL parameters or exception values. Hash-locked backend (33 packages) and digest-pinned images. Audits 2026-09-14 review: npm audit --omit=dev 0, pip-audit on the lock 0 known vulnerabilities.</a:t>
            </a:r>
          </a:p>
          <a:p>
            <a:r>
              <a:t>RELIABILITY: readiness (/api/health/detail) checks the DB and migration head; degrades on 3 consecutive provider failures per model, active quota block, recent unhandled errors. Anonymous callers see only status/database/schema_current. Counters reset with the process.</a:t>
            </a:r>
          </a:p>
          <a:p>
            <a:r>
              <a:t>OPERATIONS (implemented scripts): nightly-backup.sh (refuses missing key/destination; pg_dump → OpenSSL AES-256-CBC PBKDF2 → byte-compared copy → retention on both → restore check) and watchdog.sh (state-change alerts, retries failed delivery); alerts via webhook or Telegram, 15-minute cooldown.</a:t>
            </a:r>
          </a:p>
          <a:p>
            <a:r>
              <a:t>VERIFIED 2026-09-14 (disposable Docker Linux worker + PostgreSQL 16): 10 operations checks incl. wrong-key rejection, schema-0004 restore matching every table's count and row digest (credentials, consumed codes, epochs, consent), restore over a populated scratch DB, alert per state change and retry.</a:t>
            </a:r>
          </a:p>
          <a:p>
            <a:r>
              <a:t>LIMITS: the "offhost" destination was a second directory on the same computer; alerts went to a local synthetic receiver; nothing is scheduled on a real host. RPO/RTO in OPERATIONS.md (24h / 1–2h) are stated expectations, not measured.</a:t>
            </a:r>
          </a:p>
          <a:p>
            <a:r>
              <a:t>OPERATOR DUTIES: install cron jobs; provide genuinely remote storage and a passphrase kept separately; configure and test a real alert recipient; run memory_audit on legacy DBs; keep one worker; rotate keys/secrets per the access table.</a:t>
            </a:r>
          </a:p>
          <a:p/>
          <a:p>
            <a:r>
              <a:t>SOURCES (repository paths are relative to the root): frontend/src/proxy.ts · deploy/Caddyfile · deploy/*.sh · docs/OPERATIONS.md · docs/operations-rehearsal-2026-09-14.json</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not a commit dump (dates from dated documents; hashes where a commit exists):</a:t>
            </a:r>
          </a:p>
          <a:p>
            <a:r>
              <a:t>- To 2026-09-10 (historical): core product, Sunshine &amp; Ink redesign and portraits, container stack verified with 0002, operator dashboard + alerts (30ae80d).</a:t>
            </a:r>
          </a:p>
          <a:p>
            <a:r>
              <a:t>- 2026-09-11 (historical, c76bd9d, d3e2494): account controls, export/deletion, privacy notice, fail-closed memory extraction, explicit completion states and retry, hash-locked dependencies, CSP, Ask My Team off, length-cap fix. Quality then: 25/39 regraded baseline (historical).</a:t>
            </a:r>
          </a:p>
          <a:p>
            <a:r>
              <a:t>- 2026-09-12 (historical, ee5328d): review remediation; FastAPI 0.141.1/Starlette 1.6.0 cleared 14 advisories; prompt rules 2/3.</a:t>
            </a:r>
          </a:p>
          <a:p>
            <a:r>
              <a:t>- 2026-09-13 (commits f0e5aa4, 80cf49a, 682f6cf, 1ed17eb): open signup/password/recovery codes, per-person memory switch, nonce CSP, Next 16 (0 npm advisories), contrast fix, grounding rules and invented_currency check. Independent review R13-01..04 then fixed in the WORKING TREE (atomic recovery, memory error notice, context bounds, quality provenance). Quality 33/39 (historical, older rubric).</a:t>
            </a:r>
          </a:p>
          <a:p>
            <a:r>
              <a:t>- 2026-09-14 review R14-01..04 (original findings): stale fetch hides saved fact; explicit nulls give 500/409; failed new conversation silent; absolute sensitive-filter promise. All four fixed in the WORKING TREE with 351 tests and a Chrome regression script.</a:t>
            </a:r>
          </a:p>
          <a:p>
            <a:r>
              <a:t>- 2026-09-14 local production rehearsal: 351 image tests, 23 browser checks, 25 axe scans, 10 ops checks, PostgreSQL races and migrations; six prompts + judge revised; quality run 27 pass / 11 fail / 1 unavailable.</a:t>
            </a:r>
          </a:p>
          <a:p>
            <a:r>
              <a:t>- 2026-09-15: live application journey 13/13; closeout documents. Docker cleanup of the rehearsal project not verified.</a:t>
            </a:r>
          </a:p>
          <a:p/>
          <a:p>
            <a:r>
              <a:t>SOURCES (repository paths are relative to the root): git log · docs/launch-fixes.md · reviews 2026-09-11/13/14 · docs/launch-rehearsal-2026-09-14.md · docs/quality-evidence-2026-09-15.md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number belongs to its own environment. Do not sum them into a score.</a:t>
            </a:r>
          </a:p>
          <a:p/>
          <a:p>
            <a:r>
              <a:t>1. 351 backend tests PASSED in the final locked production image (Python 3.12, 33 locked packages, separate test-tool dir), 13.84 s, 2026-09-14. The two simultaneous-recovery tests ran on PostgreSQL 16 (unique temp schema per case); everything else on isolated SQLite. One Starlette TestClient deprecation warning. Not a load or multi-worker test.</a:t>
            </a:r>
          </a:p>
          <a:p>
            <a:r>
              <a:t>2. 23 HTTPS browser checks PASSED — production images, Caddy local CA at https://localhost:8443, scripted upstream model, desktop Chrome, zero CSP violations and page errors (list in production-rehearsal-2026-09-14.json). Not the public domain, not the real model, not a phone.</a:t>
            </a:r>
          </a:p>
          <a:p>
            <a:r>
              <a:t>3. 25 axe-core scans, 0 findings, plus keyboard pass over 11 routes — same local stack, desktop and 390px widths. Not physical devices, not a human screen-reader pass.</a:t>
            </a:r>
          </a:p>
          <a:p>
            <a:r>
              <a:t>4. 10 operations checks PASSED — disposable Docker Linux worker + PostgreSQL 16; "offhost" = second local directory; alerts to a local synthetic receiver. Not remote disaster recovery, not scheduler, not operator receipt.</a:t>
            </a:r>
          </a:p>
          <a:p>
            <a:r>
              <a:t>5. 13 live application journey checks PASSED — Groq openai/gpt-oss-120b, in-process TestClient, disposable SQLite (deleted). Its early client closure is NOT a real transport disconnect; that reply completed.</a:t>
            </a:r>
          </a:p>
          <a:p>
            <a:r>
              <a:t>Also: migrations 0004↔0003 on disposable PostgreSQL 16; /docs /redoc /openapi.json 404 direct; Sept 14 review: frontend typecheck/build, lint 0 errors / 12 warnings, link check 8/21, npm audit 0, pip-audit 0.</a:t>
            </a:r>
          </a:p>
          <a:p>
            <a:r>
              <a:t>Reproduce: see appendix "Reproducible commands".</a:t>
            </a:r>
          </a:p>
          <a:p/>
          <a:p>
            <a:r>
              <a:t>SOURCES (repository paths are relative to the root): docs/production-verification-2026-09-14.json · production-rehearsal · accessibility-rehearsal · operations-rehearsal (2026-09-14) · journey-rehearsal-2026-09-14.txt</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(verified in named configuration): 39 responses = 13 cases × 3 samples (10 personalization cases + unknown-fact cases for Study, Career, Writing). Provider Groq; default openai/gpt-oss-120b; Writing override and judge qwen/qwen3.8-27b; reasoning low; timeout 35 s; judge temperature 0, 700 output tokens (retry 1,200). Source hash f77bf299af1e2515b9d5f4817f601fc60ad9205ad00df5d5a922931c7bf4d1eb on every row; code_revision recorded as 1ed17eb-dirty (working tree). No provider errors, no truncation, all within length limits. Replies 0.61–2.66 s in a paced single-account test — not latency or load evidence.</a:t>
            </a:r>
          </a:p>
          <a:p/>
          <a:p>
            <a:r>
              <a:t>AUTOMATED RESULT: 27 passes, 11 failures, 1 unavailable grade. The grading-only retry (1,200 tokens) again returned unparsable JSON. Not comparable with the historical 33/39 (Sept 13), which used earlier prompts and a weaker rubric.</a:t>
            </a:r>
          </a:p>
          <a:p/>
          <a:p>
            <a:r>
              <a:t>MANUAL SPOT CHECKS (quality-evidence-2026-09-15.md) — they find BOTH judge false positives and missed defects:</a:t>
            </a:r>
          </a:p>
          <a:p>
            <a:r>
              <a:t>- Shopping 0/3: all assert an unverified fit to the budget; sample 2 invents a dollar currency; sample 1 calls older hardware "latest".</a:t>
            </a:r>
          </a:p>
          <a:p>
            <a:r>
              <a:t>- Travel 1/3: sample 2 asserts flight/venue/boat times; sample 1's judge objection is wrong, but it treats Manchester residence as UK nationality.</a:t>
            </a:r>
          </a:p>
          <a:p>
            <a:r>
              <a:t>- Career 1/3: sample 1 invents a stable visa and mentorship; sample 2's "e.g. 30%" objection is a false positive, but the plan has an unsupported calendar.</a:t>
            </a:r>
          </a:p>
          <a:p>
            <a:r>
              <a:t>- Writing 1/3: two very short but factual bios (subjective completeness) that omit a supplied aspiration.</a:t>
            </a:r>
          </a:p>
          <a:p>
            <a:r>
              <a:t>- Finance 2/3: sample 3 asserts a current Dublin property-price range without a source.</a:t>
            </a:r>
          </a:p>
          <a:p>
            <a:r>
              <a:t>- Fitness 1 pass / 1 fail / 1 unavailable: manual review also rejects the automated pass (unprovided bench/equipment, recovery day with a circuit); sample 2 ungraded, manual constraint failure.</a:t>
            </a:r>
          </a:p>
          <a:p>
            <a:r>
              <a:t>- Modeer, Study, Research, Email: all personalization samples passed; all 9 unknown-fact responses passed.</a:t>
            </a:r>
          </a:p>
          <a:p>
            <a:r>
              <a:t>No independent human quality sign-off; judge and Writing share a model family. Next work: grounded contrast cases, compact instruction set, judge JSON reliability and calibration, held-out re-run, owner acceptance criteria.</a:t>
            </a:r>
          </a:p>
          <a:p/>
          <a:p>
            <a:r>
              <a:t>SOURCES (repository paths are relative to the root): docs/quality-remediation-2026-09-14b.json · quality-rejudged-2026-09-14.json · docs/quality-evidence-2026-09-15.md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positions restate the dated evidence; this deck makes no new approval.</a:t>
            </a:r>
          </a:p>
          <a:p/>
          <a:p>
            <a:r>
              <a:t>ORIGINAL (review 2026-09-14, read-only): local use usable with known defects; invite-only beta conditional hold; public production hold. Its R14-01..04 were then fixed in the working tree and regression-checked; the subsequent local rehearsal closed the PostgreSQL race and schema-0004 restore gates LOCALLY.</a:t>
            </a:r>
          </a:p>
          <a:p/>
          <a:p>
            <a:r>
              <a:t>LOCAL USE — usable with synthetic or non-critical data, knowing: answer quality defects; memory filtering best effort; single worker; fixes uncommitted.</a:t>
            </a:r>
          </a:p>
          <a:p/>
          <a:p>
            <a:r>
              <a:t>INVITE-ONLY BETA — HOLD until: working tree preserved/committed and built into immutable images; hosted staging on the real HTTPS domain (secure cookies, account isolation, streaming, disconnect/retry, memory-failure handling); encrypted schema-0004 restore from genuinely remote storage with installed scheduler and retention; delivery confirmed to a real operator; memory audit of any pre-hardening database; explicit quality/support decision from the measured failures; one backend worker.</a:t>
            </a:r>
          </a:p>
          <a:p/>
          <a:p>
            <a:r>
              <a:t>PUBLIC PRODUCTION — HOLD: all beta gates plus open-signup abuse/capacity against the shared provider quota; recovery-only support and unverified-email policy; privacy/retention/support ownership; physical iOS/Android and human screen-reader journeys; asset provenance/rights, domain and operator credentials handed over explicitly. There is no evidence-based basis to announce public production readiness.</a:t>
            </a:r>
          </a:p>
          <a:p/>
          <a:p>
            <a:r>
              <a:t>SOURCES (repository paths are relative to the root): docs/production-readiness-review-2026-09-14.md (decision + appendix) · docs/launch-rehearsal-2026-09-14.md · docs/quality-evidence-2026-09-15.md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UNRESOLVED DEFECTS (measured): answer grounding across Shopping, Travel, Career, Finance, Fitness, Writing completeness; judge JSON unreliability (1 unavailable, retry failed); judge false positives/negatives.</a:t>
            </a:r>
          </a:p>
          <a:p>
            <a:r>
              <a:t>COVERAGE GAPS: human screen-reader pass; physical iPhone/Android; multi-worker/load and concurrency beyond the two recovery races; real network disconnect on real transport; distributed signup/login abuse; pagination of growing collections; no CI pipeline; judge independence (shares model family with Writing); no stream replay/idempotency.</a:t>
            </a:r>
          </a:p>
          <a:p>
            <a:r>
              <a:t>OPERATIONAL GATES: public host/domain/TLS; genuinely remote encrypted backup + installed scheduler + restore from it; alert receipt by a real operator (with authorisation to send test messages); memory audit of any other/legacy database; verify removal of the Docker project `modeer-rehearsal-20260914` (Docker was unavailable at closeout); build immutable images from a committed revision.</a:t>
            </a:r>
          </a:p>
          <a:p>
            <a:r>
              <a:t>OWNER DECISIONS: account mode (invitation keys vs open signup) and email-identity/support policy; automatic-memory default; quality acceptance criteria and sustainable provider capacity (free tier); data retention, RPO/RTO; privacy and support ownership; alert recipient; artwork and font rights; whether and how to commit/merge the working tree; hosting/domain.</a:t>
            </a:r>
          </a:p>
          <a:p>
            <a:r>
              <a:t>DOCUMENT DISCREPANCIES noticed while preparing: PROJECT-REPORT §5 prompt versions stale (code is newer); DEPLOYMENT.md still says the rehearsal checks "20 things" and to "settle the colour-contrast findings" (both superseded); HANDOFF.md and STATUS.md last updated 2026-09-13 and do not reflect Sept 14–15 work.</a:t>
            </a:r>
          </a:p>
          <a:p/>
          <a:p>
            <a:r>
              <a:t>SOURCES (repository paths are relative to the root): docs/quality-evidence-2026-09-15.md · docs/launch-rehearsal-2026-09-14.md §Remaining gates · docs/PROJECT-REPORT.md §10</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Record the baseline (HEAD 1ed17eb + working tree). With the owner, commit or otherwise preserve the uncommitted Sept 13–14 fixes, tests, scripts and evidence; never reset them.</a:t>
            </a:r>
          </a:p>
          <a:p>
            <a:r>
              <a:t>2. Reproduce local checks from the appendix (backend pytest + ruff; frontend typecheck, lint, build, links, stream, api checks; npm audit).</a:t>
            </a:r>
          </a:p>
          <a:p>
            <a:r>
              <a:t>3. When Docker is available, inspect label modeer-rehearsal-20260914 and remove ONLY that synthetic project.</a:t>
            </a:r>
          </a:p>
          <a:p>
            <a:r>
              <a:t>4. Collect owner decisions: host/domain, account mode, provider capacity within the free tier, retention and RPO/RTO, alert recipient, privacy/support ownership, automatic-memory default, asset rights.</a:t>
            </a:r>
          </a:p>
          <a:p>
            <a:r>
              <a:t>5. Quality: add grounded contrast cases with positive controls; compact instruction set; fix judge JSON; calibrate; freeze sources; re-run with fingerprints on new filenames; repeat the live journey; get owner acceptance.</a:t>
            </a:r>
          </a:p>
          <a:p>
            <a:r>
              <a:t>6. Hosted staging on the real domain: public certificate, cookies, account isolation, streaming, disconnect/retry, memory-failure notice.</a:t>
            </a:r>
          </a:p>
          <a:p>
            <a:r>
              <a:t>7. Remote encrypted backups: install scheduler, verify mount failure behaviour and retention, restore schema 0004 from that storage.</a:t>
            </a:r>
          </a:p>
          <a:p>
            <a:r>
              <a:t>8. Configure a real alert channel; with authorisation, confirm outage, recovery, test and backup-failure receipt.</a:t>
            </a:r>
          </a:p>
          <a:p>
            <a:r>
              <a:t>9. Physical iPhone/Android and human screen-reader journeys; memory audit of any pre-hardening database; keep one backend worker; then make the beta decision.</a:t>
            </a:r>
          </a:p>
          <a:p>
            <a:r>
              <a:t>10. Only then start the mobile feasibility milestone (see the mobile roadmap deck).</a:t>
            </a:r>
          </a:p>
          <a:p/>
          <a:p>
            <a:r>
              <a:t>SOURCES (repository paths are relative to the root): docs/PROJECT-REPORT.md §11 · docs/launch-rehearsal-2026-09-14.md · docs/MOBILE-ROADMAP.md §14</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Appendices: API surface, environment variables (names only), reproducible commands, more screens, evidence index and discrepancies.</a:t>
            </a:r>
          </a:p>
          <a:p/>
          <a:p>
            <a:r>
              <a:t>SOURCES (repository paths are relative to the root): HEAD 1ed17eb + uncommitted working tree · prepared 2026-09-15</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list (implemented): auth/status GET; auth/login, signup (feature-gated), recover, logout POST; auth/account GET; auth/password, recovery-codes, sign-out-everywhere POST; users/me GET/PATCH; users/me/export GET (JSON, no-store); users/me/delete POST {confirm: "DELETE"}; agents, agents/{id} GET (public subset, no model settings); agents/{id}/chat/stream POST (SSE: start/delta/end/memory/error; body message, conversation_id, retry); agents/{id}/chat POST — 404 in production; conversations GET/POST, conversations/{id} GET/DELETE; memory/shared GET/POST, memory/shared/{id} PATCH/DELETE; memory/agent/{agent_id} GET, memory/agent POST, memory/agent/{id} PATCH/DELETE; goals GET/POST, goals/{id} PATCH/DELETE; briefings/today GET (optional refresh); team/ask POST — 404 when TEAM_ENABLED=false; health, health/detail (anonymous minimal, admin full), legal/privacy GET; admin/dashboard, admin/metrics GET and admin/test-alert POST (ADMIN_ACCOUNTS only, 404 otherwise).</a:t>
            </a:r>
          </a:p>
          <a:p>
            <a:r>
              <a:t>Errors: pre-stream 401/403/404/409/422/429; explicit null in required PATCH fields → 422 (working-tree fix R14-02). Production hides /docs, /redoc, /openapi.json — inspect the schema in a safe development environment.</a:t>
            </a:r>
          </a:p>
          <a:p/>
          <a:p>
            <a:r>
              <a:t>SOURCES (repository paths are relative to the root): backend/app/api/routes/* · frontend/src/types/index.ts · docs/PROJECT-REPORT.md §7</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values or credentials are reproduced. Defaults quoted where documented: SESSION_SECONDS 604800; SIGNUP_ENABLED false; TEAM_ENABLED false; LLM_REASONING_EFFORT low; LLM_TIMEOUT_SECONDS 35; MEMORY_TIMEOUT_SECONDS 8; MEMORY_STORE_SENSITIVE false; MEMORY_MIN_CONFIDENCE 0.55; ACCOUNT_REQUESTS_PER_MINUTE 6; ACCOUNT_DAILY_TOKEN_BUDGET 60000; ALERT_ERROR_THRESHOLD 3; MODEER_BACKUP_KEEP_DAYS 30.</a:t>
            </a:r>
          </a:p>
          <a:p>
            <a:r>
              <a:t>Production requires ENVIRONMENT=production, DEBUG false, AUTH_REQUIRED true, AUTH_SECRET &gt;= 32 chars, https FRONTEND_URL, a real LLM_API_KEY (mock refused). Keep deploy/.env and operations.env out of Git (mode 600 for operations.env). ADMIN_ACCOUNTS empty means nobody. The per-person memory_auto setting is database state, not an environment variable. LLM_MAX_TOKENS/LLM_TEMPERATURE do not override per-agent ModelConfig.</a:t>
            </a:r>
          </a:p>
          <a:p/>
          <a:p>
            <a:r>
              <a:t>SOURCES (repository paths are relative to the root): backend/app/core/config.py · deploy/.env.example · docs/PROJECT-REPORT.md §8 · docs/OPERATIONS.md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from the named directories. Use temporary databases, LLM_PROVIDER=mock and MEMORY_EXTRACTION=rules for API probes; never production credentials or data.</a:t>
            </a:r>
          </a:p>
          <a:p>
            <a:r>
              <a:t>Browser regression (tools/application-check.cjs) needs tools.qa_server on 8102 with --frontend http://localhost:3300 and a production frontend on 3300; PLAYWRIGHT_MODULE may point at an installed Playwright. Its API bridge buffers streams.</a:t>
            </a:r>
          </a:p>
          <a:p>
            <a:r>
              <a:t>Production rehearsal (PowerShell, repository root): docker compose -p modeer-rehearsal-&lt;new&gt; -f deploy/tests/production-rehearsal/compose.yml up -d --build; seed with docker compose ... exec -T -e PYTHONPATH=/app backend python /rehearsal/seed_users.py (PowerShell avoids Git Bash path mangling); set REHEARSAL_REPORT to a NEW file; node deploy/tests/production-rehearsal/browser-check.cjs; accessibility-check.cjs needs axe-core via AXE_MODULE. Locked-image suite: mount backend/tests and deploy/tests/image-check.sh; set RECOVERY_TEST_POSTGRES_URL to the disposable rehearsal database for the race tests. Migration check: deploy/tests/postgres-migration-check.py against an empty scratch database. Operations: deploy/tests/operations-rehearsal.sh in docker:cli with the Docker socket.</a:t>
            </a:r>
          </a:p>
          <a:p>
            <a:r>
              <a:t>Quality (spends live free-tier quota; freeze sources first; new filenames): python quality_check.py --samples 3 --judge-model qwen/qwen3.8-27b --out ../docs/quality-NEW-ID.json; python -m tools.rejudge_quality --input … --out …; python journey_check.py --db journey-NEW-ID.db. Do not pass --model unless deliberately overriding every agent.</a:t>
            </a:r>
          </a:p>
          <a:p>
            <a:r>
              <a:t>Never run the rehearsal's `down -v` against production volumes.</a:t>
            </a:r>
          </a:p>
          <a:p/>
          <a:p>
            <a:r>
              <a:t>SOURCES (repository paths are relative to the root): docs/PROJECT-REPORT.md §10 · docs/production-readiness-review-2026-09-14.md · docs/launch-rehearsal-2026-09-14.md · docs/quality-evidence-2026-09-15.md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capture environment as the Real screens slide: local development server, mock provider (placeholder chat text), throwaway SQLite, synthetic goals and facts. Not production, not a physical phone.</a:t>
            </a:r>
          </a:p>
          <a:p/>
          <a:p>
            <a:r>
              <a:t>SOURCES (repository paths are relative to the root): Screenshots 2026-09-15 · Next dev + tools.qa_server · mock model · synthetic data</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INDEX</a:t>
            </a:r>
          </a:p>
          <a:p>
            <a:r>
              <a:t>- docs/production-verification-2026-09-14.json — image digests (backend sha256:b6d945fb…, frontend sha256:9706186e…, postgres 16-alpine, caddy 2-alpine), 351 tests, migration checks, API docs 404, legacy memory audit (0 scanned), limits.</a:t>
            </a:r>
          </a:p>
          <a:p>
            <a:r>
              <a:t>- docs/production-rehearsal-2026-09-14.json — 23 browser checks, zero CSP violations and page errors.</a:t>
            </a:r>
          </a:p>
          <a:p>
            <a:r>
              <a:t>- docs/accessibility-rehearsal-2026-09-14.json — 25 axe entries, keyboard stops per route.</a:t>
            </a:r>
          </a:p>
          <a:p>
            <a:r>
              <a:t>- docs/operations-rehearsal-2026-09-14.json — 10 checks; offhost note.</a:t>
            </a:r>
          </a:p>
          <a:p>
            <a:r>
              <a:t>- docs/quality-remediation-2026-09-14b.json + quality-rejudged-2026-09-14.json — 39 rows, per-row provenance; retry unparsable.</a:t>
            </a:r>
          </a:p>
          <a:p>
            <a:r>
              <a:t>- docs/journey-rehearsal-2026-09-14.txt — 13 PASS lines.</a:t>
            </a:r>
          </a:p>
          <a:p>
            <a:r>
              <a:t>- Historical: quality-remediation-2026-09-13.json (33/39), quality-release-2026-09-12*.json, production-rehearsal-results.json, accessibility-results.json.</a:t>
            </a:r>
          </a:p>
          <a:p/>
          <a:p>
            <a:r>
              <a:t>DISCREPANCIES (unresolved in documents; code/artifacts used here)</a:t>
            </a:r>
          </a:p>
          <a:p>
            <a:r>
              <a:t>1. PROJECT-REPORT §5 prompt versions older than code and the Sept 14 artifact.</a:t>
            </a:r>
          </a:p>
          <a:p>
            <a:r>
              <a:t>2. DEPLOYMENT.md says the rehearsal checks 20 things (now 23) and to settle colour-contrast findings (fixed in 80cf49a).</a:t>
            </a:r>
          </a:p>
          <a:p>
            <a:r>
              <a:t>3. HANDOFF.md and STATUS.md last updated 2026-09-13.</a:t>
            </a:r>
          </a:p>
          <a:p>
            <a:r>
              <a:t>4. Some older docs counted eleven tables; the ORM and migrations have ten.</a:t>
            </a:r>
          </a:p>
          <a:p>
            <a:r>
              <a:t>5. launch-rehearsal closeout: removal of the dated Docker rehearsal project was not verified.</a:t>
            </a:r>
          </a:p>
          <a:p/>
          <a:p>
            <a:r>
              <a:t>SOURCES (repository paths are relative to the root): All paths relative to repository root · baseline HEAD 1ed17eb + working tree · prepared 2026-09-15</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 Id="rId9" Type="http://schemas.openxmlformats.org/officeDocument/2006/relationships/image" Target="../media/image9.jpg"/><Relationship Id="rId10" Type="http://schemas.openxmlformats.org/officeDocument/2006/relationships/image" Target="../media/image10.jpg"/><Relationship Id="rId11" Type="http://schemas.openxmlformats.org/officeDocument/2006/relationships/image" Target="../media/image11.jpg"/><Relationship Id="rId12"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cxnSp>
        <p:nvCxnSpPr>
          <p:cNvPr id="2" name="Connector 1"/>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Branch fixes/launch-readiness-20260911 · HEAD 1ed17eb + uncommitted working tree · prepared 2026-09-15</a:t>
            </a:r>
          </a:p>
        </p:txBody>
      </p:sp>
      <p:sp>
        <p:nvSpPr>
          <p:cNvPr id="4" name="TextBox 3"/>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a:t>
            </a:r>
          </a:p>
        </p:txBody>
      </p:sp>
      <p:sp>
        <p:nvSpPr>
          <p:cNvPr id="5" name="Rectangle 4"/>
          <p:cNvSpPr/>
          <p:nvPr/>
        </p:nvSpPr>
        <p:spPr>
          <a:xfrm>
            <a:off x="0" y="0"/>
            <a:ext cx="5532120" cy="6309360"/>
          </a:xfrm>
          <a:prstGeom prst="rect">
            <a:avLst/>
          </a:prstGeom>
          <a:solidFill>
            <a:srgbClr val="FFD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dmark.png"/>
          <p:cNvPicPr>
            <a:picLocks noChangeAspect="1"/>
          </p:cNvPicPr>
          <p:nvPr/>
        </p:nvPicPr>
        <p:blipFill>
          <a:blip r:embed="rId3"/>
          <a:stretch>
            <a:fillRect/>
          </a:stretch>
        </p:blipFill>
        <p:spPr>
          <a:xfrm>
            <a:off x="566928" y="502920"/>
            <a:ext cx="2103120" cy="757123"/>
          </a:xfrm>
          <a:prstGeom prst="rect">
            <a:avLst/>
          </a:prstGeom>
        </p:spPr>
      </p:pic>
      <p:sp>
        <p:nvSpPr>
          <p:cNvPr id="7" name="TextBox 6"/>
          <p:cNvSpPr txBox="1"/>
          <p:nvPr/>
        </p:nvSpPr>
        <p:spPr>
          <a:xfrm>
            <a:off x="548640" y="1417320"/>
            <a:ext cx="4846320" cy="2194560"/>
          </a:xfrm>
          <a:prstGeom prst="rect">
            <a:avLst/>
          </a:prstGeom>
          <a:noFill/>
        </p:spPr>
        <p:txBody>
          <a:bodyPr wrap="square" lIns="18288" rIns="18288" tIns="9144" bIns="9144" anchor="t">
            <a:spAutoFit/>
          </a:bodyPr>
          <a:lstStyle/>
          <a:p>
            <a:pPr algn="l">
              <a:lnSpc>
                <a:spcPct val="95000"/>
              </a:lnSpc>
              <a:spcAft>
                <a:spcPts val="400"/>
              </a:spcAft>
            </a:pPr>
            <a:r>
              <a:rPr sz="4600" b="0">
                <a:solidFill>
                  <a:srgbClr val="151714"/>
                </a:solidFill>
                <a:latin typeface="Arial Black"/>
              </a:rPr>
              <a:t>Product &amp;</a:t>
            </a:r>
          </a:p>
          <a:p>
            <a:pPr algn="l">
              <a:lnSpc>
                <a:spcPct val="95000"/>
              </a:lnSpc>
              <a:spcAft>
                <a:spcPts val="400"/>
              </a:spcAft>
            </a:pPr>
            <a:r>
              <a:rPr sz="4600" b="0">
                <a:solidFill>
                  <a:srgbClr val="151714"/>
                </a:solidFill>
                <a:latin typeface="Arial Black"/>
              </a:rPr>
              <a:t>engineering</a:t>
            </a:r>
          </a:p>
          <a:p>
            <a:pPr algn="l">
              <a:lnSpc>
                <a:spcPct val="95000"/>
              </a:lnSpc>
              <a:spcAft>
                <a:spcPts val="400"/>
              </a:spcAft>
            </a:pPr>
            <a:r>
              <a:rPr sz="4600" b="0">
                <a:solidFill>
                  <a:srgbClr val="151714"/>
                </a:solidFill>
                <a:latin typeface="Arial Black"/>
              </a:rPr>
              <a:t>handover</a:t>
            </a:r>
          </a:p>
        </p:txBody>
      </p:sp>
      <p:sp>
        <p:nvSpPr>
          <p:cNvPr id="8" name="TextBox 7"/>
          <p:cNvSpPr txBox="1"/>
          <p:nvPr/>
        </p:nvSpPr>
        <p:spPr>
          <a:xfrm>
            <a:off x="566928" y="3977639"/>
            <a:ext cx="4754880" cy="822960"/>
          </a:xfrm>
          <a:prstGeom prst="rect">
            <a:avLst/>
          </a:prstGeom>
          <a:noFill/>
        </p:spPr>
        <p:txBody>
          <a:bodyPr wrap="square" lIns="18288" rIns="18288" tIns="9144" bIns="9144" anchor="t">
            <a:spAutoFit/>
          </a:bodyPr>
          <a:lstStyle/>
          <a:p>
            <a:pPr algn="l">
              <a:lnSpc>
                <a:spcPct val="108000"/>
              </a:lnSpc>
              <a:spcAft>
                <a:spcPts val="400"/>
              </a:spcAft>
            </a:pPr>
            <a:r>
              <a:rPr sz="1800" b="0">
                <a:solidFill>
                  <a:srgbClr val="151714"/>
                </a:solidFill>
                <a:latin typeface="Segoe UI"/>
              </a:rPr>
              <a:t>A personal AI assistant and nine specialists that share what they know about one person.</a:t>
            </a:r>
          </a:p>
        </p:txBody>
      </p:sp>
      <p:sp>
        <p:nvSpPr>
          <p:cNvPr id="9" name="Rectangle 8"/>
          <p:cNvSpPr/>
          <p:nvPr/>
        </p:nvSpPr>
        <p:spPr>
          <a:xfrm>
            <a:off x="566928" y="4983480"/>
            <a:ext cx="2651760" cy="274320"/>
          </a:xfrm>
          <a:prstGeom prst="rect">
            <a:avLst/>
          </a:prstGeom>
          <a:solidFill>
            <a:srgbClr val="FFEBA6"/>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WORKING TREE · UNCOMMITTED</a:t>
            </a:r>
          </a:p>
        </p:txBody>
      </p:sp>
      <p:sp>
        <p:nvSpPr>
          <p:cNvPr id="10" name="TextBox 9"/>
          <p:cNvSpPr txBox="1"/>
          <p:nvPr/>
        </p:nvSpPr>
        <p:spPr>
          <a:xfrm>
            <a:off x="566928" y="5394960"/>
            <a:ext cx="4846320" cy="82296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43483F"/>
                </a:solidFill>
                <a:latin typeface="Segoe UI Semibold"/>
              </a:rPr>
              <a:t>Evidence as of 2026-09-15</a:t>
            </a:r>
          </a:p>
          <a:p>
            <a:pPr algn="l">
              <a:lnSpc>
                <a:spcPct val="108000"/>
              </a:lnSpc>
              <a:spcAft>
                <a:spcPts val="400"/>
              </a:spcAft>
            </a:pPr>
            <a:r>
              <a:rPr sz="1300" b="0">
                <a:solidFill>
                  <a:srgbClr val="43483F"/>
                </a:solidFill>
                <a:latin typeface="Segoe UI Semibold"/>
              </a:rPr>
              <a:t>HEAD 1ed17eb · branch fixes/launch-readiness-20260911</a:t>
            </a:r>
          </a:p>
        </p:txBody>
      </p:sp>
      <p:sp>
        <p:nvSpPr>
          <p:cNvPr id="11" name="Rectangle 10"/>
          <p:cNvSpPr/>
          <p:nvPr/>
        </p:nvSpPr>
        <p:spPr>
          <a:xfrm>
            <a:off x="6053328" y="978408"/>
            <a:ext cx="5669280" cy="3779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er-hero.jpg"/>
          <p:cNvPicPr>
            <a:picLocks noChangeAspect="1"/>
          </p:cNvPicPr>
          <p:nvPr/>
        </p:nvPicPr>
        <p:blipFill>
          <a:blip r:embed="rId4"/>
          <a:stretch>
            <a:fillRect/>
          </a:stretch>
        </p:blipFill>
        <p:spPr>
          <a:xfrm>
            <a:off x="5989320" y="914400"/>
            <a:ext cx="5669280" cy="3779520"/>
          </a:xfrm>
          <a:prstGeom prst="rect">
            <a:avLst/>
          </a:prstGeom>
          <a:ln w="25400">
            <a:solidFill>
              <a:srgbClr val="151714"/>
            </a:solidFill>
          </a:ln>
        </p:spPr>
      </p:pic>
      <p:sp>
        <p:nvSpPr>
          <p:cNvPr id="13" name="TextBox 12"/>
          <p:cNvSpPr txBox="1"/>
          <p:nvPr/>
        </p:nvSpPr>
        <p:spPr>
          <a:xfrm>
            <a:off x="5989320" y="4828032"/>
            <a:ext cx="5669280" cy="36576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43483F"/>
                </a:solidFill>
                <a:latin typeface="Segoe UI"/>
              </a:rPr>
              <a:t>Modeer — character art from frontend/public/art/sunshine</a:t>
            </a:r>
          </a:p>
        </p:txBody>
      </p:sp>
      <p:sp>
        <p:nvSpPr>
          <p:cNvPr id="14" name="TextBox 13"/>
          <p:cNvSpPr txBox="1"/>
          <p:nvPr/>
        </p:nvSpPr>
        <p:spPr>
          <a:xfrm>
            <a:off x="8321040" y="5349240"/>
            <a:ext cx="3291840" cy="731520"/>
          </a:xfrm>
          <a:prstGeom prst="rect">
            <a:avLst/>
          </a:prstGeom>
          <a:noFill/>
        </p:spPr>
        <p:txBody>
          <a:bodyPr wrap="square" lIns="18288" rIns="18288" tIns="9144" bIns="9144" anchor="t">
            <a:spAutoFit/>
          </a:bodyPr>
          <a:lstStyle/>
          <a:p>
            <a:pPr algn="r">
              <a:lnSpc>
                <a:spcPct val="108000"/>
              </a:lnSpc>
              <a:spcAft>
                <a:spcPts val="400"/>
              </a:spcAft>
            </a:pPr>
            <a:r>
              <a:rPr sz="1700" b="0">
                <a:solidFill>
                  <a:srgbClr val="CC1757"/>
                </a:solidFill>
                <a:latin typeface="Ink Free"/>
              </a:rPr>
              <a:t>Not approved for public production.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HOW TO READ THIS DECK</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Read every claim with its evidence label</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Labels follow docs/PRESENTATION-PROMPT.md · sources for each slide are in its speaker notes</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a:t>
            </a:r>
          </a:p>
        </p:txBody>
      </p:sp>
      <p:sp>
        <p:nvSpPr>
          <p:cNvPr id="7" name="Rectangle 6"/>
          <p:cNvSpPr/>
          <p:nvPr/>
        </p:nvSpPr>
        <p:spPr>
          <a:xfrm>
            <a:off x="612647" y="1755648"/>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1956816"/>
            <a:ext cx="1280160" cy="274320"/>
          </a:xfrm>
          <a:prstGeom prst="rect">
            <a:avLst/>
          </a:prstGeom>
          <a:solidFill>
            <a:srgbClr val="FFDA4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IMPLEMENTED</a:t>
            </a:r>
          </a:p>
        </p:txBody>
      </p:sp>
      <p:sp>
        <p:nvSpPr>
          <p:cNvPr id="10" name="TextBox 9"/>
          <p:cNvSpPr txBox="1"/>
          <p:nvPr/>
        </p:nvSpPr>
        <p:spPr>
          <a:xfrm>
            <a:off x="3063240" y="1801368"/>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Present in source code; not proof of production behaviour.</a:t>
            </a:r>
          </a:p>
        </p:txBody>
      </p:sp>
      <p:sp>
        <p:nvSpPr>
          <p:cNvPr id="11" name="Rectangle 10"/>
          <p:cNvSpPr/>
          <p:nvPr/>
        </p:nvSpPr>
        <p:spPr>
          <a:xfrm>
            <a:off x="6281928" y="1755648"/>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91640"/>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0" y="1956816"/>
            <a:ext cx="1005840" cy="274320"/>
          </a:xfrm>
          <a:prstGeom prst="rect">
            <a:avLst/>
          </a:prstGeom>
          <a:solidFill>
            <a:srgbClr val="202D3B"/>
          </a:solidFill>
          <a:ln w="15875">
            <a:solidFill>
              <a:srgbClr val="202D3B"/>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VERIFIED</a:t>
            </a:r>
          </a:p>
        </p:txBody>
      </p:sp>
      <p:sp>
        <p:nvSpPr>
          <p:cNvPr id="14" name="TextBox 13"/>
          <p:cNvSpPr txBox="1"/>
          <p:nvPr/>
        </p:nvSpPr>
        <p:spPr>
          <a:xfrm>
            <a:off x="8732520" y="1801368"/>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A dated check passed in the named environment only.</a:t>
            </a:r>
          </a:p>
        </p:txBody>
      </p:sp>
      <p:sp>
        <p:nvSpPr>
          <p:cNvPr id="15" name="Rectangle 14"/>
          <p:cNvSpPr/>
          <p:nvPr/>
        </p:nvSpPr>
        <p:spPr>
          <a:xfrm>
            <a:off x="612647" y="2779776"/>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15768"/>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2980944"/>
            <a:ext cx="1188720" cy="274320"/>
          </a:xfrm>
          <a:prstGeom prst="rect">
            <a:avLst/>
          </a:prstGeom>
          <a:solidFill>
            <a:srgbClr val="FDF0CD"/>
          </a:solidFill>
          <a:ln w="15875">
            <a:solidFill>
              <a:srgbClr val="43483F"/>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43483F"/>
                </a:solidFill>
                <a:latin typeface="Segoe UI Semibold"/>
              </a:rPr>
              <a:t>HISTORICAL</a:t>
            </a:r>
          </a:p>
        </p:txBody>
      </p:sp>
      <p:sp>
        <p:nvSpPr>
          <p:cNvPr id="18" name="TextBox 17"/>
          <p:cNvSpPr txBox="1"/>
          <p:nvPr/>
        </p:nvSpPr>
        <p:spPr>
          <a:xfrm>
            <a:off x="3063240" y="2825496"/>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Done earlier under different code, prompts or rubric.</a:t>
            </a:r>
          </a:p>
        </p:txBody>
      </p:sp>
      <p:sp>
        <p:nvSpPr>
          <p:cNvPr id="19" name="Rectangle 18"/>
          <p:cNvSpPr/>
          <p:nvPr/>
        </p:nvSpPr>
        <p:spPr>
          <a:xfrm>
            <a:off x="6281928" y="2779776"/>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715768"/>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0800" y="2980944"/>
            <a:ext cx="100584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PROPOSED</a:t>
            </a:r>
          </a:p>
        </p:txBody>
      </p:sp>
      <p:sp>
        <p:nvSpPr>
          <p:cNvPr id="22" name="TextBox 21"/>
          <p:cNvSpPr txBox="1"/>
          <p:nvPr/>
        </p:nvSpPr>
        <p:spPr>
          <a:xfrm>
            <a:off x="8732520" y="2825496"/>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Planned work. Nothing is built.</a:t>
            </a:r>
          </a:p>
        </p:txBody>
      </p:sp>
      <p:sp>
        <p:nvSpPr>
          <p:cNvPr id="23" name="Rectangle 22"/>
          <p:cNvSpPr/>
          <p:nvPr/>
        </p:nvSpPr>
        <p:spPr>
          <a:xfrm>
            <a:off x="612647" y="3803904"/>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39896"/>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005072"/>
            <a:ext cx="1828800" cy="274320"/>
          </a:xfrm>
          <a:prstGeom prst="rect">
            <a:avLst/>
          </a:prstGeom>
          <a:solidFill>
            <a:srgbClr val="CC1757"/>
          </a:solidFill>
          <a:ln w="15875">
            <a:solidFill>
              <a:srgbClr val="CC1757"/>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UNRESOLVED DEFECT</a:t>
            </a:r>
          </a:p>
        </p:txBody>
      </p:sp>
      <p:sp>
        <p:nvSpPr>
          <p:cNvPr id="26" name="TextBox 25"/>
          <p:cNvSpPr txBox="1"/>
          <p:nvPr/>
        </p:nvSpPr>
        <p:spPr>
          <a:xfrm>
            <a:off x="3063240" y="3849624"/>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Measured problem that is still open.</a:t>
            </a:r>
          </a:p>
        </p:txBody>
      </p:sp>
      <p:sp>
        <p:nvSpPr>
          <p:cNvPr id="27" name="Rectangle 26"/>
          <p:cNvSpPr/>
          <p:nvPr/>
        </p:nvSpPr>
        <p:spPr>
          <a:xfrm>
            <a:off x="6281928" y="3803904"/>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739896"/>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400800" y="4005072"/>
            <a:ext cx="1371600" cy="274320"/>
          </a:xfrm>
          <a:prstGeom prst="rect">
            <a:avLst/>
          </a:prstGeom>
          <a:solidFill>
            <a:srgbClr val="FFFCF2"/>
          </a:solidFill>
          <a:ln w="15875">
            <a:solidFill>
              <a:srgbClr val="15171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COVERAGE GAP</a:t>
            </a:r>
          </a:p>
        </p:txBody>
      </p:sp>
      <p:sp>
        <p:nvSpPr>
          <p:cNvPr id="30" name="TextBox 29"/>
          <p:cNvSpPr txBox="1"/>
          <p:nvPr/>
        </p:nvSpPr>
        <p:spPr>
          <a:xfrm>
            <a:off x="8732520" y="3849624"/>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Behaviour nobody has tested yet.</a:t>
            </a:r>
          </a:p>
        </p:txBody>
      </p:sp>
      <p:sp>
        <p:nvSpPr>
          <p:cNvPr id="31" name="Rectangle 30"/>
          <p:cNvSpPr/>
          <p:nvPr/>
        </p:nvSpPr>
        <p:spPr>
          <a:xfrm>
            <a:off x="612647" y="4828032"/>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764024"/>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31520" y="5029200"/>
            <a:ext cx="1737360" cy="274320"/>
          </a:xfrm>
          <a:prstGeom prst="rect">
            <a:avLst/>
          </a:prstGeom>
          <a:solidFill>
            <a:srgbClr val="151714"/>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DA45"/>
                </a:solidFill>
                <a:latin typeface="Segoe UI Semibold"/>
              </a:rPr>
              <a:t>OPERATIONAL GATE</a:t>
            </a:r>
          </a:p>
        </p:txBody>
      </p:sp>
      <p:sp>
        <p:nvSpPr>
          <p:cNvPr id="34" name="TextBox 33"/>
          <p:cNvSpPr txBox="1"/>
          <p:nvPr/>
        </p:nvSpPr>
        <p:spPr>
          <a:xfrm>
            <a:off x="3063240" y="4873752"/>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Needs the real host, storage or a person to close.</a:t>
            </a:r>
          </a:p>
        </p:txBody>
      </p:sp>
      <p:sp>
        <p:nvSpPr>
          <p:cNvPr id="35" name="Rectangle 34"/>
          <p:cNvSpPr/>
          <p:nvPr/>
        </p:nvSpPr>
        <p:spPr>
          <a:xfrm>
            <a:off x="6281928" y="4828032"/>
            <a:ext cx="5394960" cy="80467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764024"/>
            <a:ext cx="5394960" cy="80467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400800" y="5029200"/>
            <a:ext cx="1554480" cy="274320"/>
          </a:xfrm>
          <a:prstGeom prst="rect">
            <a:avLst/>
          </a:prstGeom>
          <a:solidFill>
            <a:srgbClr val="FF438A"/>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OWNER DECISION</a:t>
            </a:r>
          </a:p>
        </p:txBody>
      </p:sp>
      <p:sp>
        <p:nvSpPr>
          <p:cNvPr id="38" name="TextBox 37"/>
          <p:cNvSpPr txBox="1"/>
          <p:nvPr/>
        </p:nvSpPr>
        <p:spPr>
          <a:xfrm>
            <a:off x="8732520" y="4873752"/>
            <a:ext cx="2788920" cy="640080"/>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a:rPr>
              <a:t>Only the owner can decide.</a:t>
            </a:r>
          </a:p>
        </p:txBody>
      </p:sp>
      <p:sp>
        <p:nvSpPr>
          <p:cNvPr id="39" name="Rectangle 38"/>
          <p:cNvSpPr/>
          <p:nvPr/>
        </p:nvSpPr>
        <p:spPr>
          <a:xfrm>
            <a:off x="548640" y="5852160"/>
            <a:ext cx="11064240" cy="411480"/>
          </a:xfrm>
          <a:prstGeom prst="rect">
            <a:avLst/>
          </a:prstGeom>
          <a:solidFill>
            <a:srgbClr val="FFEBA6"/>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85800" y="5897880"/>
            <a:ext cx="10789920" cy="3291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Segoe UI Semibold"/>
              </a:rPr>
              <a:t>Baseline: </a:t>
            </a:r>
            <a:r>
              <a:rPr sz="1350" b="0">
                <a:solidFill>
                  <a:srgbClr val="151714"/>
                </a:solidFill>
                <a:latin typeface="Segoe UI"/>
              </a:rPr>
              <a:t>HEAD 1ed17eb plus an uncommitted working tree. The Sept 13–14 fixes are implemented and locally verified, not released.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WHAT MODEER IS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One persistent personal context, ten conversations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docs/PROJECT-REPORT.md §1 · docs/product.md · backend/app/agents/registry.py · backend/app/agents/context.py</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3</a:t>
            </a:r>
          </a:p>
        </p:txBody>
      </p:sp>
      <p:sp>
        <p:nvSpPr>
          <p:cNvPr id="7" name="Rectangle 6"/>
          <p:cNvSpPr/>
          <p:nvPr/>
        </p:nvSpPr>
        <p:spPr>
          <a:xfrm>
            <a:off x="612647" y="1709928"/>
            <a:ext cx="3566160" cy="2148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3566160" cy="2148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356616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700784"/>
            <a:ext cx="33101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For</a:t>
            </a:r>
          </a:p>
        </p:txBody>
      </p:sp>
      <p:sp>
        <p:nvSpPr>
          <p:cNvPr id="11" name="TextBox 10"/>
          <p:cNvSpPr txBox="1"/>
          <p:nvPr/>
        </p:nvSpPr>
        <p:spPr>
          <a:xfrm>
            <a:off x="694944" y="2176272"/>
            <a:ext cx="3273552" cy="1527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One person who wants help across study, work, money, health habits and writing.</a:t>
            </a:r>
          </a:p>
          <a:p>
            <a:pPr algn="l" marL="219456" indent="-182880">
              <a:lnSpc>
                <a:spcPct val="108000"/>
              </a:lnSpc>
              <a:spcAft>
                <a:spcPts val="400"/>
              </a:spcAft>
              <a:buFont typeface="Arial"/>
              <a:buChar char="•"/>
            </a:pPr>
            <a:r>
              <a:rPr sz="1350" b="0">
                <a:solidFill>
                  <a:srgbClr val="151714"/>
                </a:solidFill>
                <a:latin typeface="Segoe UI"/>
              </a:rPr>
              <a:t>Private, self-hosted deployment run by an operator.</a:t>
            </a:r>
          </a:p>
        </p:txBody>
      </p:sp>
      <p:sp>
        <p:nvSpPr>
          <p:cNvPr id="12" name="Rectangle 11"/>
          <p:cNvSpPr/>
          <p:nvPr/>
        </p:nvSpPr>
        <p:spPr>
          <a:xfrm>
            <a:off x="4379976" y="1709928"/>
            <a:ext cx="3566160" cy="2148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645920"/>
            <a:ext cx="3566160" cy="2148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15968" y="1645920"/>
            <a:ext cx="356616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43983" y="1700784"/>
            <a:ext cx="33101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Does</a:t>
            </a:r>
          </a:p>
        </p:txBody>
      </p:sp>
      <p:sp>
        <p:nvSpPr>
          <p:cNvPr id="16" name="TextBox 15"/>
          <p:cNvSpPr txBox="1"/>
          <p:nvPr/>
        </p:nvSpPr>
        <p:spPr>
          <a:xfrm>
            <a:off x="4462272" y="2176272"/>
            <a:ext cx="3273552" cy="1527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Chats with Modeer or a specialist; replies stream live.</a:t>
            </a:r>
          </a:p>
          <a:p>
            <a:pPr algn="l" marL="219456" indent="-182880">
              <a:lnSpc>
                <a:spcPct val="108000"/>
              </a:lnSpc>
              <a:spcAft>
                <a:spcPts val="400"/>
              </a:spcAft>
              <a:buFont typeface="Arial"/>
              <a:buChar char="•"/>
            </a:pPr>
            <a:r>
              <a:rPr sz="1350" b="0">
                <a:solidFill>
                  <a:srgbClr val="151714"/>
                </a:solidFill>
                <a:latin typeface="Segoe UI"/>
              </a:rPr>
              <a:t>Remembers facts shared with the team, plus private notes per specialist.</a:t>
            </a:r>
          </a:p>
          <a:p>
            <a:pPr algn="l" marL="219456" indent="-182880">
              <a:lnSpc>
                <a:spcPct val="108000"/>
              </a:lnSpc>
              <a:spcAft>
                <a:spcPts val="400"/>
              </a:spcAft>
              <a:buFont typeface="Arial"/>
              <a:buChar char="•"/>
            </a:pPr>
            <a:r>
              <a:rPr sz="1350" b="0">
                <a:solidFill>
                  <a:srgbClr val="151714"/>
                </a:solidFill>
                <a:latin typeface="Segoe UI"/>
              </a:rPr>
              <a:t>Tracks goals and a daily Today list.</a:t>
            </a:r>
          </a:p>
        </p:txBody>
      </p:sp>
      <p:sp>
        <p:nvSpPr>
          <p:cNvPr id="17" name="Rectangle 16"/>
          <p:cNvSpPr/>
          <p:nvPr/>
        </p:nvSpPr>
        <p:spPr>
          <a:xfrm>
            <a:off x="8147304" y="1709928"/>
            <a:ext cx="3566160" cy="2148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45920"/>
            <a:ext cx="3566160" cy="2148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83296" y="1645920"/>
            <a:ext cx="356616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11312" y="1700784"/>
            <a:ext cx="33101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Does not</a:t>
            </a:r>
          </a:p>
        </p:txBody>
      </p:sp>
      <p:sp>
        <p:nvSpPr>
          <p:cNvPr id="21" name="TextBox 20"/>
          <p:cNvSpPr txBox="1"/>
          <p:nvPr/>
        </p:nvSpPr>
        <p:spPr>
          <a:xfrm>
            <a:off x="8229600" y="2176272"/>
            <a:ext cx="3273552" cy="1527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Browse, send email, book, buy or read calendars.</a:t>
            </a:r>
          </a:p>
          <a:p>
            <a:pPr algn="l" marL="219456" indent="-182880">
              <a:lnSpc>
                <a:spcPct val="108000"/>
              </a:lnSpc>
              <a:spcAft>
                <a:spcPts val="400"/>
              </a:spcAft>
              <a:buFont typeface="Arial"/>
              <a:buChar char="•"/>
            </a:pPr>
            <a:r>
              <a:rPr sz="1350" b="0">
                <a:solidFill>
                  <a:srgbClr val="151714"/>
                </a:solidFill>
                <a:latin typeface="Segoe UI"/>
              </a:rPr>
              <a:t>Offer mobile apps, payments or push reminders.</a:t>
            </a:r>
          </a:p>
        </p:txBody>
      </p:sp>
      <p:sp>
        <p:nvSpPr>
          <p:cNvPr id="22" name="Rectangle 21"/>
          <p:cNvSpPr/>
          <p:nvPr/>
        </p:nvSpPr>
        <p:spPr>
          <a:xfrm>
            <a:off x="612647" y="4133088"/>
            <a:ext cx="11100816"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069080"/>
            <a:ext cx="11100816" cy="20574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7240" y="4206240"/>
            <a:ext cx="457200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Arial Black"/>
              </a:rPr>
              <a:t>Release status · 2026-09-15</a:t>
            </a:r>
          </a:p>
        </p:txBody>
      </p:sp>
      <p:sp>
        <p:nvSpPr>
          <p:cNvPr id="25" name="TextBox 24"/>
          <p:cNvSpPr txBox="1"/>
          <p:nvPr/>
        </p:nvSpPr>
        <p:spPr>
          <a:xfrm>
            <a:off x="777240" y="4709160"/>
            <a:ext cx="237744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Segoe UI Semibold"/>
              </a:rPr>
              <a:t>Local use</a:t>
            </a:r>
          </a:p>
        </p:txBody>
      </p:sp>
      <p:sp>
        <p:nvSpPr>
          <p:cNvPr id="26" name="TextBox 25"/>
          <p:cNvSpPr txBox="1"/>
          <p:nvPr/>
        </p:nvSpPr>
        <p:spPr>
          <a:xfrm>
            <a:off x="3200400" y="4709160"/>
            <a:ext cx="384048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Segoe UI"/>
              </a:rPr>
              <a:t>Usable with known limits</a:t>
            </a:r>
          </a:p>
        </p:txBody>
      </p:sp>
      <p:sp>
        <p:nvSpPr>
          <p:cNvPr id="27" name="Rectangle 26"/>
          <p:cNvSpPr/>
          <p:nvPr/>
        </p:nvSpPr>
        <p:spPr>
          <a:xfrm>
            <a:off x="7040880" y="4745736"/>
            <a:ext cx="1737360" cy="274320"/>
          </a:xfrm>
          <a:prstGeom prst="rect">
            <a:avLst/>
          </a:prstGeom>
          <a:solidFill>
            <a:srgbClr val="202D3B"/>
          </a:solidFill>
          <a:ln w="15875">
            <a:solidFill>
              <a:srgbClr val="202D3B"/>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VERIFIED · LOCAL</a:t>
            </a:r>
          </a:p>
        </p:txBody>
      </p:sp>
      <p:sp>
        <p:nvSpPr>
          <p:cNvPr id="28" name="TextBox 27"/>
          <p:cNvSpPr txBox="1"/>
          <p:nvPr/>
        </p:nvSpPr>
        <p:spPr>
          <a:xfrm>
            <a:off x="777240" y="5148072"/>
            <a:ext cx="237744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Segoe UI Semibold"/>
              </a:rPr>
              <a:t>Invite-only beta</a:t>
            </a:r>
          </a:p>
        </p:txBody>
      </p:sp>
      <p:sp>
        <p:nvSpPr>
          <p:cNvPr id="29" name="TextBox 28"/>
          <p:cNvSpPr txBox="1"/>
          <p:nvPr/>
        </p:nvSpPr>
        <p:spPr>
          <a:xfrm>
            <a:off x="3200400" y="5148072"/>
            <a:ext cx="384048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Segoe UI"/>
              </a:rPr>
              <a:t>On hold until gates close</a:t>
            </a:r>
          </a:p>
        </p:txBody>
      </p:sp>
      <p:sp>
        <p:nvSpPr>
          <p:cNvPr id="30" name="Rectangle 29"/>
          <p:cNvSpPr/>
          <p:nvPr/>
        </p:nvSpPr>
        <p:spPr>
          <a:xfrm>
            <a:off x="7040880" y="5184648"/>
            <a:ext cx="1737360" cy="274320"/>
          </a:xfrm>
          <a:prstGeom prst="rect">
            <a:avLst/>
          </a:prstGeom>
          <a:solidFill>
            <a:srgbClr val="151714"/>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DA45"/>
                </a:solidFill>
                <a:latin typeface="Segoe UI Semibold"/>
              </a:rPr>
              <a:t>OPERATIONAL GATE</a:t>
            </a:r>
          </a:p>
        </p:txBody>
      </p:sp>
      <p:sp>
        <p:nvSpPr>
          <p:cNvPr id="31" name="TextBox 30"/>
          <p:cNvSpPr txBox="1"/>
          <p:nvPr/>
        </p:nvSpPr>
        <p:spPr>
          <a:xfrm>
            <a:off x="777240" y="5586984"/>
            <a:ext cx="237744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Segoe UI Semibold"/>
              </a:rPr>
              <a:t>Public production</a:t>
            </a:r>
          </a:p>
        </p:txBody>
      </p:sp>
      <p:sp>
        <p:nvSpPr>
          <p:cNvPr id="32" name="TextBox 31"/>
          <p:cNvSpPr txBox="1"/>
          <p:nvPr/>
        </p:nvSpPr>
        <p:spPr>
          <a:xfrm>
            <a:off x="3200400" y="5586984"/>
            <a:ext cx="3840480" cy="36576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151714"/>
                </a:solidFill>
                <a:latin typeface="Segoe UI"/>
              </a:rPr>
              <a:t>On hold</a:t>
            </a:r>
          </a:p>
        </p:txBody>
      </p:sp>
      <p:sp>
        <p:nvSpPr>
          <p:cNvPr id="33" name="Rectangle 32"/>
          <p:cNvSpPr/>
          <p:nvPr/>
        </p:nvSpPr>
        <p:spPr>
          <a:xfrm>
            <a:off x="7040880" y="5623560"/>
            <a:ext cx="1737360" cy="274320"/>
          </a:xfrm>
          <a:prstGeom prst="rect">
            <a:avLst/>
          </a:prstGeom>
          <a:solidFill>
            <a:srgbClr val="151714"/>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DA45"/>
                </a:solidFill>
                <a:latin typeface="Segoe UI Semibold"/>
              </a:rPr>
              <a:t>OPERATIONAL GATE</a:t>
            </a:r>
          </a:p>
        </p:txBody>
      </p:sp>
      <p:sp>
        <p:nvSpPr>
          <p:cNvPr id="34" name="TextBox 33"/>
          <p:cNvSpPr txBox="1"/>
          <p:nvPr/>
        </p:nvSpPr>
        <p:spPr>
          <a:xfrm>
            <a:off x="9281160" y="4224528"/>
            <a:ext cx="2240280" cy="178308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43483F"/>
                </a:solidFill>
                <a:latin typeface="Segoe UI"/>
              </a:rPr>
              <a:t>Differentiator: one personal-context layer and ten human characters, not ten unrelated chatbots.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THE TEAM</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Modeer and nine specialists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backend/app/agents/*/config.py · frontend/public/art/sunshine · docs/CHARACTER-ART.md · docs/SUNSHINE-HOME.md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4</a:t>
            </a:r>
          </a:p>
        </p:txBody>
      </p:sp>
      <p:sp>
        <p:nvSpPr>
          <p:cNvPr id="7" name="Rectangle 6"/>
          <p:cNvSpPr/>
          <p:nvPr/>
        </p:nvSpPr>
        <p:spPr>
          <a:xfrm>
            <a:off x="612647" y="1636776"/>
            <a:ext cx="1481328" cy="185211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deer-portrait.jpg"/>
          <p:cNvPicPr>
            <a:picLocks noChangeAspect="1"/>
          </p:cNvPicPr>
          <p:nvPr/>
        </p:nvPicPr>
        <p:blipFill>
          <a:blip r:embed="rId3"/>
          <a:stretch>
            <a:fillRect/>
          </a:stretch>
        </p:blipFill>
        <p:spPr>
          <a:xfrm>
            <a:off x="548640" y="1572768"/>
            <a:ext cx="1481328" cy="1852112"/>
          </a:xfrm>
          <a:prstGeom prst="rect">
            <a:avLst/>
          </a:prstGeom>
          <a:ln w="25400">
            <a:solidFill>
              <a:srgbClr val="151714"/>
            </a:solidFill>
          </a:ln>
        </p:spPr>
      </p:pic>
      <p:sp>
        <p:nvSpPr>
          <p:cNvPr id="9" name="TextBox 8"/>
          <p:cNvSpPr txBox="1"/>
          <p:nvPr/>
        </p:nvSpPr>
        <p:spPr>
          <a:xfrm>
            <a:off x="548640" y="344728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Modeer</a:t>
            </a:r>
          </a:p>
        </p:txBody>
      </p:sp>
      <p:sp>
        <p:nvSpPr>
          <p:cNvPr id="10" name="TextBox 9"/>
          <p:cNvSpPr txBox="1"/>
          <p:nvPr/>
        </p:nvSpPr>
        <p:spPr>
          <a:xfrm>
            <a:off x="548640" y="367588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Assistant &amp; context keeper</a:t>
            </a:r>
          </a:p>
        </p:txBody>
      </p:sp>
      <p:sp>
        <p:nvSpPr>
          <p:cNvPr id="11" name="Rectangle 10"/>
          <p:cNvSpPr/>
          <p:nvPr/>
        </p:nvSpPr>
        <p:spPr>
          <a:xfrm>
            <a:off x="2862072" y="163677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udy.jpg"/>
          <p:cNvPicPr>
            <a:picLocks noChangeAspect="1"/>
          </p:cNvPicPr>
          <p:nvPr/>
        </p:nvPicPr>
        <p:blipFill>
          <a:blip r:embed="rId4"/>
          <a:stretch>
            <a:fillRect/>
          </a:stretch>
        </p:blipFill>
        <p:spPr>
          <a:xfrm>
            <a:off x="2798064" y="1572768"/>
            <a:ext cx="1481328" cy="1851660"/>
          </a:xfrm>
          <a:prstGeom prst="rect">
            <a:avLst/>
          </a:prstGeom>
          <a:ln w="25400">
            <a:solidFill>
              <a:srgbClr val="151714"/>
            </a:solidFill>
          </a:ln>
        </p:spPr>
      </p:pic>
      <p:sp>
        <p:nvSpPr>
          <p:cNvPr id="13" name="TextBox 12"/>
          <p:cNvSpPr txBox="1"/>
          <p:nvPr/>
        </p:nvSpPr>
        <p:spPr>
          <a:xfrm>
            <a:off x="2798064" y="344728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Study</a:t>
            </a:r>
          </a:p>
        </p:txBody>
      </p:sp>
      <p:sp>
        <p:nvSpPr>
          <p:cNvPr id="14" name="TextBox 13"/>
          <p:cNvSpPr txBox="1"/>
          <p:nvPr/>
        </p:nvSpPr>
        <p:spPr>
          <a:xfrm>
            <a:off x="2798064" y="367588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Learning coach</a:t>
            </a:r>
          </a:p>
        </p:txBody>
      </p:sp>
      <p:sp>
        <p:nvSpPr>
          <p:cNvPr id="15" name="Rectangle 14"/>
          <p:cNvSpPr/>
          <p:nvPr/>
        </p:nvSpPr>
        <p:spPr>
          <a:xfrm>
            <a:off x="5111496" y="163677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areer.jpg"/>
          <p:cNvPicPr>
            <a:picLocks noChangeAspect="1"/>
          </p:cNvPicPr>
          <p:nvPr/>
        </p:nvPicPr>
        <p:blipFill>
          <a:blip r:embed="rId5"/>
          <a:stretch>
            <a:fillRect/>
          </a:stretch>
        </p:blipFill>
        <p:spPr>
          <a:xfrm>
            <a:off x="5047488" y="1572768"/>
            <a:ext cx="1481328" cy="1851660"/>
          </a:xfrm>
          <a:prstGeom prst="rect">
            <a:avLst/>
          </a:prstGeom>
          <a:ln w="25400">
            <a:solidFill>
              <a:srgbClr val="151714"/>
            </a:solidFill>
          </a:ln>
        </p:spPr>
      </p:pic>
      <p:sp>
        <p:nvSpPr>
          <p:cNvPr id="17" name="TextBox 16"/>
          <p:cNvSpPr txBox="1"/>
          <p:nvPr/>
        </p:nvSpPr>
        <p:spPr>
          <a:xfrm>
            <a:off x="5047488" y="344728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Career</a:t>
            </a:r>
          </a:p>
        </p:txBody>
      </p:sp>
      <p:sp>
        <p:nvSpPr>
          <p:cNvPr id="18" name="TextBox 17"/>
          <p:cNvSpPr txBox="1"/>
          <p:nvPr/>
        </p:nvSpPr>
        <p:spPr>
          <a:xfrm>
            <a:off x="5047488" y="367588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CVs &amp; interviews</a:t>
            </a:r>
          </a:p>
        </p:txBody>
      </p:sp>
      <p:sp>
        <p:nvSpPr>
          <p:cNvPr id="19" name="Rectangle 18"/>
          <p:cNvSpPr/>
          <p:nvPr/>
        </p:nvSpPr>
        <p:spPr>
          <a:xfrm>
            <a:off x="7360919" y="163677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esearch.jpg"/>
          <p:cNvPicPr>
            <a:picLocks noChangeAspect="1"/>
          </p:cNvPicPr>
          <p:nvPr/>
        </p:nvPicPr>
        <p:blipFill>
          <a:blip r:embed="rId6"/>
          <a:stretch>
            <a:fillRect/>
          </a:stretch>
        </p:blipFill>
        <p:spPr>
          <a:xfrm>
            <a:off x="7296912" y="1572768"/>
            <a:ext cx="1481328" cy="1851660"/>
          </a:xfrm>
          <a:prstGeom prst="rect">
            <a:avLst/>
          </a:prstGeom>
          <a:ln w="25400">
            <a:solidFill>
              <a:srgbClr val="151714"/>
            </a:solidFill>
          </a:ln>
        </p:spPr>
      </p:pic>
      <p:sp>
        <p:nvSpPr>
          <p:cNvPr id="21" name="TextBox 20"/>
          <p:cNvSpPr txBox="1"/>
          <p:nvPr/>
        </p:nvSpPr>
        <p:spPr>
          <a:xfrm>
            <a:off x="7296912" y="344728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Research</a:t>
            </a:r>
          </a:p>
        </p:txBody>
      </p:sp>
      <p:sp>
        <p:nvSpPr>
          <p:cNvPr id="22" name="TextBox 21"/>
          <p:cNvSpPr txBox="1"/>
          <p:nvPr/>
        </p:nvSpPr>
        <p:spPr>
          <a:xfrm>
            <a:off x="7296912" y="367588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Analysis</a:t>
            </a:r>
          </a:p>
        </p:txBody>
      </p:sp>
      <p:sp>
        <p:nvSpPr>
          <p:cNvPr id="23" name="Rectangle 22"/>
          <p:cNvSpPr/>
          <p:nvPr/>
        </p:nvSpPr>
        <p:spPr>
          <a:xfrm>
            <a:off x="9610344" y="163677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writing.jpg"/>
          <p:cNvPicPr>
            <a:picLocks noChangeAspect="1"/>
          </p:cNvPicPr>
          <p:nvPr/>
        </p:nvPicPr>
        <p:blipFill>
          <a:blip r:embed="rId7"/>
          <a:stretch>
            <a:fillRect/>
          </a:stretch>
        </p:blipFill>
        <p:spPr>
          <a:xfrm>
            <a:off x="9546336" y="1572768"/>
            <a:ext cx="1481328" cy="1851660"/>
          </a:xfrm>
          <a:prstGeom prst="rect">
            <a:avLst/>
          </a:prstGeom>
          <a:ln w="25400">
            <a:solidFill>
              <a:srgbClr val="151714"/>
            </a:solidFill>
          </a:ln>
        </p:spPr>
      </p:pic>
      <p:sp>
        <p:nvSpPr>
          <p:cNvPr id="25" name="TextBox 24"/>
          <p:cNvSpPr txBox="1"/>
          <p:nvPr/>
        </p:nvSpPr>
        <p:spPr>
          <a:xfrm>
            <a:off x="9546336" y="344728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Writing</a:t>
            </a:r>
          </a:p>
        </p:txBody>
      </p:sp>
      <p:sp>
        <p:nvSpPr>
          <p:cNvPr id="26" name="TextBox 25"/>
          <p:cNvSpPr txBox="1"/>
          <p:nvPr/>
        </p:nvSpPr>
        <p:spPr>
          <a:xfrm>
            <a:off x="9546336" y="367588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Drafting &amp; editing</a:t>
            </a:r>
          </a:p>
        </p:txBody>
      </p:sp>
      <p:sp>
        <p:nvSpPr>
          <p:cNvPr id="27" name="Rectangle 26"/>
          <p:cNvSpPr/>
          <p:nvPr/>
        </p:nvSpPr>
        <p:spPr>
          <a:xfrm>
            <a:off x="612647" y="396849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travel.jpg"/>
          <p:cNvPicPr>
            <a:picLocks noChangeAspect="1"/>
          </p:cNvPicPr>
          <p:nvPr/>
        </p:nvPicPr>
        <p:blipFill>
          <a:blip r:embed="rId8"/>
          <a:stretch>
            <a:fillRect/>
          </a:stretch>
        </p:blipFill>
        <p:spPr>
          <a:xfrm>
            <a:off x="548640" y="3904487"/>
            <a:ext cx="1481328" cy="1851660"/>
          </a:xfrm>
          <a:prstGeom prst="rect">
            <a:avLst/>
          </a:prstGeom>
          <a:ln w="25400">
            <a:solidFill>
              <a:srgbClr val="151714"/>
            </a:solidFill>
          </a:ln>
        </p:spPr>
      </p:pic>
      <p:sp>
        <p:nvSpPr>
          <p:cNvPr id="29" name="TextBox 28"/>
          <p:cNvSpPr txBox="1"/>
          <p:nvPr/>
        </p:nvSpPr>
        <p:spPr>
          <a:xfrm>
            <a:off x="548640" y="577900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Travel</a:t>
            </a:r>
          </a:p>
        </p:txBody>
      </p:sp>
      <p:sp>
        <p:nvSpPr>
          <p:cNvPr id="30" name="TextBox 29"/>
          <p:cNvSpPr txBox="1"/>
          <p:nvPr/>
        </p:nvSpPr>
        <p:spPr>
          <a:xfrm>
            <a:off x="548640" y="600760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Itineraries</a:t>
            </a:r>
          </a:p>
        </p:txBody>
      </p:sp>
      <p:sp>
        <p:nvSpPr>
          <p:cNvPr id="31" name="Rectangle 30"/>
          <p:cNvSpPr/>
          <p:nvPr/>
        </p:nvSpPr>
        <p:spPr>
          <a:xfrm>
            <a:off x="2862072" y="396849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hopping.jpg"/>
          <p:cNvPicPr>
            <a:picLocks noChangeAspect="1"/>
          </p:cNvPicPr>
          <p:nvPr/>
        </p:nvPicPr>
        <p:blipFill>
          <a:blip r:embed="rId9"/>
          <a:stretch>
            <a:fillRect/>
          </a:stretch>
        </p:blipFill>
        <p:spPr>
          <a:xfrm>
            <a:off x="2798064" y="3904487"/>
            <a:ext cx="1481328" cy="1851660"/>
          </a:xfrm>
          <a:prstGeom prst="rect">
            <a:avLst/>
          </a:prstGeom>
          <a:ln w="25400">
            <a:solidFill>
              <a:srgbClr val="151714"/>
            </a:solidFill>
          </a:ln>
        </p:spPr>
      </p:pic>
      <p:sp>
        <p:nvSpPr>
          <p:cNvPr id="33" name="TextBox 32"/>
          <p:cNvSpPr txBox="1"/>
          <p:nvPr/>
        </p:nvSpPr>
        <p:spPr>
          <a:xfrm>
            <a:off x="2798064" y="577900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Shopping</a:t>
            </a:r>
          </a:p>
        </p:txBody>
      </p:sp>
      <p:sp>
        <p:nvSpPr>
          <p:cNvPr id="34" name="TextBox 33"/>
          <p:cNvSpPr txBox="1"/>
          <p:nvPr/>
        </p:nvSpPr>
        <p:spPr>
          <a:xfrm>
            <a:off x="2798064" y="600760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Choices &amp; trade-offs</a:t>
            </a:r>
          </a:p>
        </p:txBody>
      </p:sp>
      <p:sp>
        <p:nvSpPr>
          <p:cNvPr id="35" name="Rectangle 34"/>
          <p:cNvSpPr/>
          <p:nvPr/>
        </p:nvSpPr>
        <p:spPr>
          <a:xfrm>
            <a:off x="5111496" y="396849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inance.jpg"/>
          <p:cNvPicPr>
            <a:picLocks noChangeAspect="1"/>
          </p:cNvPicPr>
          <p:nvPr/>
        </p:nvPicPr>
        <p:blipFill>
          <a:blip r:embed="rId10"/>
          <a:stretch>
            <a:fillRect/>
          </a:stretch>
        </p:blipFill>
        <p:spPr>
          <a:xfrm>
            <a:off x="5047488" y="3904487"/>
            <a:ext cx="1481328" cy="1851660"/>
          </a:xfrm>
          <a:prstGeom prst="rect">
            <a:avLst/>
          </a:prstGeom>
          <a:ln w="25400">
            <a:solidFill>
              <a:srgbClr val="151714"/>
            </a:solidFill>
          </a:ln>
        </p:spPr>
      </p:pic>
      <p:sp>
        <p:nvSpPr>
          <p:cNvPr id="37" name="TextBox 36"/>
          <p:cNvSpPr txBox="1"/>
          <p:nvPr/>
        </p:nvSpPr>
        <p:spPr>
          <a:xfrm>
            <a:off x="5047488" y="577900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Finance</a:t>
            </a:r>
          </a:p>
        </p:txBody>
      </p:sp>
      <p:sp>
        <p:nvSpPr>
          <p:cNvPr id="38" name="TextBox 37"/>
          <p:cNvSpPr txBox="1"/>
          <p:nvPr/>
        </p:nvSpPr>
        <p:spPr>
          <a:xfrm>
            <a:off x="5047488" y="600760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Budgeting</a:t>
            </a:r>
          </a:p>
        </p:txBody>
      </p:sp>
      <p:sp>
        <p:nvSpPr>
          <p:cNvPr id="39" name="Rectangle 38"/>
          <p:cNvSpPr/>
          <p:nvPr/>
        </p:nvSpPr>
        <p:spPr>
          <a:xfrm>
            <a:off x="7360919" y="396849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fitness.jpg"/>
          <p:cNvPicPr>
            <a:picLocks noChangeAspect="1"/>
          </p:cNvPicPr>
          <p:nvPr/>
        </p:nvPicPr>
        <p:blipFill>
          <a:blip r:embed="rId11"/>
          <a:stretch>
            <a:fillRect/>
          </a:stretch>
        </p:blipFill>
        <p:spPr>
          <a:xfrm>
            <a:off x="7296912" y="3904487"/>
            <a:ext cx="1481328" cy="1851660"/>
          </a:xfrm>
          <a:prstGeom prst="rect">
            <a:avLst/>
          </a:prstGeom>
          <a:ln w="25400">
            <a:solidFill>
              <a:srgbClr val="151714"/>
            </a:solidFill>
          </a:ln>
        </p:spPr>
      </p:pic>
      <p:sp>
        <p:nvSpPr>
          <p:cNvPr id="41" name="TextBox 40"/>
          <p:cNvSpPr txBox="1"/>
          <p:nvPr/>
        </p:nvSpPr>
        <p:spPr>
          <a:xfrm>
            <a:off x="7296912" y="577900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Fitness</a:t>
            </a:r>
          </a:p>
        </p:txBody>
      </p:sp>
      <p:sp>
        <p:nvSpPr>
          <p:cNvPr id="42" name="TextBox 41"/>
          <p:cNvSpPr txBox="1"/>
          <p:nvPr/>
        </p:nvSpPr>
        <p:spPr>
          <a:xfrm>
            <a:off x="7296912" y="600760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Training plans</a:t>
            </a:r>
          </a:p>
        </p:txBody>
      </p:sp>
      <p:sp>
        <p:nvSpPr>
          <p:cNvPr id="43" name="Rectangle 42"/>
          <p:cNvSpPr/>
          <p:nvPr/>
        </p:nvSpPr>
        <p:spPr>
          <a:xfrm>
            <a:off x="9610344" y="3968496"/>
            <a:ext cx="1481328" cy="18516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email.jpg"/>
          <p:cNvPicPr>
            <a:picLocks noChangeAspect="1"/>
          </p:cNvPicPr>
          <p:nvPr/>
        </p:nvPicPr>
        <p:blipFill>
          <a:blip r:embed="rId12"/>
          <a:stretch>
            <a:fillRect/>
          </a:stretch>
        </p:blipFill>
        <p:spPr>
          <a:xfrm>
            <a:off x="9546336" y="3904487"/>
            <a:ext cx="1481328" cy="1851660"/>
          </a:xfrm>
          <a:prstGeom prst="rect">
            <a:avLst/>
          </a:prstGeom>
          <a:ln w="25400">
            <a:solidFill>
              <a:srgbClr val="151714"/>
            </a:solidFill>
          </a:ln>
        </p:spPr>
      </p:pic>
      <p:sp>
        <p:nvSpPr>
          <p:cNvPr id="45" name="TextBox 44"/>
          <p:cNvSpPr txBox="1"/>
          <p:nvPr/>
        </p:nvSpPr>
        <p:spPr>
          <a:xfrm>
            <a:off x="9546336" y="5779007"/>
            <a:ext cx="2103120" cy="27432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Email</a:t>
            </a:r>
          </a:p>
        </p:txBody>
      </p:sp>
      <p:sp>
        <p:nvSpPr>
          <p:cNvPr id="46" name="TextBox 45"/>
          <p:cNvSpPr txBox="1"/>
          <p:nvPr/>
        </p:nvSpPr>
        <p:spPr>
          <a:xfrm>
            <a:off x="9546336" y="6007607"/>
            <a:ext cx="2103120" cy="237744"/>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a:rPr>
              <a:t>Email drafts</a:t>
            </a:r>
          </a:p>
        </p:txBody>
      </p:sp>
      <p:sp>
        <p:nvSpPr>
          <p:cNvPr id="47" name="TextBox 46"/>
          <p:cNvSpPr txBox="1"/>
          <p:nvPr/>
        </p:nvSpPr>
        <p:spPr>
          <a:xfrm>
            <a:off x="6583680" y="1188720"/>
            <a:ext cx="5074920" cy="274320"/>
          </a:xfrm>
          <a:prstGeom prst="rect">
            <a:avLst/>
          </a:prstGeom>
          <a:noFill/>
        </p:spPr>
        <p:txBody>
          <a:bodyPr wrap="square" lIns="18288" rIns="18288" tIns="9144" bIns="9144" anchor="t">
            <a:spAutoFit/>
          </a:bodyPr>
          <a:lstStyle/>
          <a:p>
            <a:pPr algn="r">
              <a:lnSpc>
                <a:spcPct val="108000"/>
              </a:lnSpc>
              <a:spcAft>
                <a:spcPts val="400"/>
              </a:spcAft>
            </a:pPr>
            <a:r>
              <a:rPr sz="1100" b="0">
                <a:solidFill>
                  <a:srgbClr val="CC1757"/>
                </a:solidFill>
                <a:latin typeface="Segoe UI Semibold"/>
              </a:rPr>
              <a:t>Artwork: AI-generated 2026-09-10 · no licence inventory yet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WHAT A PERSON DOES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The user journey, end to end</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docs/PROJECT-REPORT.md §2 · frontend/src/app/* · backend/app/api/routes/auth.py · backend/app/agents/runtime.py</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5</a:t>
            </a:r>
          </a:p>
        </p:txBody>
      </p:sp>
      <p:sp>
        <p:nvSpPr>
          <p:cNvPr id="7" name="Rectangle 6"/>
          <p:cNvSpPr/>
          <p:nvPr/>
        </p:nvSpPr>
        <p:spPr>
          <a:xfrm>
            <a:off x="612647"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1417320" cy="114300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Access</a:t>
            </a:r>
          </a:p>
          <a:p>
            <a:pPr algn="ctr"/>
            <a:r>
              <a:rPr sz="1100">
                <a:solidFill>
                  <a:srgbClr val="43483F"/>
                </a:solidFill>
                <a:latin typeface="Segoe UI"/>
              </a:rPr>
              <a:t>Login · signup · recovery codes</a:t>
            </a:r>
          </a:p>
        </p:txBody>
      </p:sp>
      <p:cxnSp>
        <p:nvCxnSpPr>
          <p:cNvPr id="9" name="Connector 8"/>
          <p:cNvCxnSpPr/>
          <p:nvPr/>
        </p:nvCxnSpPr>
        <p:spPr>
          <a:xfrm>
            <a:off x="1965960" y="2395728"/>
            <a:ext cx="201168"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231136"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7128" y="1828800"/>
            <a:ext cx="141732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Onboard</a:t>
            </a:r>
          </a:p>
          <a:p>
            <a:pPr algn="ctr"/>
            <a:r>
              <a:rPr sz="1100">
                <a:solidFill>
                  <a:srgbClr val="43483F"/>
                </a:solidFill>
                <a:latin typeface="Segoe UI"/>
              </a:rPr>
              <a:t>Chat with Modeer; facts saved</a:t>
            </a:r>
          </a:p>
        </p:txBody>
      </p:sp>
      <p:cxnSp>
        <p:nvCxnSpPr>
          <p:cNvPr id="12" name="Connector 11"/>
          <p:cNvCxnSpPr/>
          <p:nvPr/>
        </p:nvCxnSpPr>
        <p:spPr>
          <a:xfrm>
            <a:off x="3584448" y="2395728"/>
            <a:ext cx="201168"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849624"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85615" y="1828800"/>
            <a:ext cx="141732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Pick</a:t>
            </a:r>
          </a:p>
          <a:p>
            <a:pPr algn="ctr"/>
            <a:r>
              <a:rPr sz="1100">
                <a:solidFill>
                  <a:srgbClr val="43483F"/>
                </a:solidFill>
                <a:latin typeface="Segoe UI"/>
              </a:rPr>
              <a:t>Team of ten</a:t>
            </a:r>
          </a:p>
        </p:txBody>
      </p:sp>
      <p:cxnSp>
        <p:nvCxnSpPr>
          <p:cNvPr id="15" name="Connector 14"/>
          <p:cNvCxnSpPr/>
          <p:nvPr/>
        </p:nvCxnSpPr>
        <p:spPr>
          <a:xfrm>
            <a:off x="5202936" y="2395728"/>
            <a:ext cx="201168"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468112"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04104" y="1828800"/>
            <a:ext cx="1417320" cy="114300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Chat</a:t>
            </a:r>
          </a:p>
          <a:p>
            <a:pPr algn="ctr"/>
            <a:r>
              <a:rPr sz="1100">
                <a:solidFill>
                  <a:srgbClr val="43483F"/>
                </a:solidFill>
                <a:latin typeface="Segoe UI"/>
              </a:rPr>
              <a:t>Streamed reply, history</a:t>
            </a:r>
          </a:p>
        </p:txBody>
      </p:sp>
      <p:cxnSp>
        <p:nvCxnSpPr>
          <p:cNvPr id="18" name="Connector 17"/>
          <p:cNvCxnSpPr/>
          <p:nvPr/>
        </p:nvCxnSpPr>
        <p:spPr>
          <a:xfrm>
            <a:off x="6821424" y="2395728"/>
            <a:ext cx="201168"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086600"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22592" y="1828800"/>
            <a:ext cx="141732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Remember</a:t>
            </a:r>
          </a:p>
          <a:p>
            <a:pPr algn="ctr"/>
            <a:r>
              <a:rPr sz="1100">
                <a:solidFill>
                  <a:srgbClr val="43483F"/>
                </a:solidFill>
                <a:latin typeface="Segoe UI"/>
              </a:rPr>
              <a:t>Shared + private memory</a:t>
            </a:r>
          </a:p>
        </p:txBody>
      </p:sp>
      <p:cxnSp>
        <p:nvCxnSpPr>
          <p:cNvPr id="21" name="Connector 20"/>
          <p:cNvCxnSpPr/>
          <p:nvPr/>
        </p:nvCxnSpPr>
        <p:spPr>
          <a:xfrm>
            <a:off x="8439912" y="2395728"/>
            <a:ext cx="201168"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705088"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41080" y="1828800"/>
            <a:ext cx="141732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Plan</a:t>
            </a:r>
          </a:p>
          <a:p>
            <a:pPr algn="ctr"/>
            <a:r>
              <a:rPr sz="1100">
                <a:solidFill>
                  <a:srgbClr val="43483F"/>
                </a:solidFill>
                <a:latin typeface="Segoe UI"/>
              </a:rPr>
              <a:t>Goals and Today</a:t>
            </a:r>
          </a:p>
        </p:txBody>
      </p:sp>
      <p:cxnSp>
        <p:nvCxnSpPr>
          <p:cNvPr id="24" name="Connector 23"/>
          <p:cNvCxnSpPr/>
          <p:nvPr/>
        </p:nvCxnSpPr>
        <p:spPr>
          <a:xfrm>
            <a:off x="10058400" y="2395728"/>
            <a:ext cx="201167"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323576" y="1892807"/>
            <a:ext cx="141732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59568" y="1828800"/>
            <a:ext cx="141732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Control</a:t>
            </a:r>
          </a:p>
          <a:p>
            <a:pPr algn="ctr"/>
            <a:r>
              <a:rPr sz="1100">
                <a:solidFill>
                  <a:srgbClr val="43483F"/>
                </a:solidFill>
                <a:latin typeface="Segoe UI"/>
              </a:rPr>
              <a:t>Export · delete · sign out</a:t>
            </a:r>
          </a:p>
        </p:txBody>
      </p:sp>
      <p:sp>
        <p:nvSpPr>
          <p:cNvPr id="27" name="TextBox 26"/>
          <p:cNvSpPr txBox="1"/>
          <p:nvPr/>
        </p:nvSpPr>
        <p:spPr>
          <a:xfrm>
            <a:off x="548640" y="3291840"/>
            <a:ext cx="548640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When a reply does not finish</a:t>
            </a:r>
          </a:p>
        </p:txBody>
      </p:sp>
      <p:sp>
        <p:nvSpPr>
          <p:cNvPr id="28" name="Rectangle 27"/>
          <p:cNvSpPr/>
          <p:nvPr/>
        </p:nvSpPr>
        <p:spPr>
          <a:xfrm>
            <a:off x="612647" y="3858768"/>
            <a:ext cx="2560320" cy="960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794760"/>
            <a:ext cx="2560320" cy="960120"/>
          </a:xfrm>
          <a:prstGeom prst="rect">
            <a:avLst/>
          </a:prstGeom>
          <a:solidFill>
            <a:srgbClr val="FFEBA6"/>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50" b="1">
                <a:solidFill>
                  <a:srgbClr val="151714"/>
                </a:solidFill>
                <a:latin typeface="Segoe UI Semibold"/>
              </a:rPr>
              <a:t>Truncated</a:t>
            </a:r>
          </a:p>
          <a:p>
            <a:pPr algn="ctr"/>
            <a:r>
              <a:rPr sz="1150">
                <a:solidFill>
                  <a:srgbClr val="43483F"/>
                </a:solidFill>
                <a:latin typeface="Segoe UI"/>
              </a:rPr>
              <a:t>Text kept · Continue sends a new, charged turn</a:t>
            </a:r>
          </a:p>
        </p:txBody>
      </p:sp>
      <p:sp>
        <p:nvSpPr>
          <p:cNvPr id="30" name="Rectangle 29"/>
          <p:cNvSpPr/>
          <p:nvPr/>
        </p:nvSpPr>
        <p:spPr>
          <a:xfrm>
            <a:off x="3401568" y="3858768"/>
            <a:ext cx="2560320" cy="960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37560" y="3794760"/>
            <a:ext cx="2560320" cy="96012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50" b="1">
                <a:solidFill>
                  <a:srgbClr val="151714"/>
                </a:solidFill>
                <a:latin typeface="Segoe UI Semibold"/>
              </a:rPr>
              <a:t>Interrupted</a:t>
            </a:r>
          </a:p>
          <a:p>
            <a:pPr algn="ctr"/>
            <a:r>
              <a:rPr sz="1150">
                <a:solidFill>
                  <a:srgbClr val="43483F"/>
                </a:solidFill>
                <a:latin typeface="Segoe UI"/>
              </a:rPr>
              <a:t>Partial text kept · Try again regenerates in place</a:t>
            </a:r>
          </a:p>
        </p:txBody>
      </p:sp>
      <p:sp>
        <p:nvSpPr>
          <p:cNvPr id="32" name="Rectangle 31"/>
          <p:cNvSpPr/>
          <p:nvPr/>
        </p:nvSpPr>
        <p:spPr>
          <a:xfrm>
            <a:off x="6190488" y="3858768"/>
            <a:ext cx="2560320" cy="960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9" y="3794760"/>
            <a:ext cx="2560320" cy="96012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50" b="1">
                <a:solidFill>
                  <a:srgbClr val="151714"/>
                </a:solidFill>
                <a:latin typeface="Segoe UI Semibold"/>
              </a:rPr>
              <a:t>Failed</a:t>
            </a:r>
          </a:p>
          <a:p>
            <a:pPr algn="ctr"/>
            <a:r>
              <a:rPr sz="1150">
                <a:solidFill>
                  <a:srgbClr val="43483F"/>
                </a:solidFill>
                <a:latin typeface="Segoe UI"/>
              </a:rPr>
              <a:t>Placeholder stored · Try again regenerates</a:t>
            </a:r>
          </a:p>
        </p:txBody>
      </p:sp>
      <p:sp>
        <p:nvSpPr>
          <p:cNvPr id="34" name="Rectangle 33"/>
          <p:cNvSpPr/>
          <p:nvPr/>
        </p:nvSpPr>
        <p:spPr>
          <a:xfrm>
            <a:off x="8979407" y="3858768"/>
            <a:ext cx="2560320" cy="960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15399" y="3794760"/>
            <a:ext cx="2560320" cy="960120"/>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50" b="1">
                <a:solidFill>
                  <a:srgbClr val="151714"/>
                </a:solidFill>
                <a:latin typeface="Segoe UI Semibold"/>
              </a:rPr>
              <a:t>Memory error</a:t>
            </a:r>
          </a:p>
          <a:p>
            <a:pPr algn="ctr"/>
            <a:r>
              <a:rPr sz="1150">
                <a:solidFill>
                  <a:srgbClr val="43483F"/>
                </a:solidFill>
                <a:latin typeface="Segoe UI"/>
              </a:rPr>
              <a:t>Answer kept · notice announced (working-tree fix)</a:t>
            </a:r>
          </a:p>
        </p:txBody>
      </p:sp>
      <p:sp>
        <p:nvSpPr>
          <p:cNvPr id="36" name="TextBox 35"/>
          <p:cNvSpPr txBox="1"/>
          <p:nvPr/>
        </p:nvSpPr>
        <p:spPr>
          <a:xfrm>
            <a:off x="548640" y="5029200"/>
            <a:ext cx="11064240" cy="109728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Segoe UI Semibold"/>
              </a:rPr>
              <a:t>Limits: </a:t>
            </a:r>
            <a:r>
              <a:rPr sz="1400" b="0">
                <a:solidFill>
                  <a:srgbClr val="151714"/>
                </a:solidFill>
                <a:latin typeface="Segoe UI"/>
              </a:rPr>
              <a:t>no email reset or email verification; Today does not read a calendar; Continue and Try again are user clicks, never automatic; a reload fetches the server's record as the source of truth.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REAL SCREENS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What it looks like today</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Screenshots 2026-09-15: working tree on Next dev + tools.qa_server (mock model, throwaway SQLite, synthetic data)</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6</a:t>
            </a:r>
          </a:p>
        </p:txBody>
      </p:sp>
      <p:sp>
        <p:nvSpPr>
          <p:cNvPr id="7" name="Rectangle 6"/>
          <p:cNvSpPr/>
          <p:nvPr/>
        </p:nvSpPr>
        <p:spPr>
          <a:xfrm>
            <a:off x="612647" y="1618488"/>
            <a:ext cx="5486400" cy="3429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home.jpg"/>
          <p:cNvPicPr>
            <a:picLocks noChangeAspect="1"/>
          </p:cNvPicPr>
          <p:nvPr/>
        </p:nvPicPr>
        <p:blipFill>
          <a:blip r:embed="rId3"/>
          <a:stretch>
            <a:fillRect/>
          </a:stretch>
        </p:blipFill>
        <p:spPr>
          <a:xfrm>
            <a:off x="548640" y="1554480"/>
            <a:ext cx="5486400" cy="3429000"/>
          </a:xfrm>
          <a:prstGeom prst="rect">
            <a:avLst/>
          </a:prstGeom>
          <a:ln w="25400">
            <a:solidFill>
              <a:srgbClr val="151714"/>
            </a:solidFill>
          </a:ln>
        </p:spPr>
      </p:pic>
      <p:sp>
        <p:nvSpPr>
          <p:cNvPr id="9" name="TextBox 8"/>
          <p:cNvSpPr txBox="1"/>
          <p:nvPr/>
        </p:nvSpPr>
        <p:spPr>
          <a:xfrm>
            <a:off x="548640" y="5074920"/>
            <a:ext cx="5486400" cy="27432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43483F"/>
                </a:solidFill>
                <a:latin typeface="Segoe UI Semibold"/>
              </a:rPr>
              <a:t>Home — hero composer and featured specialists</a:t>
            </a:r>
          </a:p>
        </p:txBody>
      </p:sp>
      <p:sp>
        <p:nvSpPr>
          <p:cNvPr id="10" name="Rectangle 9"/>
          <p:cNvSpPr/>
          <p:nvPr/>
        </p:nvSpPr>
        <p:spPr>
          <a:xfrm>
            <a:off x="6327648" y="1618488"/>
            <a:ext cx="5394960" cy="2947246"/>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t-memory.jpg"/>
          <p:cNvPicPr>
            <a:picLocks noChangeAspect="1"/>
          </p:cNvPicPr>
          <p:nvPr/>
        </p:nvPicPr>
        <p:blipFill>
          <a:blip r:embed="rId4"/>
          <a:stretch>
            <a:fillRect/>
          </a:stretch>
        </p:blipFill>
        <p:spPr>
          <a:xfrm>
            <a:off x="6263640" y="1554480"/>
            <a:ext cx="5394960" cy="2947246"/>
          </a:xfrm>
          <a:prstGeom prst="rect">
            <a:avLst/>
          </a:prstGeom>
          <a:ln w="25400">
            <a:solidFill>
              <a:srgbClr val="151714"/>
            </a:solidFill>
          </a:ln>
        </p:spPr>
      </p:pic>
      <p:sp>
        <p:nvSpPr>
          <p:cNvPr id="12" name="TextBox 11"/>
          <p:cNvSpPr txBox="1"/>
          <p:nvPr/>
        </p:nvSpPr>
        <p:spPr>
          <a:xfrm>
            <a:off x="6263640" y="4572000"/>
            <a:ext cx="5394960" cy="27432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43483F"/>
                </a:solidFill>
                <a:latin typeface="Segoe UI Semibold"/>
              </a:rPr>
              <a:t>Memory — shared facts (synthetic) and private notes by specialist</a:t>
            </a:r>
          </a:p>
        </p:txBody>
      </p:sp>
      <p:sp>
        <p:nvSpPr>
          <p:cNvPr id="13" name="TextBox 12"/>
          <p:cNvSpPr txBox="1"/>
          <p:nvPr/>
        </p:nvSpPr>
        <p:spPr>
          <a:xfrm>
            <a:off x="6263640" y="4892040"/>
            <a:ext cx="5394960" cy="1188720"/>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250" b="0">
                <a:solidFill>
                  <a:srgbClr val="43483F"/>
                </a:solidFill>
                <a:latin typeface="Segoe UI"/>
              </a:rPr>
              <a:t>Also captured: Team, Goals, Account, Login, chat, 390px views (appendix).</a:t>
            </a:r>
          </a:p>
          <a:p>
            <a:pPr algn="l" marL="219456" indent="-182880">
              <a:lnSpc>
                <a:spcPct val="108000"/>
              </a:lnSpc>
              <a:spcAft>
                <a:spcPts val="400"/>
              </a:spcAft>
              <a:buFont typeface="Arial"/>
              <a:buChar char="•"/>
            </a:pPr>
            <a:r>
              <a:rPr sz="1250" b="0">
                <a:solidFill>
                  <a:srgbClr val="43483F"/>
                </a:solidFill>
                <a:latin typeface="Segoe UI"/>
              </a:rPr>
              <a:t>Chat text on these screens is the mock provider's placeholder, not model output.</a:t>
            </a:r>
          </a:p>
        </p:txBody>
      </p:sp>
      <p:sp>
        <p:nvSpPr>
          <p:cNvPr id="14" name="Rectangle 13"/>
          <p:cNvSpPr/>
          <p:nvPr/>
        </p:nvSpPr>
        <p:spPr>
          <a:xfrm>
            <a:off x="548640" y="5532120"/>
            <a:ext cx="3840480" cy="274320"/>
          </a:xfrm>
          <a:prstGeom prst="rect">
            <a:avLst/>
          </a:prstGeom>
          <a:solidFill>
            <a:srgbClr val="202D3B"/>
          </a:solidFill>
          <a:ln w="15875">
            <a:solidFill>
              <a:srgbClr val="202D3B"/>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LOCAL DEV · MOCK MODEL ·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VISUAL IDENTITY AND ACCESSIBILITY</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Sunshine &amp; Ink, measured</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frontend/src/app/globals.css :root · docs/accessibility-rehearsal-2026-09-14.json · docs/launch-fixes.md (contrast, NVDA)</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7</a:t>
            </a:r>
          </a:p>
        </p:txBody>
      </p:sp>
      <p:sp>
        <p:nvSpPr>
          <p:cNvPr id="7" name="Rectangle 6"/>
          <p:cNvSpPr/>
          <p:nvPr/>
        </p:nvSpPr>
        <p:spPr>
          <a:xfrm>
            <a:off x="548640" y="1645920"/>
            <a:ext cx="822960" cy="822960"/>
          </a:xfrm>
          <a:prstGeom prst="rect">
            <a:avLst/>
          </a:prstGeom>
          <a:solidFill>
            <a:srgbClr val="FFF7DF"/>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19"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Paper</a:t>
            </a:r>
          </a:p>
          <a:p>
            <a:pPr algn="l">
              <a:lnSpc>
                <a:spcPct val="100000"/>
              </a:lnSpc>
              <a:spcAft>
                <a:spcPts val="0"/>
              </a:spcAft>
            </a:pPr>
            <a:r>
              <a:rPr sz="1050" b="0">
                <a:solidFill>
                  <a:srgbClr val="43483F"/>
                </a:solidFill>
                <a:latin typeface="Segoe UI"/>
              </a:rPr>
              <a:t>#FFF7DF</a:t>
            </a:r>
          </a:p>
        </p:txBody>
      </p:sp>
      <p:sp>
        <p:nvSpPr>
          <p:cNvPr id="9" name="Rectangle 8"/>
          <p:cNvSpPr/>
          <p:nvPr/>
        </p:nvSpPr>
        <p:spPr>
          <a:xfrm>
            <a:off x="1536192" y="1645920"/>
            <a:ext cx="822960" cy="8229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90472"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Reading</a:t>
            </a:r>
          </a:p>
          <a:p>
            <a:pPr algn="l">
              <a:lnSpc>
                <a:spcPct val="100000"/>
              </a:lnSpc>
              <a:spcAft>
                <a:spcPts val="0"/>
              </a:spcAft>
            </a:pPr>
            <a:r>
              <a:rPr sz="1050" b="0">
                <a:solidFill>
                  <a:srgbClr val="43483F"/>
                </a:solidFill>
                <a:latin typeface="Segoe UI"/>
              </a:rPr>
              <a:t>#FFFCF2</a:t>
            </a:r>
          </a:p>
        </p:txBody>
      </p:sp>
      <p:sp>
        <p:nvSpPr>
          <p:cNvPr id="11" name="Rectangle 10"/>
          <p:cNvSpPr/>
          <p:nvPr/>
        </p:nvSpPr>
        <p:spPr>
          <a:xfrm>
            <a:off x="2523744" y="1645920"/>
            <a:ext cx="822960" cy="82296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78024"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Sun</a:t>
            </a:r>
          </a:p>
          <a:p>
            <a:pPr algn="l">
              <a:lnSpc>
                <a:spcPct val="100000"/>
              </a:lnSpc>
              <a:spcAft>
                <a:spcPts val="0"/>
              </a:spcAft>
            </a:pPr>
            <a:r>
              <a:rPr sz="1050" b="0">
                <a:solidFill>
                  <a:srgbClr val="43483F"/>
                </a:solidFill>
                <a:latin typeface="Segoe UI"/>
              </a:rPr>
              <a:t>#FFDA45</a:t>
            </a:r>
          </a:p>
        </p:txBody>
      </p:sp>
      <p:sp>
        <p:nvSpPr>
          <p:cNvPr id="13" name="Rectangle 12"/>
          <p:cNvSpPr/>
          <p:nvPr/>
        </p:nvSpPr>
        <p:spPr>
          <a:xfrm>
            <a:off x="3511296" y="1645920"/>
            <a:ext cx="822960" cy="822960"/>
          </a:xfrm>
          <a:prstGeom prst="rect">
            <a:avLst/>
          </a:prstGeom>
          <a:solidFill>
            <a:srgbClr val="FF438A"/>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65576"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Pink</a:t>
            </a:r>
          </a:p>
          <a:p>
            <a:pPr algn="l">
              <a:lnSpc>
                <a:spcPct val="100000"/>
              </a:lnSpc>
              <a:spcAft>
                <a:spcPts val="0"/>
              </a:spcAft>
            </a:pPr>
            <a:r>
              <a:rPr sz="1050" b="0">
                <a:solidFill>
                  <a:srgbClr val="43483F"/>
                </a:solidFill>
                <a:latin typeface="Segoe UI"/>
              </a:rPr>
              <a:t>#FF438A</a:t>
            </a:r>
          </a:p>
        </p:txBody>
      </p:sp>
      <p:sp>
        <p:nvSpPr>
          <p:cNvPr id="15" name="Rectangle 14"/>
          <p:cNvSpPr/>
          <p:nvPr/>
        </p:nvSpPr>
        <p:spPr>
          <a:xfrm>
            <a:off x="4498848" y="1645920"/>
            <a:ext cx="822960" cy="822960"/>
          </a:xfrm>
          <a:prstGeom prst="rect">
            <a:avLst/>
          </a:prstGeom>
          <a:solidFill>
            <a:srgbClr val="CC1757"/>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53128"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Deep pink text</a:t>
            </a:r>
          </a:p>
          <a:p>
            <a:pPr algn="l">
              <a:lnSpc>
                <a:spcPct val="100000"/>
              </a:lnSpc>
              <a:spcAft>
                <a:spcPts val="0"/>
              </a:spcAft>
            </a:pPr>
            <a:r>
              <a:rPr sz="1050" b="0">
                <a:solidFill>
                  <a:srgbClr val="43483F"/>
                </a:solidFill>
                <a:latin typeface="Segoe UI"/>
              </a:rPr>
              <a:t>#CC1757</a:t>
            </a:r>
          </a:p>
        </p:txBody>
      </p:sp>
      <p:sp>
        <p:nvSpPr>
          <p:cNvPr id="17" name="Rectangle 16"/>
          <p:cNvSpPr/>
          <p:nvPr/>
        </p:nvSpPr>
        <p:spPr>
          <a:xfrm>
            <a:off x="5486400" y="1645920"/>
            <a:ext cx="822960" cy="822960"/>
          </a:xfrm>
          <a:prstGeom prst="rect">
            <a:avLst/>
          </a:prstGeom>
          <a:solidFill>
            <a:srgbClr val="151714"/>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40680"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Ink</a:t>
            </a:r>
          </a:p>
          <a:p>
            <a:pPr algn="l">
              <a:lnSpc>
                <a:spcPct val="100000"/>
              </a:lnSpc>
              <a:spcAft>
                <a:spcPts val="0"/>
              </a:spcAft>
            </a:pPr>
            <a:r>
              <a:rPr sz="1050" b="0">
                <a:solidFill>
                  <a:srgbClr val="43483F"/>
                </a:solidFill>
                <a:latin typeface="Segoe UI"/>
              </a:rPr>
              <a:t>#151714</a:t>
            </a:r>
          </a:p>
        </p:txBody>
      </p:sp>
      <p:sp>
        <p:nvSpPr>
          <p:cNvPr id="19" name="Rectangle 18"/>
          <p:cNvSpPr/>
          <p:nvPr/>
        </p:nvSpPr>
        <p:spPr>
          <a:xfrm>
            <a:off x="6473952" y="1645920"/>
            <a:ext cx="822960" cy="822960"/>
          </a:xfrm>
          <a:prstGeom prst="rect">
            <a:avLst/>
          </a:prstGeom>
          <a:solidFill>
            <a:srgbClr val="202D3B"/>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28232" y="2514600"/>
            <a:ext cx="960120" cy="457200"/>
          </a:xfrm>
          <a:prstGeom prst="rect">
            <a:avLst/>
          </a:prstGeom>
          <a:noFill/>
        </p:spPr>
        <p:txBody>
          <a:bodyPr wrap="square" lIns="18288" rIns="18288" tIns="9144" bIns="9144" anchor="t">
            <a:spAutoFit/>
          </a:bodyPr>
          <a:lstStyle/>
          <a:p>
            <a:pPr algn="l">
              <a:lnSpc>
                <a:spcPct val="100000"/>
              </a:lnSpc>
              <a:spcAft>
                <a:spcPts val="0"/>
              </a:spcAft>
            </a:pPr>
            <a:r>
              <a:rPr sz="1050" b="0">
                <a:solidFill>
                  <a:srgbClr val="43483F"/>
                </a:solidFill>
                <a:latin typeface="Segoe UI"/>
              </a:rPr>
              <a:t>Navy</a:t>
            </a:r>
          </a:p>
          <a:p>
            <a:pPr algn="l">
              <a:lnSpc>
                <a:spcPct val="100000"/>
              </a:lnSpc>
              <a:spcAft>
                <a:spcPts val="0"/>
              </a:spcAft>
            </a:pPr>
            <a:r>
              <a:rPr sz="1050" b="0">
                <a:solidFill>
                  <a:srgbClr val="43483F"/>
                </a:solidFill>
                <a:latin typeface="Segoe UI"/>
              </a:rPr>
              <a:t>#202D3B</a:t>
            </a:r>
          </a:p>
        </p:txBody>
      </p:sp>
      <p:sp>
        <p:nvSpPr>
          <p:cNvPr id="21" name="Rectangle 20"/>
          <p:cNvSpPr/>
          <p:nvPr/>
        </p:nvSpPr>
        <p:spPr>
          <a:xfrm>
            <a:off x="612647" y="3310127"/>
            <a:ext cx="3291840" cy="5486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246120"/>
            <a:ext cx="3291840" cy="548640"/>
          </a:xfrm>
          <a:prstGeom prst="rect">
            <a:avLst/>
          </a:prstGeom>
          <a:solidFill>
            <a:srgbClr val="FF438A"/>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3246120"/>
            <a:ext cx="3291840" cy="548640"/>
          </a:xfrm>
          <a:prstGeom prst="rect">
            <a:avLst/>
          </a:prstGeom>
          <a:noFill/>
        </p:spPr>
        <p:txBody>
          <a:bodyPr wrap="square" lIns="18288" rIns="18288" tIns="9144" bIns="9144" anchor="ctr">
            <a:spAutoFit/>
          </a:bodyPr>
          <a:lstStyle/>
          <a:p>
            <a:pPr algn="ctr">
              <a:lnSpc>
                <a:spcPct val="108000"/>
              </a:lnSpc>
              <a:spcAft>
                <a:spcPts val="400"/>
              </a:spcAft>
            </a:pPr>
            <a:r>
              <a:rPr sz="1600" b="0">
                <a:solidFill>
                  <a:srgbClr val="151714"/>
                </a:solidFill>
                <a:latin typeface="Segoe UI Semibold"/>
              </a:rPr>
              <a:t>Ink on pink · 5.5:1</a:t>
            </a:r>
          </a:p>
        </p:txBody>
      </p:sp>
      <p:sp>
        <p:nvSpPr>
          <p:cNvPr id="24" name="TextBox 23"/>
          <p:cNvSpPr txBox="1"/>
          <p:nvPr/>
        </p:nvSpPr>
        <p:spPr>
          <a:xfrm>
            <a:off x="4023360" y="3273552"/>
            <a:ext cx="3017520" cy="5486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43483F"/>
                </a:solidFill>
                <a:latin typeface="Segoe UI"/>
              </a:rPr>
              <a:t>Was white on pink at 3.27:1. Fixed in 80cf49a.</a:t>
            </a:r>
          </a:p>
        </p:txBody>
      </p:sp>
      <p:sp>
        <p:nvSpPr>
          <p:cNvPr id="25" name="Rectangle 24"/>
          <p:cNvSpPr/>
          <p:nvPr/>
        </p:nvSpPr>
        <p:spPr>
          <a:xfrm>
            <a:off x="612647" y="4178808"/>
            <a:ext cx="649224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114800"/>
            <a:ext cx="6492240" cy="20574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4114800"/>
            <a:ext cx="649224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 y="4169663"/>
            <a:ext cx="623620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Accessibility evidence</a:t>
            </a:r>
          </a:p>
        </p:txBody>
      </p:sp>
      <p:sp>
        <p:nvSpPr>
          <p:cNvPr id="29" name="TextBox 28"/>
          <p:cNvSpPr txBox="1"/>
          <p:nvPr/>
        </p:nvSpPr>
        <p:spPr>
          <a:xfrm>
            <a:off x="694944" y="4645152"/>
            <a:ext cx="6199631" cy="143560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Semibold"/>
              </a:rPr>
              <a:t>25 automated scans, 0 findings</a:t>
            </a:r>
            <a:r>
              <a:rPr sz="1350" b="0">
                <a:solidFill>
                  <a:srgbClr val="151714"/>
                </a:solidFill>
                <a:latin typeface="Segoe UI"/>
              </a:rPr>
              <a:t> — desktop + 390px, local HTTPS rehearsal</a:t>
            </a:r>
          </a:p>
          <a:p>
            <a:pPr algn="l" marL="219456" indent="-182880">
              <a:lnSpc>
                <a:spcPct val="108000"/>
              </a:lnSpc>
              <a:spcAft>
                <a:spcPts val="400"/>
              </a:spcAft>
              <a:buFont typeface="Arial"/>
              <a:buChar char="•"/>
            </a:pPr>
            <a:r>
              <a:rPr sz="1350" b="0">
                <a:solidFill>
                  <a:srgbClr val="151714"/>
                </a:solidFill>
                <a:latin typeface="Segoe UI Semibold"/>
              </a:rPr>
              <a:t>Keyboard pass</a:t>
            </a:r>
            <a:r>
              <a:rPr sz="1350" b="0">
                <a:solidFill>
                  <a:srgbClr val="151714"/>
                </a:solidFill>
                <a:latin typeface="Segoe UI"/>
              </a:rPr>
              <a:t> — 11 routes, visible focus, signup to first message</a:t>
            </a:r>
          </a:p>
          <a:p>
            <a:pPr algn="l" marL="219456" indent="-182880">
              <a:lnSpc>
                <a:spcPct val="108000"/>
              </a:lnSpc>
              <a:spcAft>
                <a:spcPts val="400"/>
              </a:spcAft>
              <a:buFont typeface="Arial"/>
              <a:buChar char="•"/>
            </a:pPr>
            <a:r>
              <a:rPr sz="1350" b="0">
                <a:solidFill>
                  <a:srgbClr val="CC1757"/>
                </a:solidFill>
                <a:latin typeface="Segoe UI Semibold"/>
              </a:rPr>
              <a:t>Not done: </a:t>
            </a:r>
            <a:r>
              <a:rPr sz="1350" b="0">
                <a:solidFill>
                  <a:srgbClr val="151714"/>
                </a:solidFill>
                <a:latin typeface="Segoe UI"/>
              </a:rPr>
              <a:t>physical phones, human screen-reader pass</a:t>
            </a:r>
          </a:p>
        </p:txBody>
      </p:sp>
      <p:sp>
        <p:nvSpPr>
          <p:cNvPr id="30" name="Rectangle 29"/>
          <p:cNvSpPr/>
          <p:nvPr/>
        </p:nvSpPr>
        <p:spPr>
          <a:xfrm>
            <a:off x="7470648" y="1636776"/>
            <a:ext cx="1994345" cy="4315968"/>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hot-phone-home.jpg"/>
          <p:cNvPicPr>
            <a:picLocks noChangeAspect="1"/>
          </p:cNvPicPr>
          <p:nvPr/>
        </p:nvPicPr>
        <p:blipFill>
          <a:blip r:embed="rId3"/>
          <a:stretch>
            <a:fillRect/>
          </a:stretch>
        </p:blipFill>
        <p:spPr>
          <a:xfrm>
            <a:off x="7406640" y="1572768"/>
            <a:ext cx="1994345" cy="4315968"/>
          </a:xfrm>
          <a:prstGeom prst="rect">
            <a:avLst/>
          </a:prstGeom>
          <a:ln w="25400">
            <a:solidFill>
              <a:srgbClr val="151714"/>
            </a:solidFill>
          </a:ln>
        </p:spPr>
      </p:pic>
      <p:sp>
        <p:nvSpPr>
          <p:cNvPr id="32" name="Rectangle 31"/>
          <p:cNvSpPr/>
          <p:nvPr/>
        </p:nvSpPr>
        <p:spPr>
          <a:xfrm>
            <a:off x="9710928" y="1636776"/>
            <a:ext cx="1994345" cy="4315968"/>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hot-phone-memory.jpg"/>
          <p:cNvPicPr>
            <a:picLocks noChangeAspect="1"/>
          </p:cNvPicPr>
          <p:nvPr/>
        </p:nvPicPr>
        <p:blipFill>
          <a:blip r:embed="rId4"/>
          <a:stretch>
            <a:fillRect/>
          </a:stretch>
        </p:blipFill>
        <p:spPr>
          <a:xfrm>
            <a:off x="9646920" y="1572768"/>
            <a:ext cx="1994345" cy="4315968"/>
          </a:xfrm>
          <a:prstGeom prst="rect">
            <a:avLst/>
          </a:prstGeom>
          <a:ln w="25400">
            <a:solidFill>
              <a:srgbClr val="151714"/>
            </a:solidFill>
          </a:ln>
        </p:spPr>
      </p:pic>
      <p:sp>
        <p:nvSpPr>
          <p:cNvPr id="34" name="TextBox 33"/>
          <p:cNvSpPr txBox="1"/>
          <p:nvPr/>
        </p:nvSpPr>
        <p:spPr>
          <a:xfrm>
            <a:off x="7406640" y="6016752"/>
            <a:ext cx="4206240" cy="274320"/>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Semibold"/>
              </a:rPr>
              <a:t>390px in desktop Chrome — not a physical phone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ARCHITECTURE AND DEPLOYMENT BOUNDARIES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 modular monolith behind one HTTPS proxy</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deploy/compose.yml · deploy/Caddyfile · backend/app/main.py · docs/PROJECT-REPORT.md §4, §8</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8</a:t>
            </a:r>
          </a:p>
        </p:txBody>
      </p:sp>
      <p:sp>
        <p:nvSpPr>
          <p:cNvPr id="7" name="Rectangle 6"/>
          <p:cNvSpPr/>
          <p:nvPr/>
        </p:nvSpPr>
        <p:spPr>
          <a:xfrm>
            <a:off x="612647" y="2852927"/>
            <a:ext cx="164592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88920"/>
            <a:ext cx="1645920" cy="1005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Browser</a:t>
            </a:r>
          </a:p>
          <a:p>
            <a:pPr algn="ctr"/>
            <a:r>
              <a:rPr sz="1150">
                <a:solidFill>
                  <a:srgbClr val="43483F"/>
                </a:solidFill>
                <a:latin typeface="Segoe UI"/>
              </a:rPr>
              <a:t>Web app</a:t>
            </a:r>
          </a:p>
        </p:txBody>
      </p:sp>
      <p:sp>
        <p:nvSpPr>
          <p:cNvPr id="9" name="Rectangle 8"/>
          <p:cNvSpPr/>
          <p:nvPr/>
        </p:nvSpPr>
        <p:spPr>
          <a:xfrm>
            <a:off x="2807208" y="2852927"/>
            <a:ext cx="173736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0" y="2788920"/>
            <a:ext cx="1737360" cy="10058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Caddy</a:t>
            </a:r>
          </a:p>
          <a:p>
            <a:pPr algn="ctr"/>
            <a:r>
              <a:rPr sz="1150">
                <a:solidFill>
                  <a:srgbClr val="43483F"/>
                </a:solidFill>
                <a:latin typeface="Segoe UI"/>
              </a:rPr>
              <a:t>HTTPS · headers · 80/443</a:t>
            </a:r>
          </a:p>
        </p:txBody>
      </p:sp>
      <p:sp>
        <p:nvSpPr>
          <p:cNvPr id="11" name="Rectangle 10"/>
          <p:cNvSpPr/>
          <p:nvPr/>
        </p:nvSpPr>
        <p:spPr>
          <a:xfrm>
            <a:off x="5184648" y="1664208"/>
            <a:ext cx="219456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20640" y="1600200"/>
            <a:ext cx="2194560" cy="1005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Next.js 16</a:t>
            </a:r>
          </a:p>
          <a:p>
            <a:pPr algn="ctr"/>
            <a:r>
              <a:rPr sz="1150">
                <a:solidFill>
                  <a:srgbClr val="43483F"/>
                </a:solidFill>
                <a:latin typeface="Segoe UI"/>
              </a:rPr>
              <a:t>Pages · nonce CSP</a:t>
            </a:r>
          </a:p>
        </p:txBody>
      </p:sp>
      <p:sp>
        <p:nvSpPr>
          <p:cNvPr id="13" name="Rectangle 12"/>
          <p:cNvSpPr/>
          <p:nvPr/>
        </p:nvSpPr>
        <p:spPr>
          <a:xfrm>
            <a:off x="5184648" y="4041648"/>
            <a:ext cx="219456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20640" y="3977639"/>
            <a:ext cx="2194560" cy="10058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FastAPI</a:t>
            </a:r>
          </a:p>
          <a:p>
            <a:pPr algn="ctr"/>
            <a:r>
              <a:rPr sz="1150">
                <a:solidFill>
                  <a:srgbClr val="43483F"/>
                </a:solidFill>
                <a:latin typeface="Segoe UI"/>
              </a:rPr>
              <a:t>One worker · modular monolith</a:t>
            </a:r>
          </a:p>
        </p:txBody>
      </p:sp>
      <p:sp>
        <p:nvSpPr>
          <p:cNvPr id="15" name="Rectangle 14"/>
          <p:cNvSpPr/>
          <p:nvPr/>
        </p:nvSpPr>
        <p:spPr>
          <a:xfrm>
            <a:off x="8202168" y="404164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3977639"/>
            <a:ext cx="1920240" cy="1005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PostgreSQL 16</a:t>
            </a:r>
          </a:p>
          <a:p>
            <a:pPr algn="ctr"/>
            <a:r>
              <a:rPr sz="1150">
                <a:solidFill>
                  <a:srgbClr val="43483F"/>
                </a:solidFill>
                <a:latin typeface="Segoe UI"/>
              </a:rPr>
              <a:t>SQLite for dev/tests</a:t>
            </a:r>
          </a:p>
        </p:txBody>
      </p:sp>
      <p:sp>
        <p:nvSpPr>
          <p:cNvPr id="17" name="Rectangle 16"/>
          <p:cNvSpPr/>
          <p:nvPr/>
        </p:nvSpPr>
        <p:spPr>
          <a:xfrm>
            <a:off x="8202168" y="1938527"/>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874519"/>
            <a:ext cx="1920240" cy="100584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LLM provider</a:t>
            </a:r>
          </a:p>
          <a:p>
            <a:pPr algn="ctr"/>
            <a:r>
              <a:rPr sz="1150">
                <a:solidFill>
                  <a:srgbClr val="43483F"/>
                </a:solidFill>
                <a:latin typeface="Segoe UI"/>
              </a:rPr>
              <a:t>Groq in example config</a:t>
            </a:r>
          </a:p>
        </p:txBody>
      </p:sp>
      <p:sp>
        <p:nvSpPr>
          <p:cNvPr id="19" name="Rectangle 18"/>
          <p:cNvSpPr/>
          <p:nvPr/>
        </p:nvSpPr>
        <p:spPr>
          <a:xfrm>
            <a:off x="10442448" y="4041648"/>
            <a:ext cx="128016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378440" y="3977639"/>
            <a:ext cx="1280160" cy="1005840"/>
          </a:xfrm>
          <a:prstGeom prst="rect">
            <a:avLst/>
          </a:prstGeom>
          <a:solidFill>
            <a:srgbClr val="FDF0CD"/>
          </a:solidFill>
          <a:ln w="25400">
            <a:solidFill>
              <a:srgbClr val="15171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Backup copy</a:t>
            </a:r>
          </a:p>
          <a:p>
            <a:pPr algn="ctr"/>
            <a:r>
              <a:rPr sz="1150">
                <a:solidFill>
                  <a:srgbClr val="43483F"/>
                </a:solidFill>
                <a:latin typeface="Segoe UI"/>
              </a:rPr>
              <a:t>Encrypted</a:t>
            </a:r>
          </a:p>
        </p:txBody>
      </p:sp>
      <p:sp>
        <p:nvSpPr>
          <p:cNvPr id="21" name="Rectangle 20"/>
          <p:cNvSpPr/>
          <p:nvPr/>
        </p:nvSpPr>
        <p:spPr>
          <a:xfrm>
            <a:off x="8202168" y="5458968"/>
            <a:ext cx="352044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5394960"/>
            <a:ext cx="3520440" cy="731520"/>
          </a:xfrm>
          <a:prstGeom prst="rect">
            <a:avLst/>
          </a:prstGeom>
          <a:solidFill>
            <a:srgbClr val="FDF0CD"/>
          </a:solidFill>
          <a:ln w="25400">
            <a:solidFill>
              <a:srgbClr val="15171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51714"/>
                </a:solidFill>
                <a:latin typeface="Segoe UI Semibold"/>
              </a:rPr>
              <a:t>Operator jobs · cron</a:t>
            </a:r>
          </a:p>
          <a:p>
            <a:pPr algn="ctr"/>
            <a:r>
              <a:rPr sz="1100">
                <a:solidFill>
                  <a:srgbClr val="43483F"/>
                </a:solidFill>
                <a:latin typeface="Segoe UI"/>
              </a:rPr>
              <a:t>nightly-backup.sh · watchdog.sh (not installed)</a:t>
            </a:r>
          </a:p>
        </p:txBody>
      </p:sp>
      <p:cxnSp>
        <p:nvCxnSpPr>
          <p:cNvPr id="23" name="Connector 22"/>
          <p:cNvCxnSpPr/>
          <p:nvPr/>
        </p:nvCxnSpPr>
        <p:spPr>
          <a:xfrm>
            <a:off x="2194560" y="3291840"/>
            <a:ext cx="5486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80560" y="2103120"/>
            <a:ext cx="640080" cy="9601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40480" y="2400300"/>
            <a:ext cx="914400" cy="274320"/>
          </a:xfrm>
          <a:prstGeom prst="rect">
            <a:avLst/>
          </a:prstGeom>
          <a:noFill/>
        </p:spPr>
        <p:txBody>
          <a:bodyPr wrap="square" lIns="18288" rIns="18288" tIns="9144" bIns="9144" anchor="t">
            <a:spAutoFit/>
          </a:bodyPr>
          <a:lstStyle/>
          <a:p>
            <a:pPr algn="ctr">
              <a:lnSpc>
                <a:spcPct val="108000"/>
              </a:lnSpc>
              <a:spcAft>
                <a:spcPts val="400"/>
              </a:spcAft>
            </a:pPr>
            <a:r>
              <a:rPr sz="1100" b="0">
                <a:solidFill>
                  <a:srgbClr val="43483F"/>
                </a:solidFill>
                <a:latin typeface="Segoe UI Semibold"/>
              </a:rPr>
              <a:t>pages</a:t>
            </a:r>
          </a:p>
        </p:txBody>
      </p:sp>
      <p:cxnSp>
        <p:nvCxnSpPr>
          <p:cNvPr id="26" name="Connector 25"/>
          <p:cNvCxnSpPr/>
          <p:nvPr/>
        </p:nvCxnSpPr>
        <p:spPr>
          <a:xfrm>
            <a:off x="4480560" y="3520440"/>
            <a:ext cx="640080" cy="9601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566160" y="4046220"/>
            <a:ext cx="1188720" cy="274320"/>
          </a:xfrm>
          <a:prstGeom prst="rect">
            <a:avLst/>
          </a:prstGeom>
          <a:noFill/>
        </p:spPr>
        <p:txBody>
          <a:bodyPr wrap="square" lIns="18288" rIns="18288" tIns="9144" bIns="9144" anchor="t">
            <a:spAutoFit/>
          </a:bodyPr>
          <a:lstStyle/>
          <a:p>
            <a:pPr algn="ctr">
              <a:lnSpc>
                <a:spcPct val="108000"/>
              </a:lnSpc>
              <a:spcAft>
                <a:spcPts val="400"/>
              </a:spcAft>
            </a:pPr>
            <a:r>
              <a:rPr sz="1100" b="0">
                <a:solidFill>
                  <a:srgbClr val="43483F"/>
                </a:solidFill>
                <a:latin typeface="Segoe UI Semibold"/>
              </a:rPr>
              <a:t>/api + SSE</a:t>
            </a:r>
          </a:p>
        </p:txBody>
      </p:sp>
      <p:cxnSp>
        <p:nvCxnSpPr>
          <p:cNvPr id="28" name="Connector 27"/>
          <p:cNvCxnSpPr/>
          <p:nvPr/>
        </p:nvCxnSpPr>
        <p:spPr>
          <a:xfrm>
            <a:off x="7315200" y="4480560"/>
            <a:ext cx="82296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315200" y="2514600"/>
            <a:ext cx="822960" cy="1645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26479" y="3200400"/>
            <a:ext cx="1463040" cy="274320"/>
          </a:xfrm>
          <a:prstGeom prst="rect">
            <a:avLst/>
          </a:prstGeom>
          <a:noFill/>
        </p:spPr>
        <p:txBody>
          <a:bodyPr wrap="square" lIns="18288" rIns="18288" tIns="9144" bIns="9144" anchor="t">
            <a:spAutoFit/>
          </a:bodyPr>
          <a:lstStyle/>
          <a:p>
            <a:pPr algn="ctr">
              <a:lnSpc>
                <a:spcPct val="108000"/>
              </a:lnSpc>
              <a:spcAft>
                <a:spcPts val="400"/>
              </a:spcAft>
            </a:pPr>
            <a:r>
              <a:rPr sz="1100" b="0">
                <a:solidFill>
                  <a:srgbClr val="43483F"/>
                </a:solidFill>
                <a:latin typeface="Segoe UI Semibold"/>
              </a:rPr>
              <a:t>prompt + context</a:t>
            </a:r>
          </a:p>
        </p:txBody>
      </p:sp>
      <p:cxnSp>
        <p:nvCxnSpPr>
          <p:cNvPr id="31" name="Connector 30"/>
          <p:cNvCxnSpPr/>
          <p:nvPr/>
        </p:nvCxnSpPr>
        <p:spPr>
          <a:xfrm>
            <a:off x="10058400" y="4480560"/>
            <a:ext cx="320040" cy="0"/>
          </a:xfrm>
          <a:prstGeom prst="line">
            <a:avLst/>
          </a:prstGeom>
          <a:ln w="25400">
            <a:solidFill>
              <a:srgbClr val="151714"/>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052560" y="4983480"/>
            <a:ext cx="0" cy="411480"/>
          </a:xfrm>
          <a:prstGeom prst="line">
            <a:avLst/>
          </a:prstGeom>
          <a:ln w="25400">
            <a:solidFill>
              <a:srgbClr val="15171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892040" y="1325880"/>
            <a:ext cx="5440680" cy="3931920"/>
          </a:xfrm>
          <a:prstGeom prst="rect">
            <a:avLst/>
          </a:prstGeom>
          <a:noFill/>
          <a:ln w="15875">
            <a:solidFill>
              <a:srgbClr val="43483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98079" y="1371600"/>
            <a:ext cx="2743200" cy="27432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43483F"/>
                </a:solidFill>
                <a:latin typeface="Segoe UI Semibold"/>
              </a:rPr>
              <a:t>Private Compose network</a:t>
            </a:r>
          </a:p>
        </p:txBody>
      </p:sp>
      <p:sp>
        <p:nvSpPr>
          <p:cNvPr id="35" name="Rectangle 34"/>
          <p:cNvSpPr/>
          <p:nvPr/>
        </p:nvSpPr>
        <p:spPr>
          <a:xfrm>
            <a:off x="548640" y="1645920"/>
            <a:ext cx="2468880" cy="274320"/>
          </a:xfrm>
          <a:prstGeom prst="rect">
            <a:avLst/>
          </a:prstGeom>
          <a:solidFill>
            <a:srgbClr val="FFDA4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IMPLEMENTED · CONFIGURED</a:t>
            </a:r>
          </a:p>
        </p:txBody>
      </p:sp>
      <p:sp>
        <p:nvSpPr>
          <p:cNvPr id="36" name="TextBox 35"/>
          <p:cNvSpPr txBox="1"/>
          <p:nvPr/>
        </p:nvSpPr>
        <p:spPr>
          <a:xfrm>
            <a:off x="548640" y="4754880"/>
            <a:ext cx="4206240" cy="1371600"/>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No host, domain or remote backup destination exists yet.</a:t>
            </a:r>
          </a:p>
          <a:p>
            <a:pPr algn="l" marL="219456" indent="-182880">
              <a:lnSpc>
                <a:spcPct val="108000"/>
              </a:lnSpc>
              <a:spcAft>
                <a:spcPts val="400"/>
              </a:spcAft>
              <a:buFont typeface="Arial"/>
              <a:buChar char="•"/>
            </a:pPr>
            <a:r>
              <a:rPr sz="1350" b="0">
                <a:solidFill>
                  <a:srgbClr val="151714"/>
                </a:solidFill>
                <a:latin typeface="Segoe UI"/>
              </a:rPr>
              <a:t>Keep one backend worker: turn locks are in-process.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PRINCIPAL REQUEST FLOW</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One chat turn, from click to memory</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backend/app/api/routes/chat.py · backend/app/agents/runtime.py · backend/app/agents/context.py · docs/PROJECT-REPORT.md §4, §7</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9</a:t>
            </a:r>
          </a:p>
        </p:txBody>
      </p:sp>
      <p:sp>
        <p:nvSpPr>
          <p:cNvPr id="7" name="Rectangle 6"/>
          <p:cNvSpPr/>
          <p:nvPr/>
        </p:nvSpPr>
        <p:spPr>
          <a:xfrm>
            <a:off x="612647" y="1709928"/>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2514600" cy="1188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373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1</a:t>
            </a:r>
          </a:p>
        </p:txBody>
      </p:sp>
      <p:sp>
        <p:nvSpPr>
          <p:cNvPr id="10" name="TextBox 9"/>
          <p:cNvSpPr txBox="1"/>
          <p:nvPr/>
        </p:nvSpPr>
        <p:spPr>
          <a:xfrm>
            <a:off x="1188719" y="18105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Authenticate</a:t>
            </a:r>
          </a:p>
        </p:txBody>
      </p:sp>
      <p:sp>
        <p:nvSpPr>
          <p:cNvPr id="11" name="TextBox 10"/>
          <p:cNvSpPr txBox="1"/>
          <p:nvPr/>
        </p:nvSpPr>
        <p:spPr>
          <a:xfrm>
            <a:off x="1188719" y="2194560"/>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cookie · request window</a:t>
            </a:r>
          </a:p>
        </p:txBody>
      </p:sp>
      <p:cxnSp>
        <p:nvCxnSpPr>
          <p:cNvPr id="12" name="Connector 11"/>
          <p:cNvCxnSpPr/>
          <p:nvPr/>
        </p:nvCxnSpPr>
        <p:spPr>
          <a:xfrm>
            <a:off x="3063240" y="2240280"/>
            <a:ext cx="3200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47288" y="1709928"/>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645920"/>
            <a:ext cx="2514600" cy="1188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0440" y="17373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2</a:t>
            </a:r>
          </a:p>
        </p:txBody>
      </p:sp>
      <p:sp>
        <p:nvSpPr>
          <p:cNvPr id="16" name="TextBox 15"/>
          <p:cNvSpPr txBox="1"/>
          <p:nvPr/>
        </p:nvSpPr>
        <p:spPr>
          <a:xfrm>
            <a:off x="4023360" y="18105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Resolve</a:t>
            </a:r>
          </a:p>
        </p:txBody>
      </p:sp>
      <p:sp>
        <p:nvSpPr>
          <p:cNvPr id="17" name="TextBox 16"/>
          <p:cNvSpPr txBox="1"/>
          <p:nvPr/>
        </p:nvSpPr>
        <p:spPr>
          <a:xfrm>
            <a:off x="4023360" y="2194560"/>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account · epoch · ownership</a:t>
            </a:r>
          </a:p>
        </p:txBody>
      </p:sp>
      <p:cxnSp>
        <p:nvCxnSpPr>
          <p:cNvPr id="18" name="Connector 17"/>
          <p:cNvCxnSpPr/>
          <p:nvPr/>
        </p:nvCxnSpPr>
        <p:spPr>
          <a:xfrm>
            <a:off x="5897880" y="2240280"/>
            <a:ext cx="3200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81928" y="1709928"/>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45920"/>
            <a:ext cx="2514600" cy="1188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17373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3</a:t>
            </a:r>
          </a:p>
        </p:txBody>
      </p:sp>
      <p:sp>
        <p:nvSpPr>
          <p:cNvPr id="22" name="TextBox 21"/>
          <p:cNvSpPr txBox="1"/>
          <p:nvPr/>
        </p:nvSpPr>
        <p:spPr>
          <a:xfrm>
            <a:off x="6858000" y="18105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Persist</a:t>
            </a:r>
          </a:p>
        </p:txBody>
      </p:sp>
      <p:sp>
        <p:nvSpPr>
          <p:cNvPr id="23" name="TextBox 22"/>
          <p:cNvSpPr txBox="1"/>
          <p:nvPr/>
        </p:nvSpPr>
        <p:spPr>
          <a:xfrm>
            <a:off x="6858000" y="2194560"/>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user message</a:t>
            </a:r>
          </a:p>
        </p:txBody>
      </p:sp>
      <p:cxnSp>
        <p:nvCxnSpPr>
          <p:cNvPr id="24" name="Connector 23"/>
          <p:cNvCxnSpPr/>
          <p:nvPr/>
        </p:nvCxnSpPr>
        <p:spPr>
          <a:xfrm>
            <a:off x="8732520" y="2240280"/>
            <a:ext cx="3200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116568" y="1709928"/>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1645920"/>
            <a:ext cx="2514600" cy="1188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89720" y="17373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4</a:t>
            </a:r>
          </a:p>
        </p:txBody>
      </p:sp>
      <p:sp>
        <p:nvSpPr>
          <p:cNvPr id="28" name="TextBox 27"/>
          <p:cNvSpPr txBox="1"/>
          <p:nvPr/>
        </p:nvSpPr>
        <p:spPr>
          <a:xfrm>
            <a:off x="9692640" y="18105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Build context</a:t>
            </a:r>
          </a:p>
        </p:txBody>
      </p:sp>
      <p:sp>
        <p:nvSpPr>
          <p:cNvPr id="29" name="TextBox 28"/>
          <p:cNvSpPr txBox="1"/>
          <p:nvPr/>
        </p:nvSpPr>
        <p:spPr>
          <a:xfrm>
            <a:off x="9692640" y="2194560"/>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memory · goals · history</a:t>
            </a:r>
          </a:p>
        </p:txBody>
      </p:sp>
      <p:sp>
        <p:nvSpPr>
          <p:cNvPr id="30" name="Rectangle 29"/>
          <p:cNvSpPr/>
          <p:nvPr/>
        </p:nvSpPr>
        <p:spPr>
          <a:xfrm>
            <a:off x="612647" y="3310127"/>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246120"/>
            <a:ext cx="2514600" cy="1188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33375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5</a:t>
            </a:r>
          </a:p>
        </p:txBody>
      </p:sp>
      <p:sp>
        <p:nvSpPr>
          <p:cNvPr id="33" name="TextBox 32"/>
          <p:cNvSpPr txBox="1"/>
          <p:nvPr/>
        </p:nvSpPr>
        <p:spPr>
          <a:xfrm>
            <a:off x="1188719" y="34107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Charge</a:t>
            </a:r>
          </a:p>
        </p:txBody>
      </p:sp>
      <p:sp>
        <p:nvSpPr>
          <p:cNvPr id="34" name="TextBox 33"/>
          <p:cNvSpPr txBox="1"/>
          <p:nvPr/>
        </p:nvSpPr>
        <p:spPr>
          <a:xfrm>
            <a:off x="1188719" y="3794759"/>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budget units</a:t>
            </a:r>
          </a:p>
        </p:txBody>
      </p:sp>
      <p:cxnSp>
        <p:nvCxnSpPr>
          <p:cNvPr id="35" name="Connector 34"/>
          <p:cNvCxnSpPr/>
          <p:nvPr/>
        </p:nvCxnSpPr>
        <p:spPr>
          <a:xfrm>
            <a:off x="3063240" y="3840480"/>
            <a:ext cx="3200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447288" y="3310127"/>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83280" y="3246120"/>
            <a:ext cx="2514600" cy="118872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520440" y="33375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6</a:t>
            </a:r>
          </a:p>
        </p:txBody>
      </p:sp>
      <p:sp>
        <p:nvSpPr>
          <p:cNvPr id="39" name="TextBox 38"/>
          <p:cNvSpPr txBox="1"/>
          <p:nvPr/>
        </p:nvSpPr>
        <p:spPr>
          <a:xfrm>
            <a:off x="4023360" y="34107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Stream</a:t>
            </a:r>
          </a:p>
        </p:txBody>
      </p:sp>
      <p:sp>
        <p:nvSpPr>
          <p:cNvPr id="40" name="TextBox 39"/>
          <p:cNvSpPr txBox="1"/>
          <p:nvPr/>
        </p:nvSpPr>
        <p:spPr>
          <a:xfrm>
            <a:off x="4023360" y="3794759"/>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start → delta → end</a:t>
            </a:r>
          </a:p>
        </p:txBody>
      </p:sp>
      <p:cxnSp>
        <p:nvCxnSpPr>
          <p:cNvPr id="41" name="Connector 40"/>
          <p:cNvCxnSpPr/>
          <p:nvPr/>
        </p:nvCxnSpPr>
        <p:spPr>
          <a:xfrm>
            <a:off x="5897880" y="3840480"/>
            <a:ext cx="3200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281928" y="3310127"/>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246120"/>
            <a:ext cx="2514600" cy="1188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55080" y="33375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7</a:t>
            </a:r>
          </a:p>
        </p:txBody>
      </p:sp>
      <p:sp>
        <p:nvSpPr>
          <p:cNvPr id="45" name="TextBox 44"/>
          <p:cNvSpPr txBox="1"/>
          <p:nvPr/>
        </p:nvSpPr>
        <p:spPr>
          <a:xfrm>
            <a:off x="6858000" y="34107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Save</a:t>
            </a:r>
          </a:p>
        </p:txBody>
      </p:sp>
      <p:sp>
        <p:nvSpPr>
          <p:cNvPr id="46" name="TextBox 45"/>
          <p:cNvSpPr txBox="1"/>
          <p:nvPr/>
        </p:nvSpPr>
        <p:spPr>
          <a:xfrm>
            <a:off x="6858000" y="3794759"/>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reply + completion state</a:t>
            </a:r>
          </a:p>
        </p:txBody>
      </p:sp>
      <p:cxnSp>
        <p:nvCxnSpPr>
          <p:cNvPr id="47" name="Connector 46"/>
          <p:cNvCxnSpPr/>
          <p:nvPr/>
        </p:nvCxnSpPr>
        <p:spPr>
          <a:xfrm>
            <a:off x="8732520" y="3840480"/>
            <a:ext cx="32004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9116568" y="3310127"/>
            <a:ext cx="2514600" cy="1188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52560" y="3246120"/>
            <a:ext cx="2514600" cy="118872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89720" y="3337560"/>
            <a:ext cx="548640" cy="548640"/>
          </a:xfrm>
          <a:prstGeom prst="rect">
            <a:avLst/>
          </a:prstGeom>
          <a:noFill/>
        </p:spPr>
        <p:txBody>
          <a:bodyPr wrap="square" lIns="18288" rIns="18288" tIns="9144" bIns="9144" anchor="t">
            <a:spAutoFit/>
          </a:bodyPr>
          <a:lstStyle/>
          <a:p>
            <a:pPr algn="l">
              <a:lnSpc>
                <a:spcPct val="108000"/>
              </a:lnSpc>
              <a:spcAft>
                <a:spcPts val="400"/>
              </a:spcAft>
            </a:pPr>
            <a:r>
              <a:rPr sz="2600" b="0">
                <a:solidFill>
                  <a:srgbClr val="CC1757"/>
                </a:solidFill>
                <a:latin typeface="Arial Black"/>
              </a:rPr>
              <a:t>8</a:t>
            </a:r>
          </a:p>
        </p:txBody>
      </p:sp>
      <p:sp>
        <p:nvSpPr>
          <p:cNvPr id="51" name="TextBox 50"/>
          <p:cNvSpPr txBox="1"/>
          <p:nvPr/>
        </p:nvSpPr>
        <p:spPr>
          <a:xfrm>
            <a:off x="9692640" y="3410712"/>
            <a:ext cx="1783080" cy="365760"/>
          </a:xfrm>
          <a:prstGeom prst="rect">
            <a:avLst/>
          </a:prstGeom>
          <a:noFill/>
        </p:spPr>
        <p:txBody>
          <a:bodyPr wrap="square" lIns="18288" rIns="18288" tIns="9144" bIns="9144" anchor="t">
            <a:spAutoFit/>
          </a:bodyPr>
          <a:lstStyle/>
          <a:p>
            <a:pPr algn="l">
              <a:lnSpc>
                <a:spcPct val="108000"/>
              </a:lnSpc>
              <a:spcAft>
                <a:spcPts val="400"/>
              </a:spcAft>
            </a:pPr>
            <a:r>
              <a:rPr sz="1550" b="0">
                <a:solidFill>
                  <a:srgbClr val="151714"/>
                </a:solidFill>
                <a:latin typeface="Segoe UI Semibold"/>
              </a:rPr>
              <a:t>Learn</a:t>
            </a:r>
          </a:p>
        </p:txBody>
      </p:sp>
      <p:sp>
        <p:nvSpPr>
          <p:cNvPr id="52" name="TextBox 51"/>
          <p:cNvSpPr txBox="1"/>
          <p:nvPr/>
        </p:nvSpPr>
        <p:spPr>
          <a:xfrm>
            <a:off x="9692640" y="3794759"/>
            <a:ext cx="1783080" cy="54864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extract facts (if on)</a:t>
            </a:r>
          </a:p>
        </p:txBody>
      </p:sp>
      <p:cxnSp>
        <p:nvCxnSpPr>
          <p:cNvPr id="53" name="Connector 52"/>
          <p:cNvCxnSpPr/>
          <p:nvPr/>
        </p:nvCxnSpPr>
        <p:spPr>
          <a:xfrm>
            <a:off x="10881360" y="2834640"/>
            <a:ext cx="0" cy="228600"/>
          </a:xfrm>
          <a:prstGeom prst="line">
            <a:avLst/>
          </a:prstGeom>
          <a:ln w="25400">
            <a:solidFill>
              <a:srgbClr val="15171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48640" y="5029200"/>
            <a:ext cx="11100816" cy="86868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31520" y="5093208"/>
            <a:ext cx="10789920" cy="77724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Segoe UI Semibold"/>
              </a:rPr>
              <a:t>SSE events: </a:t>
            </a:r>
            <a:r>
              <a:rPr sz="1400" b="0">
                <a:solidFill>
                  <a:srgbClr val="151714"/>
                </a:solidFill>
                <a:latin typeface="Consolas"/>
              </a:rPr>
              <a:t>start · delta · end · memory · error</a:t>
            </a:r>
          </a:p>
          <a:p>
            <a:pPr algn="l">
              <a:lnSpc>
                <a:spcPct val="108000"/>
              </a:lnSpc>
              <a:spcAft>
                <a:spcPts val="400"/>
              </a:spcAft>
            </a:pPr>
            <a:r>
              <a:rPr sz="1400" b="0">
                <a:solidFill>
                  <a:srgbClr val="151714"/>
                </a:solidFill>
                <a:latin typeface="Segoe UI Semibold"/>
              </a:rPr>
              <a:t>Watch out: </a:t>
            </a:r>
            <a:r>
              <a:rPr sz="1400" b="0">
                <a:solidFill>
                  <a:srgbClr val="151714"/>
                </a:solidFill>
                <a:latin typeface="Segoe UI"/>
              </a:rPr>
              <a:t>“end” is not “memory saved”. No replay, no idempotency key — reload history after an uncertain stream.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STREAMING COMPLETION STATES AND RETRY</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Every reply records how it ended</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backend/app/llm/openai_compat_provider.py · backend/app/conversations/service.py · docs/launch-fixes.md §2 · production-rehearsal-2026-09-14.json</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10</a:t>
            </a:r>
          </a:p>
        </p:txBody>
      </p:sp>
      <p:sp>
        <p:nvSpPr>
          <p:cNvPr id="7" name="Rectangle 6"/>
          <p:cNvSpPr/>
          <p:nvPr/>
        </p:nvSpPr>
        <p:spPr>
          <a:xfrm>
            <a:off x="612647" y="299008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926080"/>
            <a:ext cx="1920240" cy="10058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51714"/>
                </a:solidFill>
                <a:latin typeface="Segoe UI Semibold"/>
              </a:rPr>
              <a:t>Streaming</a:t>
            </a:r>
          </a:p>
          <a:p>
            <a:pPr algn="ctr"/>
            <a:r>
              <a:rPr sz="1150">
                <a:solidFill>
                  <a:srgbClr val="43483F"/>
                </a:solidFill>
                <a:latin typeface="Segoe UI"/>
              </a:rPr>
              <a:t>text arriving</a:t>
            </a:r>
          </a:p>
        </p:txBody>
      </p:sp>
      <p:sp>
        <p:nvSpPr>
          <p:cNvPr id="9" name="Rectangle 8"/>
          <p:cNvSpPr/>
          <p:nvPr/>
        </p:nvSpPr>
        <p:spPr>
          <a:xfrm>
            <a:off x="3447288" y="1618488"/>
            <a:ext cx="237744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554480"/>
            <a:ext cx="2377440" cy="8686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completed</a:t>
            </a:r>
          </a:p>
          <a:p>
            <a:pPr algn="ctr"/>
            <a:r>
              <a:rPr sz="1150">
                <a:solidFill>
                  <a:srgbClr val="43483F"/>
                </a:solidFill>
                <a:latin typeface="Segoe UI"/>
              </a:rPr>
              <a:t>Normal finish</a:t>
            </a:r>
          </a:p>
        </p:txBody>
      </p:sp>
      <p:cxnSp>
        <p:nvCxnSpPr>
          <p:cNvPr id="11" name="Connector 10"/>
          <p:cNvCxnSpPr/>
          <p:nvPr/>
        </p:nvCxnSpPr>
        <p:spPr>
          <a:xfrm flipV="1">
            <a:off x="2468880" y="1984248"/>
            <a:ext cx="914400" cy="1444752"/>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447288" y="2715768"/>
            <a:ext cx="237744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2651760"/>
            <a:ext cx="2377440" cy="868680"/>
          </a:xfrm>
          <a:prstGeom prst="rect">
            <a:avLst/>
          </a:prstGeom>
          <a:solidFill>
            <a:srgbClr val="FFEBA6"/>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truncated</a:t>
            </a:r>
          </a:p>
          <a:p>
            <a:pPr algn="ctr"/>
            <a:r>
              <a:rPr sz="1150">
                <a:solidFill>
                  <a:srgbClr val="43483F"/>
                </a:solidFill>
                <a:latin typeface="Segoe UI"/>
              </a:rPr>
              <a:t>Cap reached · text kept</a:t>
            </a:r>
          </a:p>
        </p:txBody>
      </p:sp>
      <p:cxnSp>
        <p:nvCxnSpPr>
          <p:cNvPr id="14" name="Connector 13"/>
          <p:cNvCxnSpPr/>
          <p:nvPr/>
        </p:nvCxnSpPr>
        <p:spPr>
          <a:xfrm flipV="1">
            <a:off x="2468880" y="3081528"/>
            <a:ext cx="914400" cy="347472"/>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47288" y="3813048"/>
            <a:ext cx="237744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3749040"/>
            <a:ext cx="2377440" cy="86868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interrupted</a:t>
            </a:r>
          </a:p>
          <a:p>
            <a:pPr algn="ctr"/>
            <a:r>
              <a:rPr sz="1150">
                <a:solidFill>
                  <a:srgbClr val="43483F"/>
                </a:solidFill>
                <a:latin typeface="Segoe UI"/>
              </a:rPr>
              <a:t>Dropped after text · kept</a:t>
            </a:r>
          </a:p>
        </p:txBody>
      </p:sp>
      <p:cxnSp>
        <p:nvCxnSpPr>
          <p:cNvPr id="17" name="Connector 16"/>
          <p:cNvCxnSpPr/>
          <p:nvPr/>
        </p:nvCxnSpPr>
        <p:spPr>
          <a:xfrm>
            <a:off x="2468880" y="3429000"/>
            <a:ext cx="914400" cy="749808"/>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447288" y="4910328"/>
            <a:ext cx="237744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83280" y="4846320"/>
            <a:ext cx="2377440" cy="86868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failed</a:t>
            </a:r>
          </a:p>
          <a:p>
            <a:pPr algn="ctr"/>
            <a:r>
              <a:rPr sz="1150">
                <a:solidFill>
                  <a:srgbClr val="43483F"/>
                </a:solidFill>
                <a:latin typeface="Segoe UI"/>
              </a:rPr>
              <a:t>Nothing usable · placeholder</a:t>
            </a:r>
          </a:p>
        </p:txBody>
      </p:sp>
      <p:cxnSp>
        <p:nvCxnSpPr>
          <p:cNvPr id="20" name="Connector 19"/>
          <p:cNvCxnSpPr/>
          <p:nvPr/>
        </p:nvCxnSpPr>
        <p:spPr>
          <a:xfrm>
            <a:off x="2468880" y="3429000"/>
            <a:ext cx="914400" cy="1847088"/>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739128" y="2715768"/>
            <a:ext cx="214884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75120" y="2651760"/>
            <a:ext cx="2148840" cy="8686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Continue</a:t>
            </a:r>
          </a:p>
          <a:p>
            <a:pPr algn="ctr"/>
            <a:r>
              <a:rPr sz="1150">
                <a:solidFill>
                  <a:srgbClr val="43483F"/>
                </a:solidFill>
                <a:latin typeface="Segoe UI"/>
              </a:rPr>
              <a:t>new user turn · charged</a:t>
            </a:r>
          </a:p>
        </p:txBody>
      </p:sp>
      <p:sp>
        <p:nvSpPr>
          <p:cNvPr id="23" name="Rectangle 22"/>
          <p:cNvSpPr/>
          <p:nvPr/>
        </p:nvSpPr>
        <p:spPr>
          <a:xfrm>
            <a:off x="6739128" y="4361688"/>
            <a:ext cx="214884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4297680"/>
            <a:ext cx="2148840" cy="8686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Try again</a:t>
            </a:r>
          </a:p>
          <a:p>
            <a:pPr algn="ctr"/>
            <a:r>
              <a:rPr sz="1150">
                <a:solidFill>
                  <a:srgbClr val="43483F"/>
                </a:solidFill>
                <a:latin typeface="Segoe UI"/>
              </a:rPr>
              <a:t>regenerate in place</a:t>
            </a:r>
          </a:p>
        </p:txBody>
      </p:sp>
      <p:cxnSp>
        <p:nvCxnSpPr>
          <p:cNvPr id="25" name="Connector 24"/>
          <p:cNvCxnSpPr/>
          <p:nvPr/>
        </p:nvCxnSpPr>
        <p:spPr>
          <a:xfrm>
            <a:off x="5760720" y="3081528"/>
            <a:ext cx="9144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760720" y="4178808"/>
            <a:ext cx="914400" cy="438912"/>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760720" y="4800600"/>
            <a:ext cx="914400" cy="475488"/>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208008" y="1664208"/>
            <a:ext cx="2514600" cy="21945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44000" y="1600200"/>
            <a:ext cx="2514600" cy="21945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144000" y="1600200"/>
            <a:ext cx="251460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272016" y="1655064"/>
            <a:ext cx="2258568" cy="329184"/>
          </a:xfrm>
          <a:prstGeom prst="rect">
            <a:avLst/>
          </a:prstGeom>
          <a:noFill/>
        </p:spPr>
        <p:txBody>
          <a:bodyPr wrap="square" lIns="18288" rIns="18288" tIns="9144" bIns="9144" anchor="ctr">
            <a:spAutoFit/>
          </a:bodyPr>
          <a:lstStyle/>
          <a:p>
            <a:pPr algn="l">
              <a:lnSpc>
                <a:spcPct val="108000"/>
              </a:lnSpc>
              <a:spcAft>
                <a:spcPts val="400"/>
              </a:spcAft>
            </a:pPr>
            <a:r>
              <a:rPr sz="1300" b="0">
                <a:solidFill>
                  <a:srgbClr val="151714"/>
                </a:solidFill>
                <a:latin typeface="Arial Black"/>
              </a:rPr>
              <a:t>Verified</a:t>
            </a:r>
          </a:p>
        </p:txBody>
      </p:sp>
      <p:sp>
        <p:nvSpPr>
          <p:cNvPr id="32" name="TextBox 31"/>
          <p:cNvSpPr txBox="1"/>
          <p:nvPr/>
        </p:nvSpPr>
        <p:spPr>
          <a:xfrm>
            <a:off x="9290304" y="2130552"/>
            <a:ext cx="2221992" cy="157276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250" b="0">
                <a:solidFill>
                  <a:srgbClr val="151714"/>
                </a:solidFill>
                <a:latin typeface="Segoe UI"/>
              </a:rPr>
              <a:t>Local HTTPS, scripted model, 2026-09-14</a:t>
            </a:r>
          </a:p>
          <a:p>
            <a:pPr algn="l" marL="219456" indent="-182880">
              <a:lnSpc>
                <a:spcPct val="108000"/>
              </a:lnSpc>
              <a:spcAft>
                <a:spcPts val="400"/>
              </a:spcAft>
              <a:buFont typeface="Arial"/>
              <a:buChar char="•"/>
            </a:pPr>
            <a:r>
              <a:rPr sz="1250" b="0">
                <a:solidFill>
                  <a:srgbClr val="151714"/>
                </a:solidFill>
                <a:latin typeface="Segoe UI"/>
              </a:rPr>
              <a:t>No duplicate messages on retry</a:t>
            </a:r>
          </a:p>
        </p:txBody>
      </p:sp>
      <p:sp>
        <p:nvSpPr>
          <p:cNvPr id="33" name="Rectangle 32"/>
          <p:cNvSpPr/>
          <p:nvPr/>
        </p:nvSpPr>
        <p:spPr>
          <a:xfrm>
            <a:off x="9208008" y="4087368"/>
            <a:ext cx="2514600" cy="2103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4000" y="4023360"/>
            <a:ext cx="2514600" cy="21031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144000" y="4023360"/>
            <a:ext cx="251460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72016" y="4078224"/>
            <a:ext cx="2258568" cy="329184"/>
          </a:xfrm>
          <a:prstGeom prst="rect">
            <a:avLst/>
          </a:prstGeom>
          <a:noFill/>
        </p:spPr>
        <p:txBody>
          <a:bodyPr wrap="square" lIns="18288" rIns="18288" tIns="9144" bIns="9144" anchor="ctr">
            <a:spAutoFit/>
          </a:bodyPr>
          <a:lstStyle/>
          <a:p>
            <a:pPr algn="l">
              <a:lnSpc>
                <a:spcPct val="108000"/>
              </a:lnSpc>
              <a:spcAft>
                <a:spcPts val="400"/>
              </a:spcAft>
            </a:pPr>
            <a:r>
              <a:rPr sz="1300" b="0">
                <a:solidFill>
                  <a:srgbClr val="151714"/>
                </a:solidFill>
                <a:latin typeface="Arial Black"/>
              </a:rPr>
              <a:t>Not covered</a:t>
            </a:r>
          </a:p>
        </p:txBody>
      </p:sp>
      <p:sp>
        <p:nvSpPr>
          <p:cNvPr id="37" name="TextBox 36"/>
          <p:cNvSpPr txBox="1"/>
          <p:nvPr/>
        </p:nvSpPr>
        <p:spPr>
          <a:xfrm>
            <a:off x="9290304" y="4553712"/>
            <a:ext cx="2221992" cy="148132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250" b="0">
                <a:solidFill>
                  <a:srgbClr val="151714"/>
                </a:solidFill>
                <a:latin typeface="Segoe UI"/>
              </a:rPr>
              <a:t>Multi-worker turns</a:t>
            </a:r>
          </a:p>
          <a:p>
            <a:pPr algn="l" marL="219456" indent="-182880">
              <a:lnSpc>
                <a:spcPct val="108000"/>
              </a:lnSpc>
              <a:spcAft>
                <a:spcPts val="400"/>
              </a:spcAft>
              <a:buFont typeface="Arial"/>
              <a:buChar char="•"/>
            </a:pPr>
            <a:r>
              <a:rPr sz="1250" b="0">
                <a:solidFill>
                  <a:srgbClr val="151714"/>
                </a:solidFill>
                <a:latin typeface="Segoe UI"/>
              </a:rPr>
              <a:t>Stream replay / idempotency</a:t>
            </a:r>
          </a:p>
          <a:p>
            <a:pPr algn="l" marL="219456" indent="-182880">
              <a:lnSpc>
                <a:spcPct val="108000"/>
              </a:lnSpc>
              <a:spcAft>
                <a:spcPts val="400"/>
              </a:spcAft>
              <a:buFont typeface="Arial"/>
              <a:buChar char="•"/>
            </a:pPr>
            <a:r>
              <a:rPr sz="1250" b="0">
                <a:solidFill>
                  <a:srgbClr val="151714"/>
                </a:solidFill>
                <a:latin typeface="Segoe UI"/>
              </a:rPr>
              <a:t>Real network loss on phones</a:t>
            </a:r>
          </a:p>
        </p:txBody>
      </p:sp>
      <p:sp>
        <p:nvSpPr>
          <p:cNvPr id="38" name="TextBox 37"/>
          <p:cNvSpPr txBox="1"/>
          <p:nvPr/>
        </p:nvSpPr>
        <p:spPr>
          <a:xfrm>
            <a:off x="548640" y="5852160"/>
            <a:ext cx="8412480" cy="41148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43483F"/>
                </a:solidFill>
                <a:latin typeface="Segoe UI"/>
              </a:rPr>
              <a:t>Refunds: a provider failure before any text is refunded; partial or cancelled replies stay charged.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AGENT ARCHITECTURE AND MODELS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Agents are configuration, not services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backend/app/agents/&lt;slug&gt;/config.py (read 2026-09-15) · backend/app/api/routes/team.py · docs/quality-remediation-2026-09-14b.json</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11</a:t>
            </a:r>
          </a:p>
        </p:txBody>
      </p:sp>
      <p:graphicFrame>
        <p:nvGraphicFramePr>
          <p:cNvPr id="7" name="Table 6"/>
          <p:cNvGraphicFramePr>
            <a:graphicFrameLocks noGrp="1"/>
          </p:cNvGraphicFramePr>
          <p:nvPr/>
        </p:nvGraphicFramePr>
        <p:xfrm>
          <a:off x="548640" y="1600200"/>
          <a:ext cx="6035037" cy="4325112"/>
        </p:xfrm>
        <a:graphic>
          <a:graphicData uri="http://schemas.openxmlformats.org/drawingml/2006/table">
            <a:tbl>
              <a:tblPr firstRow="1" bandRow="1">
                <a:tableStyleId>{5940675A-B579-460E-94D1-54222C63F5DA}</a:tableStyleId>
              </a:tblPr>
              <a:tblGrid>
                <a:gridCol w="1380898"/>
                <a:gridCol w="1790054"/>
                <a:gridCol w="818310"/>
                <a:gridCol w="1125176"/>
                <a:gridCol w="920599"/>
              </a:tblGrid>
              <a:tr h="393192">
                <a:tc>
                  <a:txBody>
                    <a:bodyPr wrap="square"/>
                    <a:lstStyle/>
                    <a:p>
                      <a:r>
                        <a:rPr sz="1250">
                          <a:solidFill>
                            <a:srgbClr val="151714"/>
                          </a:solidFill>
                          <a:latin typeface="Segoe UI Semibold"/>
                        </a:rPr>
                        <a:t>Agent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Model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Temp</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Output cap</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Prompt v</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393192">
                <a:tc>
                  <a:txBody>
                    <a:bodyPr wrap="square"/>
                    <a:lstStyle/>
                    <a:p>
                      <a:r>
                        <a:rPr sz="1250">
                          <a:solidFill>
                            <a:srgbClr val="151714"/>
                          </a:solidFill>
                          <a:latin typeface="Segoe UI Semibold"/>
                        </a:rPr>
                        <a:t>Modeer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0.55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650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4</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393192">
                <a:tc>
                  <a:txBody>
                    <a:bodyPr wrap="square"/>
                    <a:lstStyle/>
                    <a:p>
                      <a:r>
                        <a:rPr sz="1250">
                          <a:solidFill>
                            <a:srgbClr val="151714"/>
                          </a:solidFill>
                          <a:latin typeface="Segoe UI Semibold"/>
                        </a:rPr>
                        <a:t>Study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800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393192">
                <a:tc>
                  <a:txBody>
                    <a:bodyPr wrap="square"/>
                    <a:lstStyle/>
                    <a:p>
                      <a:r>
                        <a:rPr sz="1250">
                          <a:solidFill>
                            <a:srgbClr val="151714"/>
                          </a:solidFill>
                          <a:latin typeface="Segoe UI Semibold"/>
                        </a:rPr>
                        <a:t>Career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0.55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650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393192">
                <a:tc>
                  <a:txBody>
                    <a:bodyPr wrap="square"/>
                    <a:lstStyle/>
                    <a:p>
                      <a:r>
                        <a:rPr sz="1250">
                          <a:solidFill>
                            <a:srgbClr val="151714"/>
                          </a:solidFill>
                          <a:latin typeface="Segoe UI Semibold"/>
                        </a:rPr>
                        <a:t>Research</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0.4</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800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6</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393192">
                <a:tc>
                  <a:txBody>
                    <a:bodyPr wrap="square"/>
                    <a:lstStyle/>
                    <a:p>
                      <a:r>
                        <a:rPr sz="1250">
                          <a:solidFill>
                            <a:srgbClr val="151714"/>
                          </a:solidFill>
                          <a:latin typeface="Segoe UI Semibold"/>
                        </a:rPr>
                        <a:t>Writing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Semibold"/>
                        </a:rPr>
                        <a:t>qwen3.8-27b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0.3</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1600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393192">
                <a:tc>
                  <a:txBody>
                    <a:bodyPr wrap="square"/>
                    <a:lstStyle/>
                    <a:p>
                      <a:r>
                        <a:rPr sz="1250">
                          <a:solidFill>
                            <a:srgbClr val="151714"/>
                          </a:solidFill>
                          <a:latin typeface="Segoe UI Semibold"/>
                        </a:rPr>
                        <a:t>Travel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0.6</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800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8</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393192">
                <a:tc>
                  <a:txBody>
                    <a:bodyPr wrap="square"/>
                    <a:lstStyle/>
                    <a:p>
                      <a:r>
                        <a:rPr sz="1250">
                          <a:solidFill>
                            <a:srgbClr val="151714"/>
                          </a:solidFill>
                          <a:latin typeface="Segoe UI Semibold"/>
                        </a:rPr>
                        <a:t>Shopping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1100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393192">
                <a:tc>
                  <a:txBody>
                    <a:bodyPr wrap="square"/>
                    <a:lstStyle/>
                    <a:p>
                      <a:r>
                        <a:rPr sz="1250">
                          <a:solidFill>
                            <a:srgbClr val="151714"/>
                          </a:solidFill>
                          <a:latin typeface="Segoe UI Semibold"/>
                        </a:rPr>
                        <a:t>Finance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0.4</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800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4</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393192">
                <a:tc>
                  <a:txBody>
                    <a:bodyPr wrap="square"/>
                    <a:lstStyle/>
                    <a:p>
                      <a:r>
                        <a:rPr sz="1250">
                          <a:solidFill>
                            <a:srgbClr val="151714"/>
                          </a:solidFill>
                          <a:latin typeface="Segoe UI Semibold"/>
                        </a:rPr>
                        <a:t>Fitness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800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6</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393192">
                <a:tc>
                  <a:txBody>
                    <a:bodyPr wrap="square"/>
                    <a:lstStyle/>
                    <a:p>
                      <a:r>
                        <a:rPr sz="1250">
                          <a:solidFill>
                            <a:srgbClr val="151714"/>
                          </a:solidFill>
                          <a:latin typeface="Segoe UI Semibold"/>
                        </a:rPr>
                        <a:t>Email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gpt-oss-120b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0.6</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1000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3</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
        <p:nvSpPr>
          <p:cNvPr id="8" name="Rectangle 7"/>
          <p:cNvSpPr/>
          <p:nvPr/>
        </p:nvSpPr>
        <p:spPr>
          <a:xfrm>
            <a:off x="6967728" y="1664208"/>
            <a:ext cx="475488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03720" y="1600200"/>
            <a:ext cx="4754880" cy="20574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903720" y="1600200"/>
            <a:ext cx="47548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31736" y="1655064"/>
            <a:ext cx="4498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How an agent is built</a:t>
            </a:r>
          </a:p>
        </p:txBody>
      </p:sp>
      <p:sp>
        <p:nvSpPr>
          <p:cNvPr id="12" name="TextBox 11"/>
          <p:cNvSpPr txBox="1"/>
          <p:nvPr/>
        </p:nvSpPr>
        <p:spPr>
          <a:xfrm>
            <a:off x="7050024" y="2130552"/>
            <a:ext cx="4462272" cy="143560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Consolas"/>
              </a:rPr>
              <a:t>config.py</a:t>
            </a:r>
            <a:r>
              <a:rPr sz="1300" b="0">
                <a:solidFill>
                  <a:srgbClr val="151714"/>
                </a:solidFill>
                <a:latin typeface="Segoe UI"/>
              </a:rPr>
              <a:t> — model, caps, framework, safety</a:t>
            </a:r>
          </a:p>
          <a:p>
            <a:pPr algn="l" marL="219456" indent="-182880">
              <a:lnSpc>
                <a:spcPct val="108000"/>
              </a:lnSpc>
              <a:spcAft>
                <a:spcPts val="400"/>
              </a:spcAft>
              <a:buFont typeface="Arial"/>
              <a:buChar char="•"/>
            </a:pPr>
            <a:r>
              <a:rPr sz="1300" b="0">
                <a:solidFill>
                  <a:srgbClr val="151714"/>
                </a:solidFill>
                <a:latin typeface="Consolas"/>
              </a:rPr>
              <a:t>prompt.md</a:t>
            </a:r>
            <a:r>
              <a:rPr sz="1300" b="0">
                <a:solidFill>
                  <a:srgbClr val="151714"/>
                </a:solidFill>
                <a:latin typeface="Segoe UI"/>
              </a:rPr>
              <a:t> — role instructions</a:t>
            </a:r>
          </a:p>
          <a:p>
            <a:pPr algn="l" marL="219456" indent="-182880">
              <a:lnSpc>
                <a:spcPct val="108000"/>
              </a:lnSpc>
              <a:spcAft>
                <a:spcPts val="400"/>
              </a:spcAft>
              <a:buFont typeface="Arial"/>
              <a:buChar char="•"/>
            </a:pPr>
            <a:r>
              <a:rPr sz="1300" b="0">
                <a:solidFill>
                  <a:srgbClr val="151714"/>
                </a:solidFill>
                <a:latin typeface="Consolas"/>
              </a:rPr>
              <a:t>evals.json</a:t>
            </a:r>
            <a:r>
              <a:rPr sz="1300" b="0">
                <a:solidFill>
                  <a:srgbClr val="151714"/>
                </a:solidFill>
                <a:latin typeface="Segoe UI"/>
              </a:rPr>
              <a:t> — quality cases</a:t>
            </a:r>
          </a:p>
          <a:p>
            <a:pPr algn="l" marL="219456" indent="-182880">
              <a:lnSpc>
                <a:spcPct val="108000"/>
              </a:lnSpc>
              <a:spcAft>
                <a:spcPts val="400"/>
              </a:spcAft>
              <a:buFont typeface="Arial"/>
              <a:buChar char="•"/>
            </a:pPr>
            <a:r>
              <a:rPr sz="1300" b="0">
                <a:solidFill>
                  <a:srgbClr val="151714"/>
                </a:solidFill>
                <a:latin typeface="Segoe UI"/>
              </a:rPr>
              <a:t>No automatic router: the person picks who to talk to.</a:t>
            </a:r>
          </a:p>
        </p:txBody>
      </p:sp>
      <p:sp>
        <p:nvSpPr>
          <p:cNvPr id="13" name="Rectangle 12"/>
          <p:cNvSpPr/>
          <p:nvPr/>
        </p:nvSpPr>
        <p:spPr>
          <a:xfrm>
            <a:off x="6967728" y="3950208"/>
            <a:ext cx="4754880" cy="2240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3886200"/>
            <a:ext cx="4754880" cy="2240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903720" y="3886200"/>
            <a:ext cx="475488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31736" y="3941063"/>
            <a:ext cx="4498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Ask My Team</a:t>
            </a:r>
          </a:p>
        </p:txBody>
      </p:sp>
      <p:sp>
        <p:nvSpPr>
          <p:cNvPr id="17" name="TextBox 16"/>
          <p:cNvSpPr txBox="1"/>
          <p:nvPr/>
        </p:nvSpPr>
        <p:spPr>
          <a:xfrm>
            <a:off x="7050024" y="4416552"/>
            <a:ext cx="4462272" cy="1618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Off by default (TEAM_ENABLED=false); no screen calls it.</a:t>
            </a:r>
          </a:p>
          <a:p>
            <a:pPr algn="l" marL="219456" indent="-182880">
              <a:lnSpc>
                <a:spcPct val="108000"/>
              </a:lnSpc>
              <a:spcAft>
                <a:spcPts val="400"/>
              </a:spcAft>
              <a:buFont typeface="Arial"/>
              <a:buChar char="•"/>
            </a:pPr>
            <a:r>
              <a:rPr sz="1300" b="0">
                <a:solidFill>
                  <a:srgbClr val="151714"/>
                </a:solidFill>
                <a:latin typeface="Segoe UI"/>
              </a:rPr>
              <a:t>If on: up to 5 specialists, shared context only, no learning, then Modeer synthesises — up to 6 model calls.</a:t>
            </a:r>
          </a:p>
        </p:txBody>
      </p:sp>
      <p:sp>
        <p:nvSpPr>
          <p:cNvPr id="18" name="Rectangle 17"/>
          <p:cNvSpPr/>
          <p:nvPr/>
        </p:nvSpPr>
        <p:spPr>
          <a:xfrm>
            <a:off x="9692640" y="3959352"/>
            <a:ext cx="1828800" cy="274320"/>
          </a:xfrm>
          <a:prstGeom prst="rect">
            <a:avLst/>
          </a:prstGeom>
          <a:solidFill>
            <a:srgbClr val="FFDA4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IMPLEMENTED ·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CONTEXT CONSTRUCTION AND MEMORY SCOPE</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Who can see which fact</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backend/app/agents/context.py · backend/app/memory/* · backend/tests/test_prompt_isolation.py · docs/PROJECT-REPORT.md §5–6</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12</a:t>
            </a:r>
          </a:p>
        </p:txBody>
      </p:sp>
      <p:sp>
        <p:nvSpPr>
          <p:cNvPr id="7" name="Rectangle 6"/>
          <p:cNvSpPr/>
          <p:nvPr/>
        </p:nvSpPr>
        <p:spPr>
          <a:xfrm>
            <a:off x="4544568" y="1709928"/>
            <a:ext cx="310896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0560" y="1645920"/>
            <a:ext cx="3108960" cy="91440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Person's account</a:t>
            </a:r>
          </a:p>
          <a:p>
            <a:pPr algn="ctr"/>
            <a:r>
              <a:rPr sz="1150">
                <a:solidFill>
                  <a:srgbClr val="43483F"/>
                </a:solidFill>
                <a:latin typeface="Segoe UI"/>
              </a:rPr>
              <a:t>never shared across accounts</a:t>
            </a:r>
          </a:p>
        </p:txBody>
      </p:sp>
      <p:sp>
        <p:nvSpPr>
          <p:cNvPr id="9" name="Rectangle 8"/>
          <p:cNvSpPr/>
          <p:nvPr/>
        </p:nvSpPr>
        <p:spPr>
          <a:xfrm>
            <a:off x="612647" y="3127248"/>
            <a:ext cx="338328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063240"/>
            <a:ext cx="338328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Shared memory</a:t>
            </a:r>
          </a:p>
          <a:p>
            <a:pPr algn="ctr"/>
            <a:r>
              <a:rPr sz="1150">
                <a:solidFill>
                  <a:srgbClr val="43483F"/>
                </a:solidFill>
                <a:latin typeface="Segoe UI"/>
              </a:rPr>
              <a:t>Every specialist reads it, by category filter</a:t>
            </a:r>
          </a:p>
        </p:txBody>
      </p:sp>
      <p:sp>
        <p:nvSpPr>
          <p:cNvPr id="11" name="Rectangle 10"/>
          <p:cNvSpPr/>
          <p:nvPr/>
        </p:nvSpPr>
        <p:spPr>
          <a:xfrm>
            <a:off x="4407408" y="3127248"/>
            <a:ext cx="338328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3063240"/>
            <a:ext cx="3383280" cy="114300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Private notes</a:t>
            </a:r>
          </a:p>
          <a:p>
            <a:pPr algn="ctr"/>
            <a:r>
              <a:rPr sz="1150">
                <a:solidFill>
                  <a:srgbClr val="43483F"/>
                </a:solidFill>
                <a:latin typeface="Segoe UI"/>
              </a:rPr>
              <a:t>One specialist only · never in synthesis</a:t>
            </a:r>
          </a:p>
        </p:txBody>
      </p:sp>
      <p:sp>
        <p:nvSpPr>
          <p:cNvPr id="13" name="Rectangle 12"/>
          <p:cNvSpPr/>
          <p:nvPr/>
        </p:nvSpPr>
        <p:spPr>
          <a:xfrm>
            <a:off x="8202168" y="3127248"/>
            <a:ext cx="3520440" cy="1143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3063240"/>
            <a:ext cx="3520440" cy="1143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Goals + history</a:t>
            </a:r>
          </a:p>
          <a:p>
            <a:pPr algn="ctr"/>
            <a:r>
              <a:rPr sz="1150">
                <a:solidFill>
                  <a:srgbClr val="43483F"/>
                </a:solidFill>
                <a:latin typeface="Segoe UI"/>
              </a:rPr>
              <a:t>5 active goals · 20 turns of this chat</a:t>
            </a:r>
          </a:p>
        </p:txBody>
      </p:sp>
      <p:cxnSp>
        <p:nvCxnSpPr>
          <p:cNvPr id="15" name="Connector 14"/>
          <p:cNvCxnSpPr/>
          <p:nvPr/>
        </p:nvCxnSpPr>
        <p:spPr>
          <a:xfrm flipH="1">
            <a:off x="2240280" y="2560320"/>
            <a:ext cx="3794760" cy="502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35040" y="2560320"/>
            <a:ext cx="0" cy="502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35040" y="2560320"/>
            <a:ext cx="3840480" cy="502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990088" y="4773168"/>
            <a:ext cx="6309360" cy="868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6080" y="4709160"/>
            <a:ext cx="6309360" cy="86868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Context packet for one specialist's reply</a:t>
            </a:r>
          </a:p>
          <a:p>
            <a:pPr algn="ctr"/>
            <a:r>
              <a:rPr sz="1200">
                <a:solidFill>
                  <a:srgbClr val="43483F"/>
                </a:solidFill>
                <a:latin typeface="Segoe UI"/>
              </a:rPr>
              <a:t>each block capped at 6,000 characters · no vector search</a:t>
            </a:r>
          </a:p>
        </p:txBody>
      </p:sp>
      <p:cxnSp>
        <p:nvCxnSpPr>
          <p:cNvPr id="20" name="Connector 19"/>
          <p:cNvCxnSpPr/>
          <p:nvPr/>
        </p:nvCxnSpPr>
        <p:spPr>
          <a:xfrm>
            <a:off x="2240280" y="4206240"/>
            <a:ext cx="3840480" cy="502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35040" y="4206240"/>
            <a:ext cx="45720" cy="502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080760" y="4206240"/>
            <a:ext cx="3794760" cy="50292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5715000"/>
            <a:ext cx="11064240" cy="50292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151714"/>
                </a:solidFill>
                <a:latin typeface="Segoe UI Semibold"/>
              </a:rPr>
              <a:t>Tested at the provider's input </a:t>
            </a:r>
            <a:r>
              <a:rPr sz="1300" b="0">
                <a:solidFill>
                  <a:srgbClr val="151714"/>
                </a:solidFill>
                <a:latin typeface="Segoe UI"/>
              </a:rPr>
              <a:t>with positive controls. Sensitive-fact filtering is best effort; the Account switch stops new learning, not existing context.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DATA OWNERSHIP, LIFECYCLE AND MIGRATIONS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Ten tables, one owner per row</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backend/app/db/models.py · backend/migrations/versions/0001–0004 · docs/production-verification-2026-09-14.json · docs/PROJECT-REPORT.md §6</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13</a:t>
            </a:r>
          </a:p>
        </p:txBody>
      </p:sp>
      <p:sp>
        <p:nvSpPr>
          <p:cNvPr id="7" name="Rectangle 6"/>
          <p:cNvSpPr/>
          <p:nvPr/>
        </p:nvSpPr>
        <p:spPr>
          <a:xfrm>
            <a:off x="612647" y="1709928"/>
            <a:ext cx="2103120" cy="2331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2103120" cy="233172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37360"/>
            <a:ext cx="1828800" cy="36576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Account</a:t>
            </a:r>
          </a:p>
        </p:txBody>
      </p:sp>
      <p:sp>
        <p:nvSpPr>
          <p:cNvPr id="10" name="TextBox 9"/>
          <p:cNvSpPr txBox="1"/>
          <p:nvPr/>
        </p:nvSpPr>
        <p:spPr>
          <a:xfrm>
            <a:off x="685800" y="2194560"/>
            <a:ext cx="1874519" cy="1737360"/>
          </a:xfrm>
          <a:prstGeom prst="rect">
            <a:avLst/>
          </a:prstGeom>
          <a:noFill/>
        </p:spPr>
        <p:txBody>
          <a:bodyPr wrap="square" lIns="18288" rIns="18288" tIns="9144" bIns="9144" anchor="t">
            <a:spAutoFit/>
          </a:bodyPr>
          <a:lstStyle/>
          <a:p>
            <a:pPr algn="l">
              <a:lnSpc>
                <a:spcPct val="108000"/>
              </a:lnSpc>
              <a:spcAft>
                <a:spcPts val="300"/>
              </a:spcAft>
            </a:pPr>
            <a:r>
              <a:rPr sz="1300" b="0">
                <a:solidFill>
                  <a:srgbClr val="151714"/>
                </a:solidFill>
                <a:latin typeface="Consolas"/>
              </a:rPr>
              <a:t>users</a:t>
            </a:r>
          </a:p>
          <a:p>
            <a:pPr algn="l">
              <a:lnSpc>
                <a:spcPct val="108000"/>
              </a:lnSpc>
              <a:spcAft>
                <a:spcPts val="300"/>
              </a:spcAft>
            </a:pPr>
            <a:r>
              <a:rPr sz="1300" b="0">
                <a:solidFill>
                  <a:srgbClr val="151714"/>
                </a:solidFill>
                <a:latin typeface="Consolas"/>
              </a:rPr>
              <a:t>recovery_codes</a:t>
            </a:r>
          </a:p>
          <a:p>
            <a:pPr algn="l">
              <a:lnSpc>
                <a:spcPct val="108000"/>
              </a:lnSpc>
              <a:spcAft>
                <a:spcPts val="300"/>
              </a:spcAft>
            </a:pPr>
            <a:r>
              <a:rPr sz="1300" b="0">
                <a:solidFill>
                  <a:srgbClr val="151714"/>
                </a:solidFill>
                <a:latin typeface="Consolas"/>
              </a:rPr>
              <a:t>usage_buckets</a:t>
            </a:r>
          </a:p>
        </p:txBody>
      </p:sp>
      <p:sp>
        <p:nvSpPr>
          <p:cNvPr id="11" name="Rectangle 10"/>
          <p:cNvSpPr/>
          <p:nvPr/>
        </p:nvSpPr>
        <p:spPr>
          <a:xfrm>
            <a:off x="2944368" y="1709928"/>
            <a:ext cx="2103120" cy="2331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80360" y="1645920"/>
            <a:ext cx="2103120" cy="23317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17520" y="1737360"/>
            <a:ext cx="1828800" cy="36576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Conversation</a:t>
            </a:r>
          </a:p>
        </p:txBody>
      </p:sp>
      <p:sp>
        <p:nvSpPr>
          <p:cNvPr id="14" name="TextBox 13"/>
          <p:cNvSpPr txBox="1"/>
          <p:nvPr/>
        </p:nvSpPr>
        <p:spPr>
          <a:xfrm>
            <a:off x="3017520" y="2194560"/>
            <a:ext cx="1874519" cy="1737360"/>
          </a:xfrm>
          <a:prstGeom prst="rect">
            <a:avLst/>
          </a:prstGeom>
          <a:noFill/>
        </p:spPr>
        <p:txBody>
          <a:bodyPr wrap="square" lIns="18288" rIns="18288" tIns="9144" bIns="9144" anchor="t">
            <a:spAutoFit/>
          </a:bodyPr>
          <a:lstStyle/>
          <a:p>
            <a:pPr algn="l">
              <a:lnSpc>
                <a:spcPct val="108000"/>
              </a:lnSpc>
              <a:spcAft>
                <a:spcPts val="300"/>
              </a:spcAft>
            </a:pPr>
            <a:r>
              <a:rPr sz="1300" b="0">
                <a:solidFill>
                  <a:srgbClr val="151714"/>
                </a:solidFill>
                <a:latin typeface="Consolas"/>
              </a:rPr>
              <a:t>conversations</a:t>
            </a:r>
          </a:p>
          <a:p>
            <a:pPr algn="l">
              <a:lnSpc>
                <a:spcPct val="108000"/>
              </a:lnSpc>
              <a:spcAft>
                <a:spcPts val="300"/>
              </a:spcAft>
            </a:pPr>
            <a:r>
              <a:rPr sz="1300" b="0">
                <a:solidFill>
                  <a:srgbClr val="151714"/>
                </a:solidFill>
                <a:latin typeface="Consolas"/>
              </a:rPr>
              <a:t>messages</a:t>
            </a:r>
          </a:p>
          <a:p>
            <a:pPr algn="l">
              <a:lnSpc>
                <a:spcPct val="108000"/>
              </a:lnSpc>
              <a:spcAft>
                <a:spcPts val="300"/>
              </a:spcAft>
            </a:pPr>
            <a:r>
              <a:rPr sz="1300" b="0">
                <a:solidFill>
                  <a:srgbClr val="151714"/>
                </a:solidFill>
                <a:latin typeface="Consolas"/>
              </a:rPr>
              <a:t>agents</a:t>
            </a:r>
          </a:p>
        </p:txBody>
      </p:sp>
      <p:sp>
        <p:nvSpPr>
          <p:cNvPr id="15" name="Rectangle 14"/>
          <p:cNvSpPr/>
          <p:nvPr/>
        </p:nvSpPr>
        <p:spPr>
          <a:xfrm>
            <a:off x="5276088" y="1709928"/>
            <a:ext cx="2103120" cy="23317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79" y="1645920"/>
            <a:ext cx="2103120" cy="233172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49240" y="1737360"/>
            <a:ext cx="1828800" cy="365760"/>
          </a:xfrm>
          <a:prstGeom prst="rect">
            <a:avLst/>
          </a:prstGeom>
          <a:noFill/>
        </p:spPr>
        <p:txBody>
          <a:bodyPr wrap="square" lIns="18288" rIns="18288" tIns="9144" bIns="9144" anchor="t">
            <a:spAutoFit/>
          </a:bodyPr>
          <a:lstStyle/>
          <a:p>
            <a:pPr algn="l">
              <a:lnSpc>
                <a:spcPct val="108000"/>
              </a:lnSpc>
              <a:spcAft>
                <a:spcPts val="400"/>
              </a:spcAft>
            </a:pPr>
            <a:r>
              <a:rPr sz="1400" b="0">
                <a:solidFill>
                  <a:srgbClr val="151714"/>
                </a:solidFill>
                <a:latin typeface="Arial Black"/>
              </a:rPr>
              <a:t>Personal context</a:t>
            </a:r>
          </a:p>
        </p:txBody>
      </p:sp>
      <p:sp>
        <p:nvSpPr>
          <p:cNvPr id="18" name="TextBox 17"/>
          <p:cNvSpPr txBox="1"/>
          <p:nvPr/>
        </p:nvSpPr>
        <p:spPr>
          <a:xfrm>
            <a:off x="5349240" y="2194560"/>
            <a:ext cx="1874519" cy="1737360"/>
          </a:xfrm>
          <a:prstGeom prst="rect">
            <a:avLst/>
          </a:prstGeom>
          <a:noFill/>
        </p:spPr>
        <p:txBody>
          <a:bodyPr wrap="square" lIns="18288" rIns="18288" tIns="9144" bIns="9144" anchor="t">
            <a:spAutoFit/>
          </a:bodyPr>
          <a:lstStyle/>
          <a:p>
            <a:pPr algn="l">
              <a:lnSpc>
                <a:spcPct val="108000"/>
              </a:lnSpc>
              <a:spcAft>
                <a:spcPts val="300"/>
              </a:spcAft>
            </a:pPr>
            <a:r>
              <a:rPr sz="1300" b="0">
                <a:solidFill>
                  <a:srgbClr val="151714"/>
                </a:solidFill>
                <a:latin typeface="Consolas"/>
              </a:rPr>
              <a:t>shared_memories</a:t>
            </a:r>
          </a:p>
          <a:p>
            <a:pPr algn="l">
              <a:lnSpc>
                <a:spcPct val="108000"/>
              </a:lnSpc>
              <a:spcAft>
                <a:spcPts val="300"/>
              </a:spcAft>
            </a:pPr>
            <a:r>
              <a:rPr sz="1300" b="0">
                <a:solidFill>
                  <a:srgbClr val="151714"/>
                </a:solidFill>
                <a:latin typeface="Consolas"/>
              </a:rPr>
              <a:t>agent_memories</a:t>
            </a:r>
          </a:p>
          <a:p>
            <a:pPr algn="l">
              <a:lnSpc>
                <a:spcPct val="108000"/>
              </a:lnSpc>
              <a:spcAft>
                <a:spcPts val="300"/>
              </a:spcAft>
            </a:pPr>
            <a:r>
              <a:rPr sz="1300" b="0">
                <a:solidFill>
                  <a:srgbClr val="151714"/>
                </a:solidFill>
                <a:latin typeface="Consolas"/>
              </a:rPr>
              <a:t>goals</a:t>
            </a:r>
          </a:p>
          <a:p>
            <a:pPr algn="l">
              <a:lnSpc>
                <a:spcPct val="108000"/>
              </a:lnSpc>
              <a:spcAft>
                <a:spcPts val="300"/>
              </a:spcAft>
            </a:pPr>
            <a:r>
              <a:rPr sz="1300" b="0">
                <a:solidFill>
                  <a:srgbClr val="151714"/>
                </a:solidFill>
                <a:latin typeface="Consolas"/>
              </a:rPr>
              <a:t>briefings</a:t>
            </a:r>
          </a:p>
        </p:txBody>
      </p:sp>
      <p:sp>
        <p:nvSpPr>
          <p:cNvPr id="19" name="Rectangle 18"/>
          <p:cNvSpPr/>
          <p:nvPr/>
        </p:nvSpPr>
        <p:spPr>
          <a:xfrm>
            <a:off x="7744968" y="1709928"/>
            <a:ext cx="1965960" cy="71323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1645920"/>
            <a:ext cx="1965960" cy="71323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Learn</a:t>
            </a:r>
          </a:p>
          <a:p>
            <a:pPr algn="ctr"/>
            <a:r>
              <a:rPr sz="1100">
                <a:solidFill>
                  <a:srgbClr val="43483F"/>
                </a:solidFill>
                <a:latin typeface="Segoe UI"/>
              </a:rPr>
              <a:t>extract · validate</a:t>
            </a:r>
          </a:p>
        </p:txBody>
      </p:sp>
      <p:cxnSp>
        <p:nvCxnSpPr>
          <p:cNvPr id="21" name="Connector 20"/>
          <p:cNvCxnSpPr/>
          <p:nvPr/>
        </p:nvCxnSpPr>
        <p:spPr>
          <a:xfrm>
            <a:off x="8659368" y="2359152"/>
            <a:ext cx="0" cy="18288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744968" y="2606040"/>
            <a:ext cx="1965960" cy="71323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2542032"/>
            <a:ext cx="1965960" cy="71323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Store</a:t>
            </a:r>
          </a:p>
          <a:p>
            <a:pPr algn="ctr"/>
            <a:r>
              <a:rPr sz="1100">
                <a:solidFill>
                  <a:srgbClr val="43483F"/>
                </a:solidFill>
                <a:latin typeface="Segoe UI"/>
              </a:rPr>
              <a:t>user edits protected</a:t>
            </a:r>
          </a:p>
        </p:txBody>
      </p:sp>
      <p:cxnSp>
        <p:nvCxnSpPr>
          <p:cNvPr id="24" name="Connector 23"/>
          <p:cNvCxnSpPr/>
          <p:nvPr/>
        </p:nvCxnSpPr>
        <p:spPr>
          <a:xfrm>
            <a:off x="8659368" y="3255264"/>
            <a:ext cx="0" cy="18288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744968" y="3502151"/>
            <a:ext cx="1965960" cy="71323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60" y="3438144"/>
            <a:ext cx="1965960" cy="71323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Export</a:t>
            </a:r>
          </a:p>
          <a:p>
            <a:pPr algn="ctr"/>
            <a:r>
              <a:rPr sz="1100">
                <a:solidFill>
                  <a:srgbClr val="43483F"/>
                </a:solidFill>
                <a:latin typeface="Segoe UI"/>
              </a:rPr>
              <a:t>JSON, no secrets</a:t>
            </a:r>
          </a:p>
        </p:txBody>
      </p:sp>
      <p:cxnSp>
        <p:nvCxnSpPr>
          <p:cNvPr id="27" name="Connector 26"/>
          <p:cNvCxnSpPr/>
          <p:nvPr/>
        </p:nvCxnSpPr>
        <p:spPr>
          <a:xfrm>
            <a:off x="8659368" y="4151376"/>
            <a:ext cx="0" cy="18288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744968" y="4398264"/>
            <a:ext cx="1965960" cy="71323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0" y="4334256"/>
            <a:ext cx="1965960" cy="713232"/>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Delete</a:t>
            </a:r>
          </a:p>
          <a:p>
            <a:pPr algn="ctr"/>
            <a:r>
              <a:rPr sz="1100">
                <a:solidFill>
                  <a:srgbClr val="43483F"/>
                </a:solidFill>
                <a:latin typeface="Segoe UI"/>
              </a:rPr>
              <a:t>cascade · clears session</a:t>
            </a:r>
          </a:p>
        </p:txBody>
      </p:sp>
      <p:cxnSp>
        <p:nvCxnSpPr>
          <p:cNvPr id="30" name="Connector 29"/>
          <p:cNvCxnSpPr/>
          <p:nvPr/>
        </p:nvCxnSpPr>
        <p:spPr>
          <a:xfrm>
            <a:off x="8659368" y="5047488"/>
            <a:ext cx="0" cy="18288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44968" y="5294376"/>
            <a:ext cx="1965960" cy="713232"/>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80960" y="5230368"/>
            <a:ext cx="1965960" cy="713232"/>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51714"/>
                </a:solidFill>
                <a:latin typeface="Segoe UI Semibold"/>
              </a:rPr>
              <a:t>Backups</a:t>
            </a:r>
          </a:p>
          <a:p>
            <a:pPr algn="ctr"/>
            <a:r>
              <a:rPr sz="1100">
                <a:solidFill>
                  <a:srgbClr val="43483F"/>
                </a:solidFill>
                <a:latin typeface="Segoe UI"/>
              </a:rPr>
              <a:t>not erased by deletion</a:t>
            </a:r>
          </a:p>
        </p:txBody>
      </p:sp>
      <p:sp>
        <p:nvSpPr>
          <p:cNvPr id="33" name="TextBox 32"/>
          <p:cNvSpPr txBox="1"/>
          <p:nvPr/>
        </p:nvSpPr>
        <p:spPr>
          <a:xfrm>
            <a:off x="9875520" y="1691640"/>
            <a:ext cx="1783080" cy="4206240"/>
          </a:xfrm>
          <a:prstGeom prst="rect">
            <a:avLst/>
          </a:prstGeom>
          <a:noFill/>
        </p:spPr>
        <p:txBody>
          <a:bodyPr wrap="square" lIns="18288" rIns="18288" tIns="9144" bIns="9144" anchor="t">
            <a:spAutoFit/>
          </a:bodyPr>
          <a:lstStyle/>
          <a:p>
            <a:pPr algn="l">
              <a:lnSpc>
                <a:spcPct val="108000"/>
              </a:lnSpc>
              <a:spcAft>
                <a:spcPts val="600"/>
              </a:spcAft>
            </a:pPr>
            <a:r>
              <a:rPr sz="1250" b="0">
                <a:solidFill>
                  <a:srgbClr val="151714"/>
                </a:solidFill>
                <a:latin typeface="Segoe UI"/>
              </a:rPr>
              <a:t>Migrations</a:t>
            </a:r>
          </a:p>
          <a:p>
            <a:pPr algn="l">
              <a:lnSpc>
                <a:spcPct val="108000"/>
              </a:lnSpc>
              <a:spcAft>
                <a:spcPts val="600"/>
              </a:spcAft>
            </a:pPr>
            <a:r>
              <a:rPr sz="1250" b="0">
                <a:solidFill>
                  <a:srgbClr val="151714"/>
                </a:solidFill>
                <a:latin typeface="Segoe UI"/>
              </a:rPr>
              <a:t>0001 base tables</a:t>
            </a:r>
          </a:p>
          <a:p>
            <a:pPr algn="l">
              <a:lnSpc>
                <a:spcPct val="108000"/>
              </a:lnSpc>
              <a:spcAft>
                <a:spcPts val="600"/>
              </a:spcAft>
            </a:pPr>
            <a:r>
              <a:rPr sz="1250" b="0">
                <a:solidFill>
                  <a:srgbClr val="151714"/>
                </a:solidFill>
                <a:latin typeface="Segoe UI"/>
              </a:rPr>
              <a:t>0002 usage buckets</a:t>
            </a:r>
          </a:p>
          <a:p>
            <a:pPr algn="l">
              <a:lnSpc>
                <a:spcPct val="108000"/>
              </a:lnSpc>
              <a:spcAft>
                <a:spcPts val="600"/>
              </a:spcAft>
            </a:pPr>
            <a:r>
              <a:rPr sz="1250" b="0">
                <a:solidFill>
                  <a:srgbClr val="151714"/>
                </a:solidFill>
                <a:latin typeface="Segoe UI"/>
              </a:rPr>
              <a:t>0003 session epoch</a:t>
            </a:r>
          </a:p>
          <a:p>
            <a:pPr algn="l">
              <a:lnSpc>
                <a:spcPct val="108000"/>
              </a:lnSpc>
              <a:spcAft>
                <a:spcPts val="600"/>
              </a:spcAft>
            </a:pPr>
            <a:r>
              <a:rPr sz="1250" b="0">
                <a:solidFill>
                  <a:srgbClr val="151714"/>
                </a:solidFill>
                <a:latin typeface="Segoe UI"/>
              </a:rPr>
              <a:t>0004 passwords, memory switch, recovery codes</a:t>
            </a:r>
          </a:p>
        </p:txBody>
      </p:sp>
      <p:sp>
        <p:nvSpPr>
          <p:cNvPr id="34" name="Rectangle 33"/>
          <p:cNvSpPr/>
          <p:nvPr/>
        </p:nvSpPr>
        <p:spPr>
          <a:xfrm>
            <a:off x="612647" y="4315968"/>
            <a:ext cx="6812280" cy="1874519"/>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51960"/>
            <a:ext cx="6812280" cy="1874519"/>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48640" y="4251960"/>
            <a:ext cx="68122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76656" y="4306824"/>
            <a:ext cx="6556248" cy="329184"/>
          </a:xfrm>
          <a:prstGeom prst="rect">
            <a:avLst/>
          </a:prstGeom>
          <a:noFill/>
        </p:spPr>
        <p:txBody>
          <a:bodyPr wrap="square" lIns="18288" rIns="18288" tIns="9144" bIns="9144" anchor="ctr">
            <a:spAutoFit/>
          </a:bodyPr>
          <a:lstStyle/>
          <a:p>
            <a:pPr algn="l">
              <a:lnSpc>
                <a:spcPct val="108000"/>
              </a:lnSpc>
              <a:spcAft>
                <a:spcPts val="400"/>
              </a:spcAft>
            </a:pPr>
            <a:r>
              <a:rPr sz="1300" b="0">
                <a:solidFill>
                  <a:srgbClr val="151714"/>
                </a:solidFill>
                <a:latin typeface="Arial Black"/>
              </a:rPr>
              <a:t>Verified on disposable PostgreSQL 16 · 2026-09-14</a:t>
            </a:r>
          </a:p>
        </p:txBody>
      </p:sp>
      <p:sp>
        <p:nvSpPr>
          <p:cNvPr id="38" name="TextBox 37"/>
          <p:cNvSpPr txBox="1"/>
          <p:nvPr/>
        </p:nvSpPr>
        <p:spPr>
          <a:xfrm>
            <a:off x="694944" y="4782312"/>
            <a:ext cx="6519672" cy="125272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Empty → 0004 and 0004 → 0003 → 0004 passed; a sentinel user survived.</a:t>
            </a:r>
          </a:p>
          <a:p>
            <a:pPr algn="l" marL="219456" indent="-182880">
              <a:lnSpc>
                <a:spcPct val="108000"/>
              </a:lnSpc>
              <a:spcAft>
                <a:spcPts val="400"/>
              </a:spcAft>
              <a:buFont typeface="Arial"/>
              <a:buChar char="•"/>
            </a:pPr>
            <a:r>
              <a:rPr sz="1300" b="0">
                <a:solidFill>
                  <a:srgbClr val="CC1757"/>
                </a:solidFill>
                <a:latin typeface="Segoe UI Semibold"/>
              </a:rPr>
              <a:t>Downgrade deletes password and recovery data.</a:t>
            </a:r>
            <a:r>
              <a:rPr sz="1300" b="0">
                <a:solidFill>
                  <a:srgbClr val="151714"/>
                </a:solidFill>
                <a:latin typeface="Segoe UI"/>
              </a:rPr>
              <a:t> Roll back with a tested backup.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AUTHENTICATION, AUTHORIZATION AND QUOTAS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Revocable sessions, atomic credential changes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backend/app/core/auth.py · passwords.py · usage.py · api/routes/auth.py · docs/launch-rehearsal-2026-09-14.md · docs/usage-limits.md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14</a:t>
            </a:r>
          </a:p>
        </p:txBody>
      </p:sp>
      <p:sp>
        <p:nvSpPr>
          <p:cNvPr id="7" name="Rectangle 6"/>
          <p:cNvSpPr/>
          <p:nvPr/>
        </p:nvSpPr>
        <p:spPr>
          <a:xfrm>
            <a:off x="612647" y="1664208"/>
            <a:ext cx="3657600" cy="2148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657600" cy="2148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365760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340156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Session</a:t>
            </a:r>
          </a:p>
        </p:txBody>
      </p:sp>
      <p:sp>
        <p:nvSpPr>
          <p:cNvPr id="11" name="TextBox 10"/>
          <p:cNvSpPr txBox="1"/>
          <p:nvPr/>
        </p:nvSpPr>
        <p:spPr>
          <a:xfrm>
            <a:off x="694944" y="2130552"/>
            <a:ext cx="3364992" cy="1527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Signed cookie, HttpOnly, SameSite=Strict, Secure</a:t>
            </a:r>
          </a:p>
          <a:p>
            <a:pPr algn="l" marL="219456" indent="-182880">
              <a:lnSpc>
                <a:spcPct val="108000"/>
              </a:lnSpc>
              <a:spcAft>
                <a:spcPts val="400"/>
              </a:spcAft>
              <a:buFont typeface="Arial"/>
              <a:buChar char="•"/>
            </a:pPr>
            <a:r>
              <a:rPr sz="1300" b="0">
                <a:solidFill>
                  <a:srgbClr val="151714"/>
                </a:solidFill>
                <a:latin typeface="Segoe UI"/>
              </a:rPr>
              <a:t>Epoch bump ends every session for one account</a:t>
            </a:r>
          </a:p>
          <a:p>
            <a:pPr algn="l" marL="219456" indent="-182880">
              <a:lnSpc>
                <a:spcPct val="108000"/>
              </a:lnSpc>
              <a:spcAft>
                <a:spcPts val="400"/>
              </a:spcAft>
              <a:buFont typeface="Arial"/>
              <a:buChar char="•"/>
            </a:pPr>
            <a:r>
              <a:rPr sz="1300" b="0">
                <a:solidFill>
                  <a:srgbClr val="151714"/>
                </a:solidFill>
                <a:latin typeface="Segoe UI"/>
              </a:rPr>
              <a:t>7-day default lifetime</a:t>
            </a:r>
          </a:p>
        </p:txBody>
      </p:sp>
      <p:sp>
        <p:nvSpPr>
          <p:cNvPr id="12" name="Rectangle 11"/>
          <p:cNvSpPr/>
          <p:nvPr/>
        </p:nvSpPr>
        <p:spPr>
          <a:xfrm>
            <a:off x="4425696" y="1664208"/>
            <a:ext cx="3657600" cy="2148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1688" y="1600200"/>
            <a:ext cx="3657600" cy="2148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61688" y="1600200"/>
            <a:ext cx="365760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89703" y="1655064"/>
            <a:ext cx="340156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Credentials</a:t>
            </a:r>
          </a:p>
        </p:txBody>
      </p:sp>
      <p:sp>
        <p:nvSpPr>
          <p:cNvPr id="16" name="TextBox 15"/>
          <p:cNvSpPr txBox="1"/>
          <p:nvPr/>
        </p:nvSpPr>
        <p:spPr>
          <a:xfrm>
            <a:off x="4507992" y="2130552"/>
            <a:ext cx="3364992" cy="1527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scrypt passwords, 10–128 chars</a:t>
            </a:r>
          </a:p>
          <a:p>
            <a:pPr algn="l" marL="219456" indent="-182880">
              <a:lnSpc>
                <a:spcPct val="108000"/>
              </a:lnSpc>
              <a:spcAft>
                <a:spcPts val="400"/>
              </a:spcAft>
              <a:buFont typeface="Arial"/>
              <a:buChar char="•"/>
            </a:pPr>
            <a:r>
              <a:rPr sz="1300" b="0">
                <a:solidFill>
                  <a:srgbClr val="151714"/>
                </a:solidFill>
                <a:latin typeface="Segoe UI"/>
              </a:rPr>
              <a:t>10 single-use recovery codes, hashed</a:t>
            </a:r>
          </a:p>
          <a:p>
            <a:pPr algn="l" marL="219456" indent="-182880">
              <a:lnSpc>
                <a:spcPct val="108000"/>
              </a:lnSpc>
              <a:spcAft>
                <a:spcPts val="400"/>
              </a:spcAft>
              <a:buFont typeface="Arial"/>
              <a:buChar char="•"/>
            </a:pPr>
            <a:r>
              <a:rPr sz="1300" b="0">
                <a:solidFill>
                  <a:srgbClr val="151714"/>
                </a:solidFill>
                <a:latin typeface="Segoe UI"/>
              </a:rPr>
              <a:t>Atomic recovery (working tree)</a:t>
            </a:r>
          </a:p>
        </p:txBody>
      </p:sp>
      <p:sp>
        <p:nvSpPr>
          <p:cNvPr id="17" name="Rectangle 16"/>
          <p:cNvSpPr/>
          <p:nvPr/>
        </p:nvSpPr>
        <p:spPr>
          <a:xfrm>
            <a:off x="8238744" y="1664208"/>
            <a:ext cx="3474720" cy="2148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74736" y="1600200"/>
            <a:ext cx="3474720" cy="2148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174736" y="1600200"/>
            <a:ext cx="347472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2752" y="1655064"/>
            <a:ext cx="321868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Limits</a:t>
            </a:r>
          </a:p>
        </p:txBody>
      </p:sp>
      <p:sp>
        <p:nvSpPr>
          <p:cNvPr id="21" name="TextBox 20"/>
          <p:cNvSpPr txBox="1"/>
          <p:nvPr/>
        </p:nvSpPr>
        <p:spPr>
          <a:xfrm>
            <a:off x="8321040" y="2130552"/>
            <a:ext cx="3182112" cy="1527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6 chats / account / min</a:t>
            </a:r>
          </a:p>
          <a:p>
            <a:pPr algn="l" marL="219456" indent="-182880">
              <a:lnSpc>
                <a:spcPct val="108000"/>
              </a:lnSpc>
              <a:spcAft>
                <a:spcPts val="400"/>
              </a:spcAft>
              <a:buFont typeface="Arial"/>
              <a:buChar char="•"/>
            </a:pPr>
            <a:r>
              <a:rPr sz="1300" b="0">
                <a:solidFill>
                  <a:srgbClr val="151714"/>
                </a:solidFill>
                <a:latin typeface="Segoe UI"/>
              </a:rPr>
              <a:t>60,000 budget units / UTC day</a:t>
            </a:r>
          </a:p>
          <a:p>
            <a:pPr algn="l" marL="219456" indent="-182880">
              <a:lnSpc>
                <a:spcPct val="108000"/>
              </a:lnSpc>
              <a:spcAft>
                <a:spcPts val="400"/>
              </a:spcAft>
              <a:buFont typeface="Arial"/>
              <a:buChar char="•"/>
            </a:pPr>
            <a:r>
              <a:rPr sz="1300" b="0">
                <a:solidFill>
                  <a:srgbClr val="151714"/>
                </a:solidFill>
                <a:latin typeface="Segoe UI"/>
              </a:rPr>
              <a:t>10 sign-in tries / email / 15 min</a:t>
            </a:r>
          </a:p>
        </p:txBody>
      </p:sp>
      <p:sp>
        <p:nvSpPr>
          <p:cNvPr id="22" name="Rectangle 21"/>
          <p:cNvSpPr/>
          <p:nvPr/>
        </p:nvSpPr>
        <p:spPr>
          <a:xfrm>
            <a:off x="612647" y="4087368"/>
            <a:ext cx="11100816" cy="10515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023360"/>
            <a:ext cx="11100816" cy="10515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520" y="4160520"/>
            <a:ext cx="3200400" cy="274320"/>
          </a:xfrm>
          <a:prstGeom prst="rect">
            <a:avLst/>
          </a:prstGeom>
          <a:solidFill>
            <a:srgbClr val="202D3B"/>
          </a:solidFill>
          <a:ln w="15875">
            <a:solidFill>
              <a:srgbClr val="202D3B"/>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VERIFIED · POSTGRESQL 16 · LOCAL</a:t>
            </a:r>
          </a:p>
        </p:txBody>
      </p:sp>
      <p:sp>
        <p:nvSpPr>
          <p:cNvPr id="25" name="TextBox 24"/>
          <p:cNvSpPr txBox="1"/>
          <p:nvPr/>
        </p:nvSpPr>
        <p:spPr>
          <a:xfrm>
            <a:off x="731520" y="4498848"/>
            <a:ext cx="10698480" cy="50292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a:rPr>
              <a:t>Recovery races: the same code twice gives one success and one rejection; two different codes give sessions at epochs 1 and 2.</a:t>
            </a:r>
          </a:p>
        </p:txBody>
      </p:sp>
      <p:sp>
        <p:nvSpPr>
          <p:cNvPr id="26" name="Rectangle 25"/>
          <p:cNvSpPr/>
          <p:nvPr/>
        </p:nvSpPr>
        <p:spPr>
          <a:xfrm>
            <a:off x="548640" y="5257800"/>
            <a:ext cx="11100816" cy="86868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1520" y="5321808"/>
            <a:ext cx="10698480" cy="77724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Known limits: </a:t>
            </a:r>
            <a:r>
              <a:rPr sz="1350" b="0">
                <a:solidFill>
                  <a:srgbClr val="151714"/>
                </a:solidFill>
                <a:latin typeface="Segoe UI"/>
              </a:rPr>
              <a:t>no email verification or reset; no per-device sessions; throttles untested against distributed abuse; every account shares one free-tier provider quota.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SECURITY, RELIABILITY AND OPERATOR DUTIES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Controls exist; the real host still has to prove them</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frontend/src/proxy.ts · deploy/Caddyfile · deploy/*.sh · docs/OPERATIONS.md · docs/operations-rehearsal-2026-09-14.json</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15</a:t>
            </a:r>
          </a:p>
        </p:txBody>
      </p:sp>
      <p:sp>
        <p:nvSpPr>
          <p:cNvPr id="7" name="Rectangle 6"/>
          <p:cNvSpPr/>
          <p:nvPr/>
        </p:nvSpPr>
        <p:spPr>
          <a:xfrm>
            <a:off x="612647" y="1664208"/>
            <a:ext cx="3611880" cy="2743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611880" cy="2743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36118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3355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Security controls</a:t>
            </a:r>
          </a:p>
        </p:txBody>
      </p:sp>
      <p:sp>
        <p:nvSpPr>
          <p:cNvPr id="11" name="TextBox 10"/>
          <p:cNvSpPr txBox="1"/>
          <p:nvPr/>
        </p:nvSpPr>
        <p:spPr>
          <a:xfrm>
            <a:off x="694944" y="2130552"/>
            <a:ext cx="3319272" cy="21214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Nonce CSP + strict headers</a:t>
            </a:r>
          </a:p>
          <a:p>
            <a:pPr algn="l" marL="219456" indent="-182880">
              <a:lnSpc>
                <a:spcPct val="108000"/>
              </a:lnSpc>
              <a:spcAft>
                <a:spcPts val="400"/>
              </a:spcAft>
              <a:buFont typeface="Arial"/>
              <a:buChar char="•"/>
            </a:pPr>
            <a:r>
              <a:rPr sz="1300" b="0">
                <a:solidFill>
                  <a:srgbClr val="151714"/>
                </a:solidFill>
                <a:latin typeface="Segoe UI"/>
              </a:rPr>
              <a:t>Safe Markdown links</a:t>
            </a:r>
          </a:p>
          <a:p>
            <a:pPr algn="l" marL="219456" indent="-182880">
              <a:lnSpc>
                <a:spcPct val="108000"/>
              </a:lnSpc>
              <a:spcAft>
                <a:spcPts val="400"/>
              </a:spcAft>
              <a:buFont typeface="Arial"/>
              <a:buChar char="•"/>
            </a:pPr>
            <a:r>
              <a:rPr sz="1300" b="0">
                <a:solidFill>
                  <a:srgbClr val="151714"/>
                </a:solidFill>
                <a:latin typeface="Segoe UI"/>
              </a:rPr>
              <a:t>API docs off in production</a:t>
            </a:r>
          </a:p>
          <a:p>
            <a:pPr algn="l" marL="219456" indent="-182880">
              <a:lnSpc>
                <a:spcPct val="108000"/>
              </a:lnSpc>
              <a:spcAft>
                <a:spcPts val="400"/>
              </a:spcAft>
              <a:buFont typeface="Arial"/>
              <a:buChar char="•"/>
            </a:pPr>
            <a:r>
              <a:rPr sz="1300" b="0">
                <a:solidFill>
                  <a:srgbClr val="151714"/>
                </a:solidFill>
                <a:latin typeface="Segoe UI"/>
              </a:rPr>
              <a:t>Logs without message content</a:t>
            </a:r>
          </a:p>
          <a:p>
            <a:pPr algn="l" marL="219456" indent="-182880">
              <a:lnSpc>
                <a:spcPct val="108000"/>
              </a:lnSpc>
              <a:spcAft>
                <a:spcPts val="400"/>
              </a:spcAft>
              <a:buFont typeface="Arial"/>
              <a:buChar char="•"/>
            </a:pPr>
            <a:r>
              <a:rPr sz="1300" b="0">
                <a:solidFill>
                  <a:srgbClr val="151714"/>
                </a:solidFill>
                <a:latin typeface="Segoe UI"/>
              </a:rPr>
              <a:t>Locked, audited dependencies</a:t>
            </a:r>
          </a:p>
        </p:txBody>
      </p:sp>
      <p:sp>
        <p:nvSpPr>
          <p:cNvPr id="12" name="Rectangle 11"/>
          <p:cNvSpPr/>
          <p:nvPr/>
        </p:nvSpPr>
        <p:spPr>
          <a:xfrm>
            <a:off x="4379976" y="1664208"/>
            <a:ext cx="3611880" cy="2743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600200"/>
            <a:ext cx="3611880" cy="2743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15968" y="1600200"/>
            <a:ext cx="361188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43983" y="1655064"/>
            <a:ext cx="3355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Backups &amp; alerts</a:t>
            </a:r>
          </a:p>
        </p:txBody>
      </p:sp>
      <p:sp>
        <p:nvSpPr>
          <p:cNvPr id="16" name="TextBox 15"/>
          <p:cNvSpPr txBox="1"/>
          <p:nvPr/>
        </p:nvSpPr>
        <p:spPr>
          <a:xfrm>
            <a:off x="4462272" y="2130552"/>
            <a:ext cx="3319272" cy="21214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Encrypted nightly backup script</a:t>
            </a:r>
          </a:p>
          <a:p>
            <a:pPr algn="l" marL="219456" indent="-182880">
              <a:lnSpc>
                <a:spcPct val="108000"/>
              </a:lnSpc>
              <a:spcAft>
                <a:spcPts val="400"/>
              </a:spcAft>
              <a:buFont typeface="Arial"/>
              <a:buChar char="•"/>
            </a:pPr>
            <a:r>
              <a:rPr sz="1300" b="0">
                <a:solidFill>
                  <a:srgbClr val="151714"/>
                </a:solidFill>
                <a:latin typeface="Segoe UI"/>
              </a:rPr>
              <a:t>Restore check after every backup</a:t>
            </a:r>
          </a:p>
          <a:p>
            <a:pPr algn="l" marL="219456" indent="-182880">
              <a:lnSpc>
                <a:spcPct val="108000"/>
              </a:lnSpc>
              <a:spcAft>
                <a:spcPts val="400"/>
              </a:spcAft>
              <a:buFont typeface="Arial"/>
              <a:buChar char="•"/>
            </a:pPr>
            <a:r>
              <a:rPr sz="1300" b="0">
                <a:solidFill>
                  <a:srgbClr val="151714"/>
                </a:solidFill>
                <a:latin typeface="Segoe UI"/>
              </a:rPr>
              <a:t>Watchdog alerts on state change</a:t>
            </a:r>
          </a:p>
          <a:p>
            <a:pPr algn="l" marL="219456" indent="-182880">
              <a:lnSpc>
                <a:spcPct val="108000"/>
              </a:lnSpc>
              <a:spcAft>
                <a:spcPts val="400"/>
              </a:spcAft>
              <a:buFont typeface="Arial"/>
              <a:buChar char="•"/>
            </a:pPr>
            <a:r>
              <a:rPr sz="1300" b="0">
                <a:solidFill>
                  <a:srgbClr val="151714"/>
                </a:solidFill>
                <a:latin typeface="Segoe UI"/>
              </a:rPr>
              <a:t>Webhook or Telegram channel</a:t>
            </a:r>
          </a:p>
        </p:txBody>
      </p:sp>
      <p:sp>
        <p:nvSpPr>
          <p:cNvPr id="17" name="Rectangle 16"/>
          <p:cNvSpPr/>
          <p:nvPr/>
        </p:nvSpPr>
        <p:spPr>
          <a:xfrm>
            <a:off x="8147304" y="1664208"/>
            <a:ext cx="3566160" cy="2743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00200"/>
            <a:ext cx="3566160" cy="2743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83296" y="1600200"/>
            <a:ext cx="356616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11312" y="1655064"/>
            <a:ext cx="33101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Operator must</a:t>
            </a:r>
          </a:p>
        </p:txBody>
      </p:sp>
      <p:sp>
        <p:nvSpPr>
          <p:cNvPr id="21" name="TextBox 20"/>
          <p:cNvSpPr txBox="1"/>
          <p:nvPr/>
        </p:nvSpPr>
        <p:spPr>
          <a:xfrm>
            <a:off x="8229600" y="2130552"/>
            <a:ext cx="3273552" cy="21214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Install the cron jobs</a:t>
            </a:r>
          </a:p>
          <a:p>
            <a:pPr algn="l" marL="219456" indent="-182880">
              <a:lnSpc>
                <a:spcPct val="108000"/>
              </a:lnSpc>
              <a:spcAft>
                <a:spcPts val="400"/>
              </a:spcAft>
              <a:buFont typeface="Arial"/>
              <a:buChar char="•"/>
            </a:pPr>
            <a:r>
              <a:rPr sz="1300" b="0">
                <a:solidFill>
                  <a:srgbClr val="151714"/>
                </a:solidFill>
                <a:latin typeface="Segoe UI"/>
              </a:rPr>
              <a:t>Provide truly remote storage</a:t>
            </a:r>
          </a:p>
          <a:p>
            <a:pPr algn="l" marL="219456" indent="-182880">
              <a:lnSpc>
                <a:spcPct val="108000"/>
              </a:lnSpc>
              <a:spcAft>
                <a:spcPts val="400"/>
              </a:spcAft>
              <a:buFont typeface="Arial"/>
              <a:buChar char="•"/>
            </a:pPr>
            <a:r>
              <a:rPr sz="1300" b="0">
                <a:solidFill>
                  <a:srgbClr val="151714"/>
                </a:solidFill>
                <a:latin typeface="Segoe UI"/>
              </a:rPr>
              <a:t>Confirm a person receives alerts</a:t>
            </a:r>
          </a:p>
          <a:p>
            <a:pPr algn="l" marL="219456" indent="-182880">
              <a:lnSpc>
                <a:spcPct val="108000"/>
              </a:lnSpc>
              <a:spcAft>
                <a:spcPts val="400"/>
              </a:spcAft>
              <a:buFont typeface="Arial"/>
              <a:buChar char="•"/>
            </a:pPr>
            <a:r>
              <a:rPr sz="1300" b="0">
                <a:solidFill>
                  <a:srgbClr val="151714"/>
                </a:solidFill>
                <a:latin typeface="Segoe UI"/>
              </a:rPr>
              <a:t>Audit legacy memories</a:t>
            </a:r>
          </a:p>
        </p:txBody>
      </p:sp>
      <p:sp>
        <p:nvSpPr>
          <p:cNvPr id="22" name="Rectangle 21"/>
          <p:cNvSpPr/>
          <p:nvPr/>
        </p:nvSpPr>
        <p:spPr>
          <a:xfrm>
            <a:off x="10058400" y="1673352"/>
            <a:ext cx="1737360" cy="274320"/>
          </a:xfrm>
          <a:prstGeom prst="rect">
            <a:avLst/>
          </a:prstGeom>
          <a:solidFill>
            <a:srgbClr val="151714"/>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DA45"/>
                </a:solidFill>
                <a:latin typeface="Segoe UI Semibold"/>
              </a:rPr>
              <a:t>OPERATIONAL GATE</a:t>
            </a:r>
          </a:p>
        </p:txBody>
      </p:sp>
      <p:sp>
        <p:nvSpPr>
          <p:cNvPr id="23" name="Rectangle 22"/>
          <p:cNvSpPr/>
          <p:nvPr/>
        </p:nvSpPr>
        <p:spPr>
          <a:xfrm>
            <a:off x="612647" y="4636008"/>
            <a:ext cx="11100816" cy="15544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572000"/>
            <a:ext cx="11100816" cy="15544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709160"/>
            <a:ext cx="4297680" cy="274320"/>
          </a:xfrm>
          <a:prstGeom prst="rect">
            <a:avLst/>
          </a:prstGeom>
          <a:solidFill>
            <a:srgbClr val="202D3B"/>
          </a:solidFill>
          <a:ln w="15875">
            <a:solidFill>
              <a:srgbClr val="202D3B"/>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VERIFIED · DISPOSABLE DOCKER + POSTGRESQL 16</a:t>
            </a:r>
          </a:p>
        </p:txBody>
      </p:sp>
      <p:sp>
        <p:nvSpPr>
          <p:cNvPr id="26" name="TextBox 25"/>
          <p:cNvSpPr txBox="1"/>
          <p:nvPr/>
        </p:nvSpPr>
        <p:spPr>
          <a:xfrm>
            <a:off x="731520" y="5074920"/>
            <a:ext cx="10698480" cy="100584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a:rPr>
              <a:t>10 operations checks: schema-0004 restore matched every table, including credentials and consent.</a:t>
            </a:r>
          </a:p>
          <a:p>
            <a:pPr algn="l">
              <a:lnSpc>
                <a:spcPct val="108000"/>
              </a:lnSpc>
              <a:spcAft>
                <a:spcPts val="400"/>
              </a:spcAft>
            </a:pPr>
            <a:r>
              <a:rPr sz="1350" b="0">
                <a:solidFill>
                  <a:srgbClr val="CC1757"/>
                </a:solidFill>
                <a:latin typeface="Segoe UI Semibold"/>
              </a:rPr>
              <a:t>Not proven: </a:t>
            </a:r>
            <a:r>
              <a:rPr sz="1350" b="0">
                <a:solidFill>
                  <a:srgbClr val="151714"/>
                </a:solidFill>
                <a:latin typeface="Segoe UI"/>
              </a:rPr>
              <a:t>the copy sat in a second local folder; alerts reached a synthetic receiver, not a person.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MILESTONES AND LATEST FIXES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How it got here</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git log · docs/launch-fixes.md · reviews 2026-09-11/13/14 · docs/launch-rehearsal-2026-09-14.md · docs/quality-evidence-2026-09-15.md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16</a:t>
            </a:r>
          </a:p>
        </p:txBody>
      </p:sp>
      <p:cxnSp>
        <p:nvCxnSpPr>
          <p:cNvPr id="7" name="Connector 6"/>
          <p:cNvCxnSpPr/>
          <p:nvPr/>
        </p:nvCxnSpPr>
        <p:spPr>
          <a:xfrm>
            <a:off x="731520" y="2834640"/>
            <a:ext cx="10789920" cy="0"/>
          </a:xfrm>
          <a:prstGeom prst="line">
            <a:avLst/>
          </a:prstGeom>
          <a:ln w="381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280160" y="2697480"/>
            <a:ext cx="274320" cy="274320"/>
          </a:xfrm>
          <a:prstGeom prst="ellipse">
            <a:avLst/>
          </a:prstGeom>
          <a:solidFill>
            <a:srgbClr val="FF438A"/>
          </a:solidFill>
          <a:ln>
            <a:solidFill>
              <a:srgbClr val="15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48840"/>
            <a:ext cx="1783080" cy="411480"/>
          </a:xfrm>
          <a:prstGeom prst="rect">
            <a:avLst/>
          </a:prstGeom>
          <a:noFill/>
        </p:spPr>
        <p:txBody>
          <a:bodyPr wrap="square" lIns="18288" rIns="18288" tIns="9144" bIns="9144" anchor="t">
            <a:spAutoFit/>
          </a:bodyPr>
          <a:lstStyle/>
          <a:p>
            <a:pPr algn="ctr">
              <a:lnSpc>
                <a:spcPct val="108000"/>
              </a:lnSpc>
              <a:spcAft>
                <a:spcPts val="400"/>
              </a:spcAft>
            </a:pPr>
            <a:r>
              <a:rPr sz="1600" b="0">
                <a:solidFill>
                  <a:srgbClr val="151714"/>
                </a:solidFill>
                <a:latin typeface="Arial Black"/>
              </a:rPr>
              <a:t>≤ Sep 10</a:t>
            </a:r>
          </a:p>
        </p:txBody>
      </p:sp>
      <p:sp>
        <p:nvSpPr>
          <p:cNvPr id="10" name="Rectangle 9"/>
          <p:cNvSpPr/>
          <p:nvPr/>
        </p:nvSpPr>
        <p:spPr>
          <a:xfrm>
            <a:off x="612647" y="3310127"/>
            <a:ext cx="1691640" cy="1600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46120"/>
            <a:ext cx="1691640" cy="1600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337560"/>
            <a:ext cx="1508760" cy="14630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Core product, design, portraits, dashboard</a:t>
            </a:r>
          </a:p>
        </p:txBody>
      </p:sp>
      <p:sp>
        <p:nvSpPr>
          <p:cNvPr id="13" name="Oval 12"/>
          <p:cNvSpPr/>
          <p:nvPr/>
        </p:nvSpPr>
        <p:spPr>
          <a:xfrm>
            <a:off x="3154680" y="2697480"/>
            <a:ext cx="274320" cy="274320"/>
          </a:xfrm>
          <a:prstGeom prst="ellipse">
            <a:avLst/>
          </a:prstGeom>
          <a:solidFill>
            <a:srgbClr val="FF438A"/>
          </a:solidFill>
          <a:ln>
            <a:solidFill>
              <a:srgbClr val="15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23160" y="2148840"/>
            <a:ext cx="1783080" cy="411480"/>
          </a:xfrm>
          <a:prstGeom prst="rect">
            <a:avLst/>
          </a:prstGeom>
          <a:noFill/>
        </p:spPr>
        <p:txBody>
          <a:bodyPr wrap="square" lIns="18288" rIns="18288" tIns="9144" bIns="9144" anchor="t">
            <a:spAutoFit/>
          </a:bodyPr>
          <a:lstStyle/>
          <a:p>
            <a:pPr algn="ctr">
              <a:lnSpc>
                <a:spcPct val="108000"/>
              </a:lnSpc>
              <a:spcAft>
                <a:spcPts val="400"/>
              </a:spcAft>
            </a:pPr>
            <a:r>
              <a:rPr sz="1600" b="0">
                <a:solidFill>
                  <a:srgbClr val="151714"/>
                </a:solidFill>
                <a:latin typeface="Arial Black"/>
              </a:rPr>
              <a:t>Sep 11</a:t>
            </a:r>
          </a:p>
        </p:txBody>
      </p:sp>
      <p:sp>
        <p:nvSpPr>
          <p:cNvPr id="15" name="Rectangle 14"/>
          <p:cNvSpPr/>
          <p:nvPr/>
        </p:nvSpPr>
        <p:spPr>
          <a:xfrm>
            <a:off x="2487168" y="3310127"/>
            <a:ext cx="1691640" cy="1600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23160" y="3246120"/>
            <a:ext cx="1691640" cy="1600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514600" y="3337560"/>
            <a:ext cx="1508760" cy="14630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Account rights, fail-closed memory, reply states, locked deps</a:t>
            </a:r>
          </a:p>
        </p:txBody>
      </p:sp>
      <p:sp>
        <p:nvSpPr>
          <p:cNvPr id="18" name="Oval 17"/>
          <p:cNvSpPr/>
          <p:nvPr/>
        </p:nvSpPr>
        <p:spPr>
          <a:xfrm>
            <a:off x="5029199" y="2697480"/>
            <a:ext cx="274320" cy="274320"/>
          </a:xfrm>
          <a:prstGeom prst="ellipse">
            <a:avLst/>
          </a:prstGeom>
          <a:solidFill>
            <a:srgbClr val="FF438A"/>
          </a:solidFill>
          <a:ln>
            <a:solidFill>
              <a:srgbClr val="15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79" y="2148840"/>
            <a:ext cx="1783080" cy="411480"/>
          </a:xfrm>
          <a:prstGeom prst="rect">
            <a:avLst/>
          </a:prstGeom>
          <a:noFill/>
        </p:spPr>
        <p:txBody>
          <a:bodyPr wrap="square" lIns="18288" rIns="18288" tIns="9144" bIns="9144" anchor="t">
            <a:spAutoFit/>
          </a:bodyPr>
          <a:lstStyle/>
          <a:p>
            <a:pPr algn="ctr">
              <a:lnSpc>
                <a:spcPct val="108000"/>
              </a:lnSpc>
              <a:spcAft>
                <a:spcPts val="400"/>
              </a:spcAft>
            </a:pPr>
            <a:r>
              <a:rPr sz="1600" b="0">
                <a:solidFill>
                  <a:srgbClr val="151714"/>
                </a:solidFill>
                <a:latin typeface="Arial Black"/>
              </a:rPr>
              <a:t>Sep 12</a:t>
            </a:r>
          </a:p>
        </p:txBody>
      </p:sp>
      <p:sp>
        <p:nvSpPr>
          <p:cNvPr id="20" name="Rectangle 19"/>
          <p:cNvSpPr/>
          <p:nvPr/>
        </p:nvSpPr>
        <p:spPr>
          <a:xfrm>
            <a:off x="4361688" y="3310127"/>
            <a:ext cx="1691640" cy="1600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79" y="3246120"/>
            <a:ext cx="1691640" cy="1600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89119" y="3337560"/>
            <a:ext cx="1508760" cy="14630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Review fixes, FastAPI upgrade (14 advisories)</a:t>
            </a:r>
          </a:p>
        </p:txBody>
      </p:sp>
      <p:sp>
        <p:nvSpPr>
          <p:cNvPr id="23" name="Oval 22"/>
          <p:cNvSpPr/>
          <p:nvPr/>
        </p:nvSpPr>
        <p:spPr>
          <a:xfrm>
            <a:off x="6903719" y="2697480"/>
            <a:ext cx="274320" cy="274320"/>
          </a:xfrm>
          <a:prstGeom prst="ellipse">
            <a:avLst/>
          </a:prstGeom>
          <a:solidFill>
            <a:srgbClr val="FF438A"/>
          </a:solidFill>
          <a:ln>
            <a:solidFill>
              <a:srgbClr val="15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199" y="2148840"/>
            <a:ext cx="1783080" cy="411480"/>
          </a:xfrm>
          <a:prstGeom prst="rect">
            <a:avLst/>
          </a:prstGeom>
          <a:noFill/>
        </p:spPr>
        <p:txBody>
          <a:bodyPr wrap="square" lIns="18288" rIns="18288" tIns="9144" bIns="9144" anchor="t">
            <a:spAutoFit/>
          </a:bodyPr>
          <a:lstStyle/>
          <a:p>
            <a:pPr algn="ctr">
              <a:lnSpc>
                <a:spcPct val="108000"/>
              </a:lnSpc>
              <a:spcAft>
                <a:spcPts val="400"/>
              </a:spcAft>
            </a:pPr>
            <a:r>
              <a:rPr sz="1600" b="0">
                <a:solidFill>
                  <a:srgbClr val="151714"/>
                </a:solidFill>
                <a:latin typeface="Arial Black"/>
              </a:rPr>
              <a:t>Sep 13</a:t>
            </a:r>
          </a:p>
        </p:txBody>
      </p:sp>
      <p:sp>
        <p:nvSpPr>
          <p:cNvPr id="25" name="Rectangle 24"/>
          <p:cNvSpPr/>
          <p:nvPr/>
        </p:nvSpPr>
        <p:spPr>
          <a:xfrm>
            <a:off x="6236207" y="3310127"/>
            <a:ext cx="1691640" cy="1600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199" y="3246120"/>
            <a:ext cx="1691640" cy="1600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3639" y="3337560"/>
            <a:ext cx="1508760" cy="14630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Signup + recovery codes, memory switch, nonce CSP, Next 16, contrast</a:t>
            </a:r>
          </a:p>
        </p:txBody>
      </p:sp>
      <p:sp>
        <p:nvSpPr>
          <p:cNvPr id="28" name="Oval 27"/>
          <p:cNvSpPr/>
          <p:nvPr/>
        </p:nvSpPr>
        <p:spPr>
          <a:xfrm>
            <a:off x="8778240" y="2697480"/>
            <a:ext cx="274320" cy="274320"/>
          </a:xfrm>
          <a:prstGeom prst="ellipse">
            <a:avLst/>
          </a:prstGeom>
          <a:solidFill>
            <a:srgbClr val="FF438A"/>
          </a:solidFill>
          <a:ln>
            <a:solidFill>
              <a:srgbClr val="15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19" y="2148840"/>
            <a:ext cx="1783080" cy="411480"/>
          </a:xfrm>
          <a:prstGeom prst="rect">
            <a:avLst/>
          </a:prstGeom>
          <a:noFill/>
        </p:spPr>
        <p:txBody>
          <a:bodyPr wrap="square" lIns="18288" rIns="18288" tIns="9144" bIns="9144" anchor="t">
            <a:spAutoFit/>
          </a:bodyPr>
          <a:lstStyle/>
          <a:p>
            <a:pPr algn="ctr">
              <a:lnSpc>
                <a:spcPct val="108000"/>
              </a:lnSpc>
              <a:spcAft>
                <a:spcPts val="400"/>
              </a:spcAft>
            </a:pPr>
            <a:r>
              <a:rPr sz="1600" b="0">
                <a:solidFill>
                  <a:srgbClr val="151714"/>
                </a:solidFill>
                <a:latin typeface="Arial Black"/>
              </a:rPr>
              <a:t>Sep 13–14</a:t>
            </a:r>
          </a:p>
        </p:txBody>
      </p:sp>
      <p:sp>
        <p:nvSpPr>
          <p:cNvPr id="30" name="Rectangle 29"/>
          <p:cNvSpPr/>
          <p:nvPr/>
        </p:nvSpPr>
        <p:spPr>
          <a:xfrm>
            <a:off x="8110727" y="3310127"/>
            <a:ext cx="1691640" cy="1600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19" y="3246120"/>
            <a:ext cx="1691640" cy="1600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38159" y="3337560"/>
            <a:ext cx="1508760" cy="14630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Review fixes R13 &amp; R14 — uncommitted</a:t>
            </a:r>
          </a:p>
        </p:txBody>
      </p:sp>
      <p:sp>
        <p:nvSpPr>
          <p:cNvPr id="33" name="Oval 32"/>
          <p:cNvSpPr/>
          <p:nvPr/>
        </p:nvSpPr>
        <p:spPr>
          <a:xfrm>
            <a:off x="10652760" y="2697480"/>
            <a:ext cx="274320" cy="274320"/>
          </a:xfrm>
          <a:prstGeom prst="ellipse">
            <a:avLst/>
          </a:prstGeom>
          <a:solidFill>
            <a:srgbClr val="FF438A"/>
          </a:solidFill>
          <a:ln>
            <a:solidFill>
              <a:srgbClr val="15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21240" y="2148840"/>
            <a:ext cx="1783080" cy="411480"/>
          </a:xfrm>
          <a:prstGeom prst="rect">
            <a:avLst/>
          </a:prstGeom>
          <a:noFill/>
        </p:spPr>
        <p:txBody>
          <a:bodyPr wrap="square" lIns="18288" rIns="18288" tIns="9144" bIns="9144" anchor="t">
            <a:spAutoFit/>
          </a:bodyPr>
          <a:lstStyle/>
          <a:p>
            <a:pPr algn="ctr">
              <a:lnSpc>
                <a:spcPct val="108000"/>
              </a:lnSpc>
              <a:spcAft>
                <a:spcPts val="400"/>
              </a:spcAft>
            </a:pPr>
            <a:r>
              <a:rPr sz="1600" b="0">
                <a:solidFill>
                  <a:srgbClr val="151714"/>
                </a:solidFill>
                <a:latin typeface="Arial Black"/>
              </a:rPr>
              <a:t>Sep 14–15</a:t>
            </a:r>
          </a:p>
        </p:txBody>
      </p:sp>
      <p:sp>
        <p:nvSpPr>
          <p:cNvPr id="35" name="Rectangle 34"/>
          <p:cNvSpPr/>
          <p:nvPr/>
        </p:nvSpPr>
        <p:spPr>
          <a:xfrm>
            <a:off x="9985248" y="3310127"/>
            <a:ext cx="1691640" cy="16002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21240" y="3246120"/>
            <a:ext cx="1691640" cy="16002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012680" y="3337560"/>
            <a:ext cx="1508760" cy="14630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Local production rehearsal, quality run, live journey</a:t>
            </a:r>
          </a:p>
        </p:txBody>
      </p:sp>
      <p:sp>
        <p:nvSpPr>
          <p:cNvPr id="38" name="TextBox 37"/>
          <p:cNvSpPr txBox="1"/>
          <p:nvPr/>
        </p:nvSpPr>
        <p:spPr>
          <a:xfrm>
            <a:off x="548640" y="1645920"/>
            <a:ext cx="5486400" cy="36576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43483F"/>
                </a:solidFill>
                <a:latin typeface="Segoe UI"/>
              </a:rPr>
              <a:t>Labels: historical → committed → uncommitted → locally verified</a:t>
            </a:r>
          </a:p>
        </p:txBody>
      </p:sp>
      <p:sp>
        <p:nvSpPr>
          <p:cNvPr id="39" name="Rectangle 38"/>
          <p:cNvSpPr/>
          <p:nvPr/>
        </p:nvSpPr>
        <p:spPr>
          <a:xfrm>
            <a:off x="548640" y="4983480"/>
            <a:ext cx="1101634" cy="274320"/>
          </a:xfrm>
          <a:prstGeom prst="rect">
            <a:avLst/>
          </a:prstGeom>
          <a:solidFill>
            <a:srgbClr val="FDF0CD"/>
          </a:solidFill>
          <a:ln w="15875">
            <a:solidFill>
              <a:srgbClr val="43483F"/>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spc="60">
                <a:solidFill>
                  <a:srgbClr val="43483F"/>
                </a:solidFill>
                <a:latin typeface="Segoe UI Semibold"/>
              </a:rPr>
              <a:t>HISTORICAL</a:t>
            </a:r>
          </a:p>
        </p:txBody>
      </p:sp>
      <p:sp>
        <p:nvSpPr>
          <p:cNvPr id="40" name="Rectangle 39"/>
          <p:cNvSpPr/>
          <p:nvPr/>
        </p:nvSpPr>
        <p:spPr>
          <a:xfrm>
            <a:off x="2423160" y="4983480"/>
            <a:ext cx="1101634" cy="274320"/>
          </a:xfrm>
          <a:prstGeom prst="rect">
            <a:avLst/>
          </a:prstGeom>
          <a:solidFill>
            <a:srgbClr val="FDF0CD"/>
          </a:solidFill>
          <a:ln w="15875">
            <a:solidFill>
              <a:srgbClr val="43483F"/>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spc="60">
                <a:solidFill>
                  <a:srgbClr val="43483F"/>
                </a:solidFill>
                <a:latin typeface="Segoe UI Semibold"/>
              </a:rPr>
              <a:t>HISTORICAL</a:t>
            </a:r>
          </a:p>
        </p:txBody>
      </p:sp>
      <p:sp>
        <p:nvSpPr>
          <p:cNvPr id="41" name="Rectangle 40"/>
          <p:cNvSpPr/>
          <p:nvPr/>
        </p:nvSpPr>
        <p:spPr>
          <a:xfrm>
            <a:off x="4297679" y="4983480"/>
            <a:ext cx="1101634" cy="274320"/>
          </a:xfrm>
          <a:prstGeom prst="rect">
            <a:avLst/>
          </a:prstGeom>
          <a:solidFill>
            <a:srgbClr val="FDF0CD"/>
          </a:solidFill>
          <a:ln w="15875">
            <a:solidFill>
              <a:srgbClr val="43483F"/>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spc="60">
                <a:solidFill>
                  <a:srgbClr val="43483F"/>
                </a:solidFill>
                <a:latin typeface="Segoe UI Semibold"/>
              </a:rPr>
              <a:t>HISTORICAL</a:t>
            </a:r>
          </a:p>
        </p:txBody>
      </p:sp>
      <p:sp>
        <p:nvSpPr>
          <p:cNvPr id="42" name="Rectangle 41"/>
          <p:cNvSpPr/>
          <p:nvPr/>
        </p:nvSpPr>
        <p:spPr>
          <a:xfrm>
            <a:off x="6172199" y="4983480"/>
            <a:ext cx="1018902" cy="274320"/>
          </a:xfrm>
          <a:prstGeom prst="rect">
            <a:avLst/>
          </a:prstGeom>
          <a:solidFill>
            <a:srgbClr val="FFDA4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spc="60">
                <a:solidFill>
                  <a:srgbClr val="151714"/>
                </a:solidFill>
                <a:latin typeface="Segoe UI Semibold"/>
              </a:rPr>
              <a:t>COMMITTED</a:t>
            </a:r>
          </a:p>
        </p:txBody>
      </p:sp>
      <p:sp>
        <p:nvSpPr>
          <p:cNvPr id="43" name="Rectangle 42"/>
          <p:cNvSpPr/>
          <p:nvPr/>
        </p:nvSpPr>
        <p:spPr>
          <a:xfrm>
            <a:off x="8046719" y="4983480"/>
            <a:ext cx="1184365" cy="274320"/>
          </a:xfrm>
          <a:prstGeom prst="rect">
            <a:avLst/>
          </a:prstGeom>
          <a:solidFill>
            <a:srgbClr val="FFEBA6"/>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spc="60">
                <a:solidFill>
                  <a:srgbClr val="151714"/>
                </a:solidFill>
                <a:latin typeface="Segoe UI Semibold"/>
              </a:rPr>
              <a:t>UNCOMMITTED</a:t>
            </a:r>
          </a:p>
        </p:txBody>
      </p:sp>
      <p:sp>
        <p:nvSpPr>
          <p:cNvPr id="44" name="Rectangle 43"/>
          <p:cNvSpPr/>
          <p:nvPr/>
        </p:nvSpPr>
        <p:spPr>
          <a:xfrm>
            <a:off x="9921240" y="4983480"/>
            <a:ext cx="1598022" cy="274320"/>
          </a:xfrm>
          <a:prstGeom prst="rect">
            <a:avLst/>
          </a:prstGeom>
          <a:solidFill>
            <a:srgbClr val="202D3B"/>
          </a:solidFill>
          <a:ln w="15875">
            <a:solidFill>
              <a:srgbClr val="202D3B"/>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spc="60">
                <a:solidFill>
                  <a:srgbClr val="FFFFFF"/>
                </a:solidFill>
                <a:latin typeface="Segoe UI Semibold"/>
              </a:rPr>
              <a:t>VERIFIED · LOCAL</a:t>
            </a:r>
          </a:p>
        </p:txBody>
      </p:sp>
      <p:sp>
        <p:nvSpPr>
          <p:cNvPr id="45" name="Rectangle 44"/>
          <p:cNvSpPr/>
          <p:nvPr/>
        </p:nvSpPr>
        <p:spPr>
          <a:xfrm>
            <a:off x="548640" y="5532120"/>
            <a:ext cx="11100816" cy="594360"/>
          </a:xfrm>
          <a:prstGeom prst="rect">
            <a:avLst/>
          </a:prstGeom>
          <a:solidFill>
            <a:srgbClr val="FFEBA6"/>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31520" y="5577840"/>
            <a:ext cx="10789920" cy="502920"/>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Segoe UI Semibold"/>
              </a:rPr>
              <a:t>Commit or otherwise preserve the working tree before anything else: the latest security and data fixes exist only there.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TESTING AND VERIFICATION</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Five kinds of evidence — never add them up</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docs/production-verification-2026-09-14.json · production-rehearsal · accessibility-rehearsal · operations-rehearsal (2026-09-14) · journey-rehearsal-2026-09-14.txt</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17</a:t>
            </a:r>
          </a:p>
        </p:txBody>
      </p:sp>
      <p:sp>
        <p:nvSpPr>
          <p:cNvPr id="7" name="Rectangle 6"/>
          <p:cNvSpPr/>
          <p:nvPr/>
        </p:nvSpPr>
        <p:spPr>
          <a:xfrm>
            <a:off x="612647" y="1709928"/>
            <a:ext cx="2057400" cy="4434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2057400" cy="4434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2057400" cy="132588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691640"/>
            <a:ext cx="1828800" cy="777240"/>
          </a:xfrm>
          <a:prstGeom prst="rect">
            <a:avLst/>
          </a:prstGeom>
          <a:noFill/>
        </p:spPr>
        <p:txBody>
          <a:bodyPr wrap="square" lIns="18288" rIns="18288" tIns="9144" bIns="9144" anchor="t">
            <a:spAutoFit/>
          </a:bodyPr>
          <a:lstStyle/>
          <a:p>
            <a:pPr algn="l">
              <a:lnSpc>
                <a:spcPct val="108000"/>
              </a:lnSpc>
              <a:spcAft>
                <a:spcPts val="400"/>
              </a:spcAft>
            </a:pPr>
            <a:r>
              <a:rPr sz="4000" b="0">
                <a:solidFill>
                  <a:srgbClr val="151714"/>
                </a:solidFill>
                <a:latin typeface="Arial Black"/>
              </a:rPr>
              <a:t>351</a:t>
            </a:r>
          </a:p>
        </p:txBody>
      </p:sp>
      <p:sp>
        <p:nvSpPr>
          <p:cNvPr id="11" name="TextBox 10"/>
          <p:cNvSpPr txBox="1"/>
          <p:nvPr/>
        </p:nvSpPr>
        <p:spPr>
          <a:xfrm>
            <a:off x="658368" y="2468880"/>
            <a:ext cx="1874519" cy="45720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Semibold"/>
              </a:rPr>
              <a:t>backend tests</a:t>
            </a:r>
          </a:p>
        </p:txBody>
      </p:sp>
      <p:sp>
        <p:nvSpPr>
          <p:cNvPr id="12" name="TextBox 11"/>
          <p:cNvSpPr txBox="1"/>
          <p:nvPr/>
        </p:nvSpPr>
        <p:spPr>
          <a:xfrm>
            <a:off x="658368" y="310896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43483F"/>
                </a:solidFill>
                <a:latin typeface="Segoe UI Semibold"/>
              </a:rPr>
              <a:t>WHERE</a:t>
            </a:r>
          </a:p>
        </p:txBody>
      </p:sp>
      <p:sp>
        <p:nvSpPr>
          <p:cNvPr id="13" name="TextBox 12"/>
          <p:cNvSpPr txBox="1"/>
          <p:nvPr/>
        </p:nvSpPr>
        <p:spPr>
          <a:xfrm>
            <a:off x="658368" y="3383280"/>
            <a:ext cx="1847088" cy="12344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Locked production image · 2 races on PostgreSQL 16, rest SQLite</a:t>
            </a:r>
          </a:p>
        </p:txBody>
      </p:sp>
      <p:sp>
        <p:nvSpPr>
          <p:cNvPr id="14" name="TextBox 13"/>
          <p:cNvSpPr txBox="1"/>
          <p:nvPr/>
        </p:nvSpPr>
        <p:spPr>
          <a:xfrm>
            <a:off x="658368" y="461772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CC1757"/>
                </a:solidFill>
                <a:latin typeface="Segoe UI Semibold"/>
              </a:rPr>
              <a:t>LIMIT</a:t>
            </a:r>
          </a:p>
        </p:txBody>
      </p:sp>
      <p:sp>
        <p:nvSpPr>
          <p:cNvPr id="15" name="TextBox 14"/>
          <p:cNvSpPr txBox="1"/>
          <p:nvPr/>
        </p:nvSpPr>
        <p:spPr>
          <a:xfrm>
            <a:off x="658368" y="4892040"/>
            <a:ext cx="1847088" cy="109728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Not load or multi-worker</a:t>
            </a:r>
          </a:p>
        </p:txBody>
      </p:sp>
      <p:sp>
        <p:nvSpPr>
          <p:cNvPr id="16" name="Rectangle 15"/>
          <p:cNvSpPr/>
          <p:nvPr/>
        </p:nvSpPr>
        <p:spPr>
          <a:xfrm>
            <a:off x="2862072" y="1709928"/>
            <a:ext cx="2057400" cy="4434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98064" y="1645920"/>
            <a:ext cx="2057400" cy="4434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798064" y="1645920"/>
            <a:ext cx="2057400" cy="132588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07792" y="1691640"/>
            <a:ext cx="1828800" cy="777240"/>
          </a:xfrm>
          <a:prstGeom prst="rect">
            <a:avLst/>
          </a:prstGeom>
          <a:noFill/>
        </p:spPr>
        <p:txBody>
          <a:bodyPr wrap="square" lIns="18288" rIns="18288" tIns="9144" bIns="9144" anchor="t">
            <a:spAutoFit/>
          </a:bodyPr>
          <a:lstStyle/>
          <a:p>
            <a:pPr algn="l">
              <a:lnSpc>
                <a:spcPct val="108000"/>
              </a:lnSpc>
              <a:spcAft>
                <a:spcPts val="400"/>
              </a:spcAft>
            </a:pPr>
            <a:r>
              <a:rPr sz="4000" b="0">
                <a:solidFill>
                  <a:srgbClr val="151714"/>
                </a:solidFill>
                <a:latin typeface="Arial Black"/>
              </a:rPr>
              <a:t>23</a:t>
            </a:r>
          </a:p>
        </p:txBody>
      </p:sp>
      <p:sp>
        <p:nvSpPr>
          <p:cNvPr id="20" name="TextBox 19"/>
          <p:cNvSpPr txBox="1"/>
          <p:nvPr/>
        </p:nvSpPr>
        <p:spPr>
          <a:xfrm>
            <a:off x="2907792" y="2468880"/>
            <a:ext cx="1874519" cy="45720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Semibold"/>
              </a:rPr>
              <a:t>HTTPS browser checks</a:t>
            </a:r>
          </a:p>
        </p:txBody>
      </p:sp>
      <p:sp>
        <p:nvSpPr>
          <p:cNvPr id="21" name="TextBox 20"/>
          <p:cNvSpPr txBox="1"/>
          <p:nvPr/>
        </p:nvSpPr>
        <p:spPr>
          <a:xfrm>
            <a:off x="2907792" y="310896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43483F"/>
                </a:solidFill>
                <a:latin typeface="Segoe UI Semibold"/>
              </a:rPr>
              <a:t>WHERE</a:t>
            </a:r>
          </a:p>
        </p:txBody>
      </p:sp>
      <p:sp>
        <p:nvSpPr>
          <p:cNvPr id="22" name="TextBox 21"/>
          <p:cNvSpPr txBox="1"/>
          <p:nvPr/>
        </p:nvSpPr>
        <p:spPr>
          <a:xfrm>
            <a:off x="2907792" y="3383280"/>
            <a:ext cx="1847088" cy="12344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Production images on localhost · scripted model</a:t>
            </a:r>
          </a:p>
        </p:txBody>
      </p:sp>
      <p:sp>
        <p:nvSpPr>
          <p:cNvPr id="23" name="TextBox 22"/>
          <p:cNvSpPr txBox="1"/>
          <p:nvPr/>
        </p:nvSpPr>
        <p:spPr>
          <a:xfrm>
            <a:off x="2907792" y="461772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CC1757"/>
                </a:solidFill>
                <a:latin typeface="Segoe UI Semibold"/>
              </a:rPr>
              <a:t>LIMIT</a:t>
            </a:r>
          </a:p>
        </p:txBody>
      </p:sp>
      <p:sp>
        <p:nvSpPr>
          <p:cNvPr id="24" name="TextBox 23"/>
          <p:cNvSpPr txBox="1"/>
          <p:nvPr/>
        </p:nvSpPr>
        <p:spPr>
          <a:xfrm>
            <a:off x="2907792" y="4892040"/>
            <a:ext cx="1847088" cy="109728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Not the public domain or real model</a:t>
            </a:r>
          </a:p>
        </p:txBody>
      </p:sp>
      <p:sp>
        <p:nvSpPr>
          <p:cNvPr id="25" name="Rectangle 24"/>
          <p:cNvSpPr/>
          <p:nvPr/>
        </p:nvSpPr>
        <p:spPr>
          <a:xfrm>
            <a:off x="5111496" y="1709928"/>
            <a:ext cx="2057400" cy="4434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47488" y="1645920"/>
            <a:ext cx="2057400" cy="4434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47488" y="1645920"/>
            <a:ext cx="2057400" cy="132588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57216" y="1691640"/>
            <a:ext cx="1828800" cy="777240"/>
          </a:xfrm>
          <a:prstGeom prst="rect">
            <a:avLst/>
          </a:prstGeom>
          <a:noFill/>
        </p:spPr>
        <p:txBody>
          <a:bodyPr wrap="square" lIns="18288" rIns="18288" tIns="9144" bIns="9144" anchor="t">
            <a:spAutoFit/>
          </a:bodyPr>
          <a:lstStyle/>
          <a:p>
            <a:pPr algn="l">
              <a:lnSpc>
                <a:spcPct val="108000"/>
              </a:lnSpc>
              <a:spcAft>
                <a:spcPts val="400"/>
              </a:spcAft>
            </a:pPr>
            <a:r>
              <a:rPr sz="4000" b="0">
                <a:solidFill>
                  <a:srgbClr val="151714"/>
                </a:solidFill>
                <a:latin typeface="Arial Black"/>
              </a:rPr>
              <a:t>25</a:t>
            </a:r>
          </a:p>
        </p:txBody>
      </p:sp>
      <p:sp>
        <p:nvSpPr>
          <p:cNvPr id="29" name="TextBox 28"/>
          <p:cNvSpPr txBox="1"/>
          <p:nvPr/>
        </p:nvSpPr>
        <p:spPr>
          <a:xfrm>
            <a:off x="5157216" y="2468880"/>
            <a:ext cx="1874519" cy="45720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Semibold"/>
              </a:rPr>
              <a:t>accessibility scans · 0 findings</a:t>
            </a:r>
          </a:p>
        </p:txBody>
      </p:sp>
      <p:sp>
        <p:nvSpPr>
          <p:cNvPr id="30" name="TextBox 29"/>
          <p:cNvSpPr txBox="1"/>
          <p:nvPr/>
        </p:nvSpPr>
        <p:spPr>
          <a:xfrm>
            <a:off x="5157216" y="310896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43483F"/>
                </a:solidFill>
                <a:latin typeface="Segoe UI Semibold"/>
              </a:rPr>
              <a:t>WHERE</a:t>
            </a:r>
          </a:p>
        </p:txBody>
      </p:sp>
      <p:sp>
        <p:nvSpPr>
          <p:cNvPr id="31" name="TextBox 30"/>
          <p:cNvSpPr txBox="1"/>
          <p:nvPr/>
        </p:nvSpPr>
        <p:spPr>
          <a:xfrm>
            <a:off x="5157216" y="3383280"/>
            <a:ext cx="1847088" cy="12344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Desktop Chrome, desktop + 390px widths</a:t>
            </a:r>
          </a:p>
        </p:txBody>
      </p:sp>
      <p:sp>
        <p:nvSpPr>
          <p:cNvPr id="32" name="TextBox 31"/>
          <p:cNvSpPr txBox="1"/>
          <p:nvPr/>
        </p:nvSpPr>
        <p:spPr>
          <a:xfrm>
            <a:off x="5157216" y="461772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CC1757"/>
                </a:solidFill>
                <a:latin typeface="Segoe UI Semibold"/>
              </a:rPr>
              <a:t>LIMIT</a:t>
            </a:r>
          </a:p>
        </p:txBody>
      </p:sp>
      <p:sp>
        <p:nvSpPr>
          <p:cNvPr id="33" name="TextBox 32"/>
          <p:cNvSpPr txBox="1"/>
          <p:nvPr/>
        </p:nvSpPr>
        <p:spPr>
          <a:xfrm>
            <a:off x="5157216" y="4892040"/>
            <a:ext cx="1847088" cy="109728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Not phones or a screen reader</a:t>
            </a:r>
          </a:p>
        </p:txBody>
      </p:sp>
      <p:sp>
        <p:nvSpPr>
          <p:cNvPr id="34" name="Rectangle 33"/>
          <p:cNvSpPr/>
          <p:nvPr/>
        </p:nvSpPr>
        <p:spPr>
          <a:xfrm>
            <a:off x="7360919" y="1709928"/>
            <a:ext cx="2057400" cy="4434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96912" y="1645920"/>
            <a:ext cx="2057400" cy="4434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296912" y="1645920"/>
            <a:ext cx="2057400" cy="132588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406640" y="1691640"/>
            <a:ext cx="1828800" cy="777240"/>
          </a:xfrm>
          <a:prstGeom prst="rect">
            <a:avLst/>
          </a:prstGeom>
          <a:noFill/>
        </p:spPr>
        <p:txBody>
          <a:bodyPr wrap="square" lIns="18288" rIns="18288" tIns="9144" bIns="9144" anchor="t">
            <a:spAutoFit/>
          </a:bodyPr>
          <a:lstStyle/>
          <a:p>
            <a:pPr algn="l">
              <a:lnSpc>
                <a:spcPct val="108000"/>
              </a:lnSpc>
              <a:spcAft>
                <a:spcPts val="400"/>
              </a:spcAft>
            </a:pPr>
            <a:r>
              <a:rPr sz="4000" b="0">
                <a:solidFill>
                  <a:srgbClr val="151714"/>
                </a:solidFill>
                <a:latin typeface="Arial Black"/>
              </a:rPr>
              <a:t>10</a:t>
            </a:r>
          </a:p>
        </p:txBody>
      </p:sp>
      <p:sp>
        <p:nvSpPr>
          <p:cNvPr id="38" name="TextBox 37"/>
          <p:cNvSpPr txBox="1"/>
          <p:nvPr/>
        </p:nvSpPr>
        <p:spPr>
          <a:xfrm>
            <a:off x="7406640" y="2468880"/>
            <a:ext cx="1874519" cy="45720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Semibold"/>
              </a:rPr>
              <a:t>operations checks</a:t>
            </a:r>
          </a:p>
        </p:txBody>
      </p:sp>
      <p:sp>
        <p:nvSpPr>
          <p:cNvPr id="39" name="TextBox 38"/>
          <p:cNvSpPr txBox="1"/>
          <p:nvPr/>
        </p:nvSpPr>
        <p:spPr>
          <a:xfrm>
            <a:off x="7406640" y="310896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43483F"/>
                </a:solidFill>
                <a:latin typeface="Segoe UI Semibold"/>
              </a:rPr>
              <a:t>WHERE</a:t>
            </a:r>
          </a:p>
        </p:txBody>
      </p:sp>
      <p:sp>
        <p:nvSpPr>
          <p:cNvPr id="40" name="TextBox 39"/>
          <p:cNvSpPr txBox="1"/>
          <p:nvPr/>
        </p:nvSpPr>
        <p:spPr>
          <a:xfrm>
            <a:off x="7406640" y="3383280"/>
            <a:ext cx="1847088" cy="12344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Disposable Docker + PostgreSQL 16</a:t>
            </a:r>
          </a:p>
        </p:txBody>
      </p:sp>
      <p:sp>
        <p:nvSpPr>
          <p:cNvPr id="41" name="TextBox 40"/>
          <p:cNvSpPr txBox="1"/>
          <p:nvPr/>
        </p:nvSpPr>
        <p:spPr>
          <a:xfrm>
            <a:off x="7406640" y="461772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CC1757"/>
                </a:solidFill>
                <a:latin typeface="Segoe UI Semibold"/>
              </a:rPr>
              <a:t>LIMIT</a:t>
            </a:r>
          </a:p>
        </p:txBody>
      </p:sp>
      <p:sp>
        <p:nvSpPr>
          <p:cNvPr id="42" name="TextBox 41"/>
          <p:cNvSpPr txBox="1"/>
          <p:nvPr/>
        </p:nvSpPr>
        <p:spPr>
          <a:xfrm>
            <a:off x="7406640" y="4892040"/>
            <a:ext cx="1847088" cy="109728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Copy was local; alerts synthetic</a:t>
            </a:r>
          </a:p>
        </p:txBody>
      </p:sp>
      <p:sp>
        <p:nvSpPr>
          <p:cNvPr id="43" name="Rectangle 42"/>
          <p:cNvSpPr/>
          <p:nvPr/>
        </p:nvSpPr>
        <p:spPr>
          <a:xfrm>
            <a:off x="9610344" y="1709928"/>
            <a:ext cx="2057400" cy="4434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46336" y="1645920"/>
            <a:ext cx="2057400" cy="4434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546336" y="1645920"/>
            <a:ext cx="2057400" cy="132588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56063" y="1691640"/>
            <a:ext cx="1828800" cy="777240"/>
          </a:xfrm>
          <a:prstGeom prst="rect">
            <a:avLst/>
          </a:prstGeom>
          <a:noFill/>
        </p:spPr>
        <p:txBody>
          <a:bodyPr wrap="square" lIns="18288" rIns="18288" tIns="9144" bIns="9144" anchor="t">
            <a:spAutoFit/>
          </a:bodyPr>
          <a:lstStyle/>
          <a:p>
            <a:pPr algn="l">
              <a:lnSpc>
                <a:spcPct val="108000"/>
              </a:lnSpc>
              <a:spcAft>
                <a:spcPts val="400"/>
              </a:spcAft>
            </a:pPr>
            <a:r>
              <a:rPr sz="4000" b="0">
                <a:solidFill>
                  <a:srgbClr val="151714"/>
                </a:solidFill>
                <a:latin typeface="Arial Black"/>
              </a:rPr>
              <a:t>13</a:t>
            </a:r>
          </a:p>
        </p:txBody>
      </p:sp>
      <p:sp>
        <p:nvSpPr>
          <p:cNvPr id="47" name="TextBox 46"/>
          <p:cNvSpPr txBox="1"/>
          <p:nvPr/>
        </p:nvSpPr>
        <p:spPr>
          <a:xfrm>
            <a:off x="9656063" y="2468880"/>
            <a:ext cx="1874519" cy="45720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Semibold"/>
              </a:rPr>
              <a:t>live journey checks</a:t>
            </a:r>
          </a:p>
        </p:txBody>
      </p:sp>
      <p:sp>
        <p:nvSpPr>
          <p:cNvPr id="48" name="TextBox 47"/>
          <p:cNvSpPr txBox="1"/>
          <p:nvPr/>
        </p:nvSpPr>
        <p:spPr>
          <a:xfrm>
            <a:off x="9656063" y="310896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43483F"/>
                </a:solidFill>
                <a:latin typeface="Segoe UI Semibold"/>
              </a:rPr>
              <a:t>WHERE</a:t>
            </a:r>
          </a:p>
        </p:txBody>
      </p:sp>
      <p:sp>
        <p:nvSpPr>
          <p:cNvPr id="49" name="TextBox 48"/>
          <p:cNvSpPr txBox="1"/>
          <p:nvPr/>
        </p:nvSpPr>
        <p:spPr>
          <a:xfrm>
            <a:off x="9656063" y="3383280"/>
            <a:ext cx="1847088" cy="123444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Real model via in-process test client</a:t>
            </a:r>
          </a:p>
        </p:txBody>
      </p:sp>
      <p:sp>
        <p:nvSpPr>
          <p:cNvPr id="50" name="TextBox 49"/>
          <p:cNvSpPr txBox="1"/>
          <p:nvPr/>
        </p:nvSpPr>
        <p:spPr>
          <a:xfrm>
            <a:off x="9656063" y="4617720"/>
            <a:ext cx="1828800" cy="274320"/>
          </a:xfrm>
          <a:prstGeom prst="rect">
            <a:avLst/>
          </a:prstGeom>
          <a:noFill/>
        </p:spPr>
        <p:txBody>
          <a:bodyPr wrap="square" lIns="18288" rIns="18288" tIns="9144" bIns="9144" anchor="t">
            <a:spAutoFit/>
          </a:bodyPr>
          <a:lstStyle/>
          <a:p>
            <a:pPr algn="l">
              <a:lnSpc>
                <a:spcPct val="108000"/>
              </a:lnSpc>
              <a:spcAft>
                <a:spcPts val="400"/>
              </a:spcAft>
            </a:pPr>
            <a:r>
              <a:rPr sz="1050" b="0" spc="150">
                <a:solidFill>
                  <a:srgbClr val="CC1757"/>
                </a:solidFill>
                <a:latin typeface="Segoe UI Semibold"/>
              </a:rPr>
              <a:t>LIMIT</a:t>
            </a:r>
          </a:p>
        </p:txBody>
      </p:sp>
      <p:sp>
        <p:nvSpPr>
          <p:cNvPr id="51" name="TextBox 50"/>
          <p:cNvSpPr txBox="1"/>
          <p:nvPr/>
        </p:nvSpPr>
        <p:spPr>
          <a:xfrm>
            <a:off x="9656063" y="4892040"/>
            <a:ext cx="1847088" cy="1097280"/>
          </a:xfrm>
          <a:prstGeom prst="rect">
            <a:avLst/>
          </a:prstGeom>
          <a:noFill/>
        </p:spPr>
        <p:txBody>
          <a:bodyPr wrap="square" lIns="18288" rIns="18288" tIns="9144" bIns="9144" anchor="t">
            <a:spAutoFit/>
          </a:bodyPr>
          <a:lstStyle/>
          <a:p>
            <a:pPr algn="l">
              <a:lnSpc>
                <a:spcPct val="108000"/>
              </a:lnSpc>
              <a:spcAft>
                <a:spcPts val="400"/>
              </a:spcAft>
            </a:pPr>
            <a:r>
              <a:rPr sz="1250" b="0">
                <a:solidFill>
                  <a:srgbClr val="151714"/>
                </a:solidFill>
                <a:latin typeface="Segoe UI"/>
              </a:rPr>
              <a:t>Not a real network disconnect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LIVE EVALUATION · 2026-09-14</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Answer quality is the main open defect</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docs/quality-remediation-2026-09-14b.json · quality-rejudged-2026-09-14.json · docs/quality-evidence-2026-09-15.md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18</a:t>
            </a:r>
          </a:p>
        </p:txBody>
      </p:sp>
      <p:graphicFrame>
        <p:nvGraphicFramePr>
          <p:cNvPr id="7" name="Table 6"/>
          <p:cNvGraphicFramePr>
            <a:graphicFrameLocks noGrp="1"/>
          </p:cNvGraphicFramePr>
          <p:nvPr/>
        </p:nvGraphicFramePr>
        <p:xfrm>
          <a:off x="548640" y="1600200"/>
          <a:ext cx="11100814" cy="3621024"/>
        </p:xfrm>
        <a:graphic>
          <a:graphicData uri="http://schemas.openxmlformats.org/drawingml/2006/table">
            <a:tbl>
              <a:tblPr firstRow="1" bandRow="1">
                <a:tableStyleId>{5940675A-B579-460E-94D1-54222C63F5DA}</a:tableStyleId>
              </a:tblPr>
              <a:tblGrid>
                <a:gridCol w="3241831"/>
                <a:gridCol w="884135"/>
                <a:gridCol w="785898"/>
                <a:gridCol w="1080610"/>
                <a:gridCol w="5108340"/>
              </a:tblGrid>
              <a:tr h="402336">
                <a:tc>
                  <a:txBody>
                    <a:bodyPr wrap="square"/>
                    <a:lstStyle/>
                    <a:p>
                      <a:r>
                        <a:rPr sz="1250">
                          <a:solidFill>
                            <a:srgbClr val="151714"/>
                          </a:solidFill>
                          <a:latin typeface="Segoe UI Semibold"/>
                        </a:rPr>
                        <a:t>Personalization (3 samples)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Pass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Fail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Ungraded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What went wrong (manual review)</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402336">
                <a:tc>
                  <a:txBody>
                    <a:bodyPr wrap="square"/>
                    <a:lstStyle/>
                    <a:p>
                      <a:r>
                        <a:rPr sz="1250">
                          <a:solidFill>
                            <a:srgbClr val="151714"/>
                          </a:solidFill>
                          <a:latin typeface="Segoe UI Semibold"/>
                        </a:rPr>
                        <a:t>Modeer · Study · Research · Email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3 each</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02336">
                <a:tc>
                  <a:txBody>
                    <a:bodyPr wrap="square"/>
                    <a:lstStyle/>
                    <a:p>
                      <a:r>
                        <a:rPr sz="1250">
                          <a:solidFill>
                            <a:srgbClr val="151714"/>
                          </a:solidFill>
                          <a:latin typeface="Segoe UI Semibold"/>
                        </a:rPr>
                        <a:t>Shopping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CC1757"/>
                          </a:solidFill>
                          <a:latin typeface="Segoe UI Semibold"/>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3</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Unverified budget fit; invented $; “latest” claim</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02336">
                <a:tc>
                  <a:txBody>
                    <a:bodyPr wrap="square"/>
                    <a:lstStyle/>
                    <a:p>
                      <a:r>
                        <a:rPr sz="1250">
                          <a:solidFill>
                            <a:srgbClr val="151714"/>
                          </a:solidFill>
                          <a:latin typeface="Segoe UI Semibold"/>
                        </a:rPr>
                        <a:t>Travel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2</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Asserted departure times; residence ≠ nationality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02336">
                <a:tc>
                  <a:txBody>
                    <a:bodyPr wrap="square"/>
                    <a:lstStyle/>
                    <a:p>
                      <a:r>
                        <a:rPr sz="1250">
                          <a:solidFill>
                            <a:srgbClr val="151714"/>
                          </a:solidFill>
                          <a:latin typeface="Segoe UI Semibold"/>
                        </a:rPr>
                        <a:t>Career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2</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Invented visa and mentorship; unsupported timeline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02336">
                <a:tc>
                  <a:txBody>
                    <a:bodyPr wrap="square"/>
                    <a:lstStyle/>
                    <a:p>
                      <a:r>
                        <a:rPr sz="1250">
                          <a:solidFill>
                            <a:srgbClr val="151714"/>
                          </a:solidFill>
                          <a:latin typeface="Segoe UI Semibold"/>
                        </a:rPr>
                        <a:t>Writing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2</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Very short bios; missed a supplied aspiration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02336">
                <a:tc>
                  <a:txBody>
                    <a:bodyPr wrap="square"/>
                    <a:lstStyle/>
                    <a:p>
                      <a:r>
                        <a:rPr sz="1250">
                          <a:solidFill>
                            <a:srgbClr val="151714"/>
                          </a:solidFill>
                          <a:latin typeface="Segoe UI Semibold"/>
                        </a:rPr>
                        <a:t>Finance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2</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Unsourced current property-price range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02336">
                <a:tc>
                  <a:txBody>
                    <a:bodyPr wrap="square"/>
                    <a:lstStyle/>
                    <a:p>
                      <a:r>
                        <a:rPr sz="1250">
                          <a:solidFill>
                            <a:srgbClr val="151714"/>
                          </a:solidFill>
                          <a:latin typeface="Segoe UI Semibold"/>
                        </a:rPr>
                        <a:t>Fitness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Equipment not provided; judge JSON unparsable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02336">
                <a:tc>
                  <a:txBody>
                    <a:bodyPr wrap="square"/>
                    <a:lstStyle/>
                    <a:p>
                      <a:r>
                        <a:rPr sz="1250">
                          <a:solidFill>
                            <a:srgbClr val="151714"/>
                          </a:solidFill>
                          <a:latin typeface="Segoe UI Semibold"/>
                        </a:rPr>
                        <a:t>Unknown-fact cases (Study, Career, Writing)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9</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0</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
        <p:nvSpPr>
          <p:cNvPr id="8" name="Rectangle 7"/>
          <p:cNvSpPr/>
          <p:nvPr/>
        </p:nvSpPr>
        <p:spPr>
          <a:xfrm>
            <a:off x="548640" y="5440680"/>
            <a:ext cx="11100816" cy="68580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5486400"/>
            <a:ext cx="10789920" cy="594360"/>
          </a:xfrm>
          <a:prstGeom prst="rect">
            <a:avLst/>
          </a:prstGeom>
          <a:noFill/>
        </p:spPr>
        <p:txBody>
          <a:bodyPr wrap="square" lIns="18288" rIns="18288" tIns="9144" bIns="9144" anchor="ctr">
            <a:spAutoFit/>
          </a:bodyPr>
          <a:lstStyle/>
          <a:p>
            <a:pPr algn="l">
              <a:lnSpc>
                <a:spcPct val="108000"/>
              </a:lnSpc>
              <a:spcAft>
                <a:spcPts val="400"/>
              </a:spcAft>
            </a:pPr>
            <a:r>
              <a:rPr sz="1300" b="0">
                <a:solidFill>
                  <a:srgbClr val="151714"/>
                </a:solidFill>
                <a:latin typeface="Segoe UI Semibold"/>
              </a:rPr>
              <a:t>Automated totals 27 · 11 · 1 are not a quality score. </a:t>
            </a:r>
            <a:r>
              <a:rPr sz="1300" b="0">
                <a:solidFill>
                  <a:srgbClr val="151714"/>
                </a:solidFill>
                <a:latin typeface="Segoe UI"/>
              </a:rPr>
              <a:t>Manual checks found judge false positives and missed defects. 33/39 on Sep 13 is historical (older prompts and rubric).</a:t>
            </a:r>
          </a:p>
        </p:txBody>
      </p:sp>
      <p:sp>
        <p:nvSpPr>
          <p:cNvPr id="10" name="Rectangle 9"/>
          <p:cNvSpPr/>
          <p:nvPr/>
        </p:nvSpPr>
        <p:spPr>
          <a:xfrm>
            <a:off x="9235440" y="1005840"/>
            <a:ext cx="1828800" cy="274320"/>
          </a:xfrm>
          <a:prstGeom prst="rect">
            <a:avLst/>
          </a:prstGeom>
          <a:solidFill>
            <a:srgbClr val="CC1757"/>
          </a:solidFill>
          <a:ln w="15875">
            <a:solidFill>
              <a:srgbClr val="CC1757"/>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UNRESOLVED DEFECT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READINESS DECISIONS · EVIDENCE AS OF 2026-09-15</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Three release levels, three different answers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docs/production-readiness-review-2026-09-14.md (decision + appendix) · docs/launch-rehearsal-2026-09-14.md · docs/quality-evidence-2026-09-15.md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19</a:t>
            </a:r>
          </a:p>
        </p:txBody>
      </p:sp>
      <p:sp>
        <p:nvSpPr>
          <p:cNvPr id="7" name="Rectangle 6"/>
          <p:cNvSpPr/>
          <p:nvPr/>
        </p:nvSpPr>
        <p:spPr>
          <a:xfrm>
            <a:off x="612647" y="1664208"/>
            <a:ext cx="352044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52044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3520440" cy="12344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691640"/>
            <a:ext cx="32004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Local use</a:t>
            </a:r>
          </a:p>
        </p:txBody>
      </p:sp>
      <p:sp>
        <p:nvSpPr>
          <p:cNvPr id="11" name="TextBox 10"/>
          <p:cNvSpPr txBox="1"/>
          <p:nvPr/>
        </p:nvSpPr>
        <p:spPr>
          <a:xfrm>
            <a:off x="731520" y="2103120"/>
            <a:ext cx="3200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Usable</a:t>
            </a:r>
          </a:p>
        </p:txBody>
      </p:sp>
      <p:sp>
        <p:nvSpPr>
          <p:cNvPr id="12" name="TextBox 11"/>
          <p:cNvSpPr txBox="1"/>
          <p:nvPr/>
        </p:nvSpPr>
        <p:spPr>
          <a:xfrm>
            <a:off x="731520" y="3017520"/>
            <a:ext cx="3200400" cy="320040"/>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Semibold"/>
              </a:rPr>
              <a:t>Requires / known</a:t>
            </a:r>
          </a:p>
        </p:txBody>
      </p:sp>
      <p:sp>
        <p:nvSpPr>
          <p:cNvPr id="13" name="TextBox 12"/>
          <p:cNvSpPr txBox="1"/>
          <p:nvPr/>
        </p:nvSpPr>
        <p:spPr>
          <a:xfrm>
            <a:off x="731520" y="3383280"/>
            <a:ext cx="3200400" cy="2651760"/>
          </a:xfrm>
          <a:prstGeom prst="rect">
            <a:avLst/>
          </a:prstGeom>
          <a:noFill/>
        </p:spPr>
        <p:txBody>
          <a:bodyPr wrap="square" lIns="18288" rIns="18288" tIns="9144" bIns="9144" anchor="t">
            <a:spAutoFit/>
          </a:bodyPr>
          <a:lstStyle/>
          <a:p>
            <a:pPr algn="l" marL="219456" indent="-182880">
              <a:lnSpc>
                <a:spcPct val="108000"/>
              </a:lnSpc>
              <a:spcAft>
                <a:spcPts val="600"/>
              </a:spcAft>
              <a:buFont typeface="Arial"/>
              <a:buChar char="•"/>
            </a:pPr>
            <a:r>
              <a:rPr sz="1400" b="0">
                <a:solidFill>
                  <a:srgbClr val="151714"/>
                </a:solidFill>
                <a:latin typeface="Segoe UI"/>
              </a:rPr>
              <a:t>Synthetic or non-critical data</a:t>
            </a:r>
          </a:p>
          <a:p>
            <a:pPr algn="l" marL="219456" indent="-182880">
              <a:lnSpc>
                <a:spcPct val="108000"/>
              </a:lnSpc>
              <a:spcAft>
                <a:spcPts val="600"/>
              </a:spcAft>
              <a:buFont typeface="Arial"/>
              <a:buChar char="•"/>
            </a:pPr>
            <a:r>
              <a:rPr sz="1400" b="0">
                <a:solidFill>
                  <a:srgbClr val="151714"/>
                </a:solidFill>
                <a:latin typeface="Segoe UI"/>
              </a:rPr>
              <a:t>Known quality defects</a:t>
            </a:r>
          </a:p>
          <a:p>
            <a:pPr algn="l" marL="219456" indent="-182880">
              <a:lnSpc>
                <a:spcPct val="108000"/>
              </a:lnSpc>
              <a:spcAft>
                <a:spcPts val="600"/>
              </a:spcAft>
              <a:buFont typeface="Arial"/>
              <a:buChar char="•"/>
            </a:pPr>
            <a:r>
              <a:rPr sz="1400" b="0">
                <a:solidFill>
                  <a:srgbClr val="151714"/>
                </a:solidFill>
                <a:latin typeface="Segoe UI"/>
              </a:rPr>
              <a:t>Fixes still uncommitted</a:t>
            </a:r>
          </a:p>
        </p:txBody>
      </p:sp>
      <p:sp>
        <p:nvSpPr>
          <p:cNvPr id="14" name="Rectangle 13"/>
          <p:cNvSpPr/>
          <p:nvPr/>
        </p:nvSpPr>
        <p:spPr>
          <a:xfrm>
            <a:off x="4361688" y="1664208"/>
            <a:ext cx="352044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1600200"/>
            <a:ext cx="352044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297679" y="1600200"/>
            <a:ext cx="3520440" cy="123444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80559" y="1691640"/>
            <a:ext cx="32004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Invite-only beta</a:t>
            </a:r>
          </a:p>
        </p:txBody>
      </p:sp>
      <p:sp>
        <p:nvSpPr>
          <p:cNvPr id="18" name="TextBox 17"/>
          <p:cNvSpPr txBox="1"/>
          <p:nvPr/>
        </p:nvSpPr>
        <p:spPr>
          <a:xfrm>
            <a:off x="4480559" y="2103120"/>
            <a:ext cx="3200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Hold</a:t>
            </a:r>
          </a:p>
        </p:txBody>
      </p:sp>
      <p:sp>
        <p:nvSpPr>
          <p:cNvPr id="19" name="TextBox 18"/>
          <p:cNvSpPr txBox="1"/>
          <p:nvPr/>
        </p:nvSpPr>
        <p:spPr>
          <a:xfrm>
            <a:off x="4480559" y="3017520"/>
            <a:ext cx="3200400" cy="320040"/>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Semibold"/>
              </a:rPr>
              <a:t>Before it can open</a:t>
            </a:r>
          </a:p>
        </p:txBody>
      </p:sp>
      <p:sp>
        <p:nvSpPr>
          <p:cNvPr id="20" name="TextBox 19"/>
          <p:cNvSpPr txBox="1"/>
          <p:nvPr/>
        </p:nvSpPr>
        <p:spPr>
          <a:xfrm>
            <a:off x="4480559" y="3383280"/>
            <a:ext cx="3200400" cy="2651760"/>
          </a:xfrm>
          <a:prstGeom prst="rect">
            <a:avLst/>
          </a:prstGeom>
          <a:noFill/>
        </p:spPr>
        <p:txBody>
          <a:bodyPr wrap="square" lIns="18288" rIns="18288" tIns="9144" bIns="9144" anchor="t">
            <a:spAutoFit/>
          </a:bodyPr>
          <a:lstStyle/>
          <a:p>
            <a:pPr algn="l" marL="219456" indent="-182880">
              <a:lnSpc>
                <a:spcPct val="108000"/>
              </a:lnSpc>
              <a:spcAft>
                <a:spcPts val="600"/>
              </a:spcAft>
              <a:buFont typeface="Arial"/>
              <a:buChar char="•"/>
            </a:pPr>
            <a:r>
              <a:rPr sz="1400" b="0">
                <a:solidFill>
                  <a:srgbClr val="151714"/>
                </a:solidFill>
                <a:latin typeface="Segoe UI"/>
              </a:rPr>
              <a:t>Real domain + HTTPS staging</a:t>
            </a:r>
          </a:p>
          <a:p>
            <a:pPr algn="l" marL="219456" indent="-182880">
              <a:lnSpc>
                <a:spcPct val="108000"/>
              </a:lnSpc>
              <a:spcAft>
                <a:spcPts val="600"/>
              </a:spcAft>
              <a:buFont typeface="Arial"/>
              <a:buChar char="•"/>
            </a:pPr>
            <a:r>
              <a:rPr sz="1400" b="0">
                <a:solidFill>
                  <a:srgbClr val="151714"/>
                </a:solidFill>
                <a:latin typeface="Segoe UI"/>
              </a:rPr>
              <a:t>Remote backup, scheduler, restore</a:t>
            </a:r>
          </a:p>
          <a:p>
            <a:pPr algn="l" marL="219456" indent="-182880">
              <a:lnSpc>
                <a:spcPct val="108000"/>
              </a:lnSpc>
              <a:spcAft>
                <a:spcPts val="600"/>
              </a:spcAft>
              <a:buFont typeface="Arial"/>
              <a:buChar char="•"/>
            </a:pPr>
            <a:r>
              <a:rPr sz="1400" b="0">
                <a:solidFill>
                  <a:srgbClr val="151714"/>
                </a:solidFill>
                <a:latin typeface="Segoe UI"/>
              </a:rPr>
              <a:t>Alerts reach a person</a:t>
            </a:r>
          </a:p>
          <a:p>
            <a:pPr algn="l" marL="219456" indent="-182880">
              <a:lnSpc>
                <a:spcPct val="108000"/>
              </a:lnSpc>
              <a:spcAft>
                <a:spcPts val="600"/>
              </a:spcAft>
              <a:buFont typeface="Arial"/>
              <a:buChar char="•"/>
            </a:pPr>
            <a:r>
              <a:rPr sz="1400" b="0">
                <a:solidFill>
                  <a:srgbClr val="151714"/>
                </a:solidFill>
                <a:latin typeface="Segoe UI"/>
              </a:rPr>
              <a:t>Quality decision from measured failures</a:t>
            </a:r>
          </a:p>
        </p:txBody>
      </p:sp>
      <p:sp>
        <p:nvSpPr>
          <p:cNvPr id="21" name="Rectangle 20"/>
          <p:cNvSpPr/>
          <p:nvPr/>
        </p:nvSpPr>
        <p:spPr>
          <a:xfrm>
            <a:off x="8110727" y="1664208"/>
            <a:ext cx="352044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19" y="1600200"/>
            <a:ext cx="352044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046719" y="1600200"/>
            <a:ext cx="3520440" cy="1234440"/>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599" y="1691640"/>
            <a:ext cx="32004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Public production</a:t>
            </a:r>
          </a:p>
        </p:txBody>
      </p:sp>
      <p:sp>
        <p:nvSpPr>
          <p:cNvPr id="25" name="TextBox 24"/>
          <p:cNvSpPr txBox="1"/>
          <p:nvPr/>
        </p:nvSpPr>
        <p:spPr>
          <a:xfrm>
            <a:off x="8229599" y="2103120"/>
            <a:ext cx="3200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Hold</a:t>
            </a:r>
          </a:p>
        </p:txBody>
      </p:sp>
      <p:sp>
        <p:nvSpPr>
          <p:cNvPr id="26" name="TextBox 25"/>
          <p:cNvSpPr txBox="1"/>
          <p:nvPr/>
        </p:nvSpPr>
        <p:spPr>
          <a:xfrm>
            <a:off x="8229599" y="3017520"/>
            <a:ext cx="3200400" cy="320040"/>
          </a:xfrm>
          <a:prstGeom prst="rect">
            <a:avLst/>
          </a:prstGeom>
          <a:noFill/>
        </p:spPr>
        <p:txBody>
          <a:bodyPr wrap="square" lIns="18288" rIns="18288" tIns="9144" bIns="9144" anchor="t">
            <a:spAutoFit/>
          </a:bodyPr>
          <a:lstStyle/>
          <a:p>
            <a:pPr algn="l">
              <a:lnSpc>
                <a:spcPct val="108000"/>
              </a:lnSpc>
              <a:spcAft>
                <a:spcPts val="400"/>
              </a:spcAft>
            </a:pPr>
            <a:r>
              <a:rPr sz="1150" b="0">
                <a:solidFill>
                  <a:srgbClr val="43483F"/>
                </a:solidFill>
                <a:latin typeface="Segoe UI Semibold"/>
              </a:rPr>
              <a:t>Before it can open</a:t>
            </a:r>
          </a:p>
        </p:txBody>
      </p:sp>
      <p:sp>
        <p:nvSpPr>
          <p:cNvPr id="27" name="TextBox 26"/>
          <p:cNvSpPr txBox="1"/>
          <p:nvPr/>
        </p:nvSpPr>
        <p:spPr>
          <a:xfrm>
            <a:off x="8229599" y="3383280"/>
            <a:ext cx="3200400" cy="2651760"/>
          </a:xfrm>
          <a:prstGeom prst="rect">
            <a:avLst/>
          </a:prstGeom>
          <a:noFill/>
        </p:spPr>
        <p:txBody>
          <a:bodyPr wrap="square" lIns="18288" rIns="18288" tIns="9144" bIns="9144" anchor="t">
            <a:spAutoFit/>
          </a:bodyPr>
          <a:lstStyle/>
          <a:p>
            <a:pPr algn="l" marL="219456" indent="-182880">
              <a:lnSpc>
                <a:spcPct val="108000"/>
              </a:lnSpc>
              <a:spcAft>
                <a:spcPts val="600"/>
              </a:spcAft>
              <a:buFont typeface="Arial"/>
              <a:buChar char="•"/>
            </a:pPr>
            <a:r>
              <a:rPr sz="1400" b="0">
                <a:solidFill>
                  <a:srgbClr val="151714"/>
                </a:solidFill>
                <a:latin typeface="Segoe UI"/>
              </a:rPr>
              <a:t>All beta gates</a:t>
            </a:r>
          </a:p>
          <a:p>
            <a:pPr algn="l" marL="219456" indent="-182880">
              <a:lnSpc>
                <a:spcPct val="108000"/>
              </a:lnSpc>
              <a:spcAft>
                <a:spcPts val="600"/>
              </a:spcAft>
              <a:buFont typeface="Arial"/>
              <a:buChar char="•"/>
            </a:pPr>
            <a:r>
              <a:rPr sz="1400" b="0">
                <a:solidFill>
                  <a:srgbClr val="151714"/>
                </a:solidFill>
                <a:latin typeface="Segoe UI"/>
              </a:rPr>
              <a:t>Signup abuse and quota capacity</a:t>
            </a:r>
          </a:p>
          <a:p>
            <a:pPr algn="l" marL="219456" indent="-182880">
              <a:lnSpc>
                <a:spcPct val="108000"/>
              </a:lnSpc>
              <a:spcAft>
                <a:spcPts val="600"/>
              </a:spcAft>
              <a:buFont typeface="Arial"/>
              <a:buChar char="•"/>
            </a:pPr>
            <a:r>
              <a:rPr sz="1400" b="0">
                <a:solidFill>
                  <a:srgbClr val="151714"/>
                </a:solidFill>
                <a:latin typeface="Segoe UI"/>
              </a:rPr>
              <a:t>Support &amp; privacy ownership</a:t>
            </a:r>
          </a:p>
          <a:p>
            <a:pPr algn="l" marL="219456" indent="-182880">
              <a:lnSpc>
                <a:spcPct val="108000"/>
              </a:lnSpc>
              <a:spcAft>
                <a:spcPts val="600"/>
              </a:spcAft>
              <a:buFont typeface="Arial"/>
              <a:buChar char="•"/>
            </a:pPr>
            <a:r>
              <a:rPr sz="1400" b="0">
                <a:solidFill>
                  <a:srgbClr val="151714"/>
                </a:solidFill>
                <a:latin typeface="Segoe UI"/>
              </a:rPr>
              <a:t>Physical phones + screen reader</a:t>
            </a:r>
          </a:p>
          <a:p>
            <a:pPr algn="l" marL="219456" indent="-182880">
              <a:lnSpc>
                <a:spcPct val="108000"/>
              </a:lnSpc>
              <a:spcAft>
                <a:spcPts val="600"/>
              </a:spcAft>
              <a:buFont typeface="Arial"/>
              <a:buChar char="•"/>
            </a:pPr>
            <a:r>
              <a:rPr sz="1400" b="0">
                <a:solidFill>
                  <a:srgbClr val="151714"/>
                </a:solidFill>
                <a:latin typeface="Segoe UI"/>
              </a:rPr>
              <a:t>Asset rights handover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REMAINING DEFECTS, GAPS, GATES AND DECISIONS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What is still open, by kind</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docs/quality-evidence-2026-09-15.md · docs/launch-rehearsal-2026-09-14.md §Remaining gates · docs/PROJECT-REPORT.md §10</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20</a:t>
            </a:r>
          </a:p>
        </p:txBody>
      </p:sp>
      <p:sp>
        <p:nvSpPr>
          <p:cNvPr id="7" name="Rectangle 6"/>
          <p:cNvSpPr/>
          <p:nvPr/>
        </p:nvSpPr>
        <p:spPr>
          <a:xfrm>
            <a:off x="612647" y="1664208"/>
            <a:ext cx="5440680" cy="2103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5440680" cy="21031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1764792"/>
            <a:ext cx="1828800" cy="274320"/>
          </a:xfrm>
          <a:prstGeom prst="rect">
            <a:avLst/>
          </a:prstGeom>
          <a:solidFill>
            <a:srgbClr val="CC1757"/>
          </a:solidFill>
          <a:ln w="15875">
            <a:solidFill>
              <a:srgbClr val="CC1757"/>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UNRESOLVED DEFECT</a:t>
            </a:r>
          </a:p>
        </p:txBody>
      </p:sp>
      <p:sp>
        <p:nvSpPr>
          <p:cNvPr id="10" name="TextBox 9"/>
          <p:cNvSpPr txBox="1"/>
          <p:nvPr/>
        </p:nvSpPr>
        <p:spPr>
          <a:xfrm>
            <a:off x="731520" y="2130552"/>
            <a:ext cx="50292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Unresolved defects</a:t>
            </a:r>
          </a:p>
        </p:txBody>
      </p:sp>
      <p:sp>
        <p:nvSpPr>
          <p:cNvPr id="11" name="TextBox 10"/>
          <p:cNvSpPr txBox="1"/>
          <p:nvPr/>
        </p:nvSpPr>
        <p:spPr>
          <a:xfrm>
            <a:off x="731520" y="2560320"/>
            <a:ext cx="5074920" cy="1097280"/>
          </a:xfrm>
          <a:prstGeom prst="rect">
            <a:avLst/>
          </a:prstGeom>
          <a:noFill/>
        </p:spPr>
        <p:txBody>
          <a:bodyPr wrap="square" lIns="18288" rIns="18288" tIns="9144" bIns="9144" anchor="t">
            <a:spAutoFit/>
          </a:bodyPr>
          <a:lstStyle/>
          <a:p>
            <a:pPr algn="l" marL="219456" indent="-182880">
              <a:lnSpc>
                <a:spcPct val="108000"/>
              </a:lnSpc>
              <a:spcAft>
                <a:spcPts val="300"/>
              </a:spcAft>
              <a:buFont typeface="Arial"/>
              <a:buChar char="•"/>
            </a:pPr>
            <a:r>
              <a:rPr sz="1350" b="0">
                <a:solidFill>
                  <a:srgbClr val="151714"/>
                </a:solidFill>
                <a:latin typeface="Segoe UI"/>
              </a:rPr>
              <a:t>Grounding errors in 6 of 10 personalization areas</a:t>
            </a:r>
          </a:p>
          <a:p>
            <a:pPr algn="l" marL="219456" indent="-182880">
              <a:lnSpc>
                <a:spcPct val="108000"/>
              </a:lnSpc>
              <a:spcAft>
                <a:spcPts val="300"/>
              </a:spcAft>
              <a:buFont typeface="Arial"/>
              <a:buChar char="•"/>
            </a:pPr>
            <a:r>
              <a:rPr sz="1350" b="0">
                <a:solidFill>
                  <a:srgbClr val="151714"/>
                </a:solidFill>
                <a:latin typeface="Segoe UI"/>
              </a:rPr>
              <a:t>Judge JSON unreliable; judge misgrades both ways</a:t>
            </a:r>
          </a:p>
        </p:txBody>
      </p:sp>
      <p:sp>
        <p:nvSpPr>
          <p:cNvPr id="12" name="Rectangle 11"/>
          <p:cNvSpPr/>
          <p:nvPr/>
        </p:nvSpPr>
        <p:spPr>
          <a:xfrm>
            <a:off x="6236208" y="1664208"/>
            <a:ext cx="5440680" cy="2103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00200"/>
            <a:ext cx="5440680" cy="21031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55080" y="1764792"/>
            <a:ext cx="1371600" cy="274320"/>
          </a:xfrm>
          <a:prstGeom prst="rect">
            <a:avLst/>
          </a:prstGeom>
          <a:solidFill>
            <a:srgbClr val="FFFCF2"/>
          </a:solidFill>
          <a:ln w="15875">
            <a:solidFill>
              <a:srgbClr val="15171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COVERAGE GAP</a:t>
            </a:r>
          </a:p>
        </p:txBody>
      </p:sp>
      <p:sp>
        <p:nvSpPr>
          <p:cNvPr id="15" name="TextBox 14"/>
          <p:cNvSpPr txBox="1"/>
          <p:nvPr/>
        </p:nvSpPr>
        <p:spPr>
          <a:xfrm>
            <a:off x="6355080" y="2130552"/>
            <a:ext cx="50292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Coverage gaps</a:t>
            </a:r>
          </a:p>
        </p:txBody>
      </p:sp>
      <p:sp>
        <p:nvSpPr>
          <p:cNvPr id="16" name="TextBox 15"/>
          <p:cNvSpPr txBox="1"/>
          <p:nvPr/>
        </p:nvSpPr>
        <p:spPr>
          <a:xfrm>
            <a:off x="6355080" y="2560320"/>
            <a:ext cx="5074920" cy="1097280"/>
          </a:xfrm>
          <a:prstGeom prst="rect">
            <a:avLst/>
          </a:prstGeom>
          <a:noFill/>
        </p:spPr>
        <p:txBody>
          <a:bodyPr wrap="square" lIns="18288" rIns="18288" tIns="9144" bIns="9144" anchor="t">
            <a:spAutoFit/>
          </a:bodyPr>
          <a:lstStyle/>
          <a:p>
            <a:pPr algn="l" marL="219456" indent="-182880">
              <a:lnSpc>
                <a:spcPct val="108000"/>
              </a:lnSpc>
              <a:spcAft>
                <a:spcPts val="300"/>
              </a:spcAft>
              <a:buFont typeface="Arial"/>
              <a:buChar char="•"/>
            </a:pPr>
            <a:r>
              <a:rPr sz="1350" b="0">
                <a:solidFill>
                  <a:srgbClr val="151714"/>
                </a:solidFill>
                <a:latin typeface="Segoe UI"/>
              </a:rPr>
              <a:t>Screen reader and physical phones</a:t>
            </a:r>
          </a:p>
          <a:p>
            <a:pPr algn="l" marL="219456" indent="-182880">
              <a:lnSpc>
                <a:spcPct val="108000"/>
              </a:lnSpc>
              <a:spcAft>
                <a:spcPts val="300"/>
              </a:spcAft>
              <a:buFont typeface="Arial"/>
              <a:buChar char="•"/>
            </a:pPr>
            <a:r>
              <a:rPr sz="1350" b="0">
                <a:solidFill>
                  <a:srgbClr val="151714"/>
                </a:solidFill>
                <a:latin typeface="Segoe UI"/>
              </a:rPr>
              <a:t>Load, multi-worker, real disconnects</a:t>
            </a:r>
          </a:p>
          <a:p>
            <a:pPr algn="l" marL="219456" indent="-182880">
              <a:lnSpc>
                <a:spcPct val="108000"/>
              </a:lnSpc>
              <a:spcAft>
                <a:spcPts val="300"/>
              </a:spcAft>
              <a:buFont typeface="Arial"/>
              <a:buChar char="•"/>
            </a:pPr>
            <a:r>
              <a:rPr sz="1350" b="0">
                <a:solidFill>
                  <a:srgbClr val="151714"/>
                </a:solidFill>
                <a:latin typeface="Segoe UI"/>
              </a:rPr>
              <a:t>No CI pipeline; no stream replay</a:t>
            </a:r>
          </a:p>
        </p:txBody>
      </p:sp>
      <p:sp>
        <p:nvSpPr>
          <p:cNvPr id="17" name="Rectangle 16"/>
          <p:cNvSpPr/>
          <p:nvPr/>
        </p:nvSpPr>
        <p:spPr>
          <a:xfrm>
            <a:off x="612647" y="3995928"/>
            <a:ext cx="5440680" cy="2103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31920"/>
            <a:ext cx="5440680" cy="21031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1520" y="4096511"/>
            <a:ext cx="1737360" cy="274320"/>
          </a:xfrm>
          <a:prstGeom prst="rect">
            <a:avLst/>
          </a:prstGeom>
          <a:solidFill>
            <a:srgbClr val="151714"/>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DA45"/>
                </a:solidFill>
                <a:latin typeface="Segoe UI Semibold"/>
              </a:rPr>
              <a:t>OPERATIONAL GATE</a:t>
            </a:r>
          </a:p>
        </p:txBody>
      </p:sp>
      <p:sp>
        <p:nvSpPr>
          <p:cNvPr id="20" name="TextBox 19"/>
          <p:cNvSpPr txBox="1"/>
          <p:nvPr/>
        </p:nvSpPr>
        <p:spPr>
          <a:xfrm>
            <a:off x="731520" y="4462272"/>
            <a:ext cx="50292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Operational gates</a:t>
            </a:r>
          </a:p>
        </p:txBody>
      </p:sp>
      <p:sp>
        <p:nvSpPr>
          <p:cNvPr id="21" name="TextBox 20"/>
          <p:cNvSpPr txBox="1"/>
          <p:nvPr/>
        </p:nvSpPr>
        <p:spPr>
          <a:xfrm>
            <a:off x="731520" y="4892040"/>
            <a:ext cx="5074920" cy="1097280"/>
          </a:xfrm>
          <a:prstGeom prst="rect">
            <a:avLst/>
          </a:prstGeom>
          <a:noFill/>
        </p:spPr>
        <p:txBody>
          <a:bodyPr wrap="square" lIns="18288" rIns="18288" tIns="9144" bIns="9144" anchor="t">
            <a:spAutoFit/>
          </a:bodyPr>
          <a:lstStyle/>
          <a:p>
            <a:pPr algn="l" marL="219456" indent="-182880">
              <a:lnSpc>
                <a:spcPct val="108000"/>
              </a:lnSpc>
              <a:spcAft>
                <a:spcPts val="300"/>
              </a:spcAft>
              <a:buFont typeface="Arial"/>
              <a:buChar char="•"/>
            </a:pPr>
            <a:r>
              <a:rPr sz="1350" b="0">
                <a:solidFill>
                  <a:srgbClr val="151714"/>
                </a:solidFill>
                <a:latin typeface="Segoe UI"/>
              </a:rPr>
              <a:t>Real domain, TLS, staging</a:t>
            </a:r>
          </a:p>
          <a:p>
            <a:pPr algn="l" marL="219456" indent="-182880">
              <a:lnSpc>
                <a:spcPct val="108000"/>
              </a:lnSpc>
              <a:spcAft>
                <a:spcPts val="300"/>
              </a:spcAft>
              <a:buFont typeface="Arial"/>
              <a:buChar char="•"/>
            </a:pPr>
            <a:r>
              <a:rPr sz="1350" b="0">
                <a:solidFill>
                  <a:srgbClr val="151714"/>
                </a:solidFill>
                <a:latin typeface="Segoe UI"/>
              </a:rPr>
              <a:t>Remote backup + scheduler + restore</a:t>
            </a:r>
          </a:p>
          <a:p>
            <a:pPr algn="l" marL="219456" indent="-182880">
              <a:lnSpc>
                <a:spcPct val="108000"/>
              </a:lnSpc>
              <a:spcAft>
                <a:spcPts val="300"/>
              </a:spcAft>
              <a:buFont typeface="Arial"/>
              <a:buChar char="•"/>
            </a:pPr>
            <a:r>
              <a:rPr sz="1350" b="0">
                <a:solidFill>
                  <a:srgbClr val="151714"/>
                </a:solidFill>
                <a:latin typeface="Segoe UI"/>
              </a:rPr>
              <a:t>Alert receipt; legacy memory audit</a:t>
            </a:r>
          </a:p>
        </p:txBody>
      </p:sp>
      <p:sp>
        <p:nvSpPr>
          <p:cNvPr id="22" name="Rectangle 21"/>
          <p:cNvSpPr/>
          <p:nvPr/>
        </p:nvSpPr>
        <p:spPr>
          <a:xfrm>
            <a:off x="6236208" y="3995928"/>
            <a:ext cx="5440680" cy="2103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931920"/>
            <a:ext cx="5440680" cy="21031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355080" y="4096511"/>
            <a:ext cx="1554480" cy="274320"/>
          </a:xfrm>
          <a:prstGeom prst="rect">
            <a:avLst/>
          </a:prstGeom>
          <a:solidFill>
            <a:srgbClr val="FF438A"/>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OWNER DECISION</a:t>
            </a:r>
          </a:p>
        </p:txBody>
      </p:sp>
      <p:sp>
        <p:nvSpPr>
          <p:cNvPr id="25" name="TextBox 24"/>
          <p:cNvSpPr txBox="1"/>
          <p:nvPr/>
        </p:nvSpPr>
        <p:spPr>
          <a:xfrm>
            <a:off x="6355080" y="4462272"/>
            <a:ext cx="5029200" cy="41148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Owner decisions</a:t>
            </a:r>
          </a:p>
        </p:txBody>
      </p:sp>
      <p:sp>
        <p:nvSpPr>
          <p:cNvPr id="26" name="TextBox 25"/>
          <p:cNvSpPr txBox="1"/>
          <p:nvPr/>
        </p:nvSpPr>
        <p:spPr>
          <a:xfrm>
            <a:off x="6355080" y="4892040"/>
            <a:ext cx="5074920" cy="1097280"/>
          </a:xfrm>
          <a:prstGeom prst="rect">
            <a:avLst/>
          </a:prstGeom>
          <a:noFill/>
        </p:spPr>
        <p:txBody>
          <a:bodyPr wrap="square" lIns="18288" rIns="18288" tIns="9144" bIns="9144" anchor="t">
            <a:spAutoFit/>
          </a:bodyPr>
          <a:lstStyle/>
          <a:p>
            <a:pPr algn="l" marL="219456" indent="-182880">
              <a:lnSpc>
                <a:spcPct val="108000"/>
              </a:lnSpc>
              <a:spcAft>
                <a:spcPts val="300"/>
              </a:spcAft>
              <a:buFont typeface="Arial"/>
              <a:buChar char="•"/>
            </a:pPr>
            <a:r>
              <a:rPr sz="1350" b="0">
                <a:solidFill>
                  <a:srgbClr val="151714"/>
                </a:solidFill>
                <a:latin typeface="Segoe UI"/>
              </a:rPr>
              <a:t>Signup mode, memory default</a:t>
            </a:r>
          </a:p>
          <a:p>
            <a:pPr algn="l" marL="219456" indent="-182880">
              <a:lnSpc>
                <a:spcPct val="108000"/>
              </a:lnSpc>
              <a:spcAft>
                <a:spcPts val="300"/>
              </a:spcAft>
              <a:buFont typeface="Arial"/>
              <a:buChar char="•"/>
            </a:pPr>
            <a:r>
              <a:rPr sz="1350" b="0">
                <a:solidFill>
                  <a:srgbClr val="151714"/>
                </a:solidFill>
                <a:latin typeface="Segoe UI"/>
              </a:rPr>
              <a:t>Quality bar and provider capacity</a:t>
            </a:r>
          </a:p>
          <a:p>
            <a:pPr algn="l" marL="219456" indent="-182880">
              <a:lnSpc>
                <a:spcPct val="108000"/>
              </a:lnSpc>
              <a:spcAft>
                <a:spcPts val="300"/>
              </a:spcAft>
              <a:buFont typeface="Arial"/>
              <a:buChar char="•"/>
            </a:pPr>
            <a:r>
              <a:rPr sz="1350" b="0">
                <a:solidFill>
                  <a:srgbClr val="151714"/>
                </a:solidFill>
                <a:latin typeface="Segoe UI"/>
              </a:rPr>
              <a:t>Retention, support, asset rights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ORDERED TAKEOVER CHECKLIST</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Your first ten moves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docs/PROJECT-REPORT.md §11 · docs/launch-rehearsal-2026-09-14.md · docs/MOBILE-ROADMAP.md §14</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21</a:t>
            </a:r>
          </a:p>
        </p:txBody>
      </p:sp>
      <p:sp>
        <p:nvSpPr>
          <p:cNvPr id="7" name="Rectangle 6"/>
          <p:cNvSpPr/>
          <p:nvPr/>
        </p:nvSpPr>
        <p:spPr>
          <a:xfrm>
            <a:off x="612647" y="1664208"/>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5440680" cy="73152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691640"/>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1</a:t>
            </a:r>
          </a:p>
        </p:txBody>
      </p:sp>
      <p:sp>
        <p:nvSpPr>
          <p:cNvPr id="10" name="TextBox 9"/>
          <p:cNvSpPr txBox="1"/>
          <p:nvPr/>
        </p:nvSpPr>
        <p:spPr>
          <a:xfrm>
            <a:off x="1325880" y="1691640"/>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Preserve and commit the working tree with the owner</a:t>
            </a:r>
          </a:p>
        </p:txBody>
      </p:sp>
      <p:sp>
        <p:nvSpPr>
          <p:cNvPr id="11" name="Rectangle 10"/>
          <p:cNvSpPr/>
          <p:nvPr/>
        </p:nvSpPr>
        <p:spPr>
          <a:xfrm>
            <a:off x="6236208" y="1664208"/>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600200"/>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09360" y="1691640"/>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2</a:t>
            </a:r>
          </a:p>
        </p:txBody>
      </p:sp>
      <p:sp>
        <p:nvSpPr>
          <p:cNvPr id="14" name="TextBox 13"/>
          <p:cNvSpPr txBox="1"/>
          <p:nvPr/>
        </p:nvSpPr>
        <p:spPr>
          <a:xfrm>
            <a:off x="6949440" y="1691640"/>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Reproduce all local checks</a:t>
            </a:r>
          </a:p>
        </p:txBody>
      </p:sp>
      <p:sp>
        <p:nvSpPr>
          <p:cNvPr id="15" name="Rectangle 14"/>
          <p:cNvSpPr/>
          <p:nvPr/>
        </p:nvSpPr>
        <p:spPr>
          <a:xfrm>
            <a:off x="612647" y="2569464"/>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505456"/>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2596896"/>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3</a:t>
            </a:r>
          </a:p>
        </p:txBody>
      </p:sp>
      <p:sp>
        <p:nvSpPr>
          <p:cNvPr id="18" name="TextBox 17"/>
          <p:cNvSpPr txBox="1"/>
          <p:nvPr/>
        </p:nvSpPr>
        <p:spPr>
          <a:xfrm>
            <a:off x="1325880" y="2596896"/>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Remove only the old rehearsal Docker project</a:t>
            </a:r>
          </a:p>
        </p:txBody>
      </p:sp>
      <p:sp>
        <p:nvSpPr>
          <p:cNvPr id="19" name="Rectangle 18"/>
          <p:cNvSpPr/>
          <p:nvPr/>
        </p:nvSpPr>
        <p:spPr>
          <a:xfrm>
            <a:off x="6236208" y="2569464"/>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2505456"/>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2596896"/>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4</a:t>
            </a:r>
          </a:p>
        </p:txBody>
      </p:sp>
      <p:sp>
        <p:nvSpPr>
          <p:cNvPr id="22" name="TextBox 21"/>
          <p:cNvSpPr txBox="1"/>
          <p:nvPr/>
        </p:nvSpPr>
        <p:spPr>
          <a:xfrm>
            <a:off x="6949440" y="2596896"/>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Collect owner decisions</a:t>
            </a:r>
          </a:p>
        </p:txBody>
      </p:sp>
      <p:sp>
        <p:nvSpPr>
          <p:cNvPr id="23" name="Rectangle 22"/>
          <p:cNvSpPr/>
          <p:nvPr/>
        </p:nvSpPr>
        <p:spPr>
          <a:xfrm>
            <a:off x="612647" y="3474720"/>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410712"/>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5800" y="3502152"/>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5</a:t>
            </a:r>
          </a:p>
        </p:txBody>
      </p:sp>
      <p:sp>
        <p:nvSpPr>
          <p:cNvPr id="26" name="TextBox 25"/>
          <p:cNvSpPr txBox="1"/>
          <p:nvPr/>
        </p:nvSpPr>
        <p:spPr>
          <a:xfrm>
            <a:off x="1325880" y="3502152"/>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Fix and re-measure answer quality</a:t>
            </a:r>
          </a:p>
        </p:txBody>
      </p:sp>
      <p:sp>
        <p:nvSpPr>
          <p:cNvPr id="27" name="Rectangle 26"/>
          <p:cNvSpPr/>
          <p:nvPr/>
        </p:nvSpPr>
        <p:spPr>
          <a:xfrm>
            <a:off x="6236208" y="3474720"/>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3410712"/>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09360" y="3502152"/>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6</a:t>
            </a:r>
          </a:p>
        </p:txBody>
      </p:sp>
      <p:sp>
        <p:nvSpPr>
          <p:cNvPr id="30" name="TextBox 29"/>
          <p:cNvSpPr txBox="1"/>
          <p:nvPr/>
        </p:nvSpPr>
        <p:spPr>
          <a:xfrm>
            <a:off x="6949440" y="3502152"/>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Stage on the real HTTPS domain</a:t>
            </a:r>
          </a:p>
        </p:txBody>
      </p:sp>
      <p:sp>
        <p:nvSpPr>
          <p:cNvPr id="31" name="Rectangle 30"/>
          <p:cNvSpPr/>
          <p:nvPr/>
        </p:nvSpPr>
        <p:spPr>
          <a:xfrm>
            <a:off x="612647" y="4379976"/>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315968"/>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5800" y="4407407"/>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7</a:t>
            </a:r>
          </a:p>
        </p:txBody>
      </p:sp>
      <p:sp>
        <p:nvSpPr>
          <p:cNvPr id="34" name="TextBox 33"/>
          <p:cNvSpPr txBox="1"/>
          <p:nvPr/>
        </p:nvSpPr>
        <p:spPr>
          <a:xfrm>
            <a:off x="1325880" y="4407407"/>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Remote backups, scheduler, restore</a:t>
            </a:r>
          </a:p>
        </p:txBody>
      </p:sp>
      <p:sp>
        <p:nvSpPr>
          <p:cNvPr id="35" name="Rectangle 34"/>
          <p:cNvSpPr/>
          <p:nvPr/>
        </p:nvSpPr>
        <p:spPr>
          <a:xfrm>
            <a:off x="6236208" y="4379976"/>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72200" y="4315968"/>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09360" y="4407407"/>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8</a:t>
            </a:r>
          </a:p>
        </p:txBody>
      </p:sp>
      <p:sp>
        <p:nvSpPr>
          <p:cNvPr id="38" name="TextBox 37"/>
          <p:cNvSpPr txBox="1"/>
          <p:nvPr/>
        </p:nvSpPr>
        <p:spPr>
          <a:xfrm>
            <a:off x="6949440" y="4407407"/>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Confirm a person gets alerts</a:t>
            </a:r>
          </a:p>
        </p:txBody>
      </p:sp>
      <p:sp>
        <p:nvSpPr>
          <p:cNvPr id="39" name="Rectangle 38"/>
          <p:cNvSpPr/>
          <p:nvPr/>
        </p:nvSpPr>
        <p:spPr>
          <a:xfrm>
            <a:off x="612647" y="5285232"/>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221224"/>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5800" y="5312664"/>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9</a:t>
            </a:r>
          </a:p>
        </p:txBody>
      </p:sp>
      <p:sp>
        <p:nvSpPr>
          <p:cNvPr id="42" name="TextBox 41"/>
          <p:cNvSpPr txBox="1"/>
          <p:nvPr/>
        </p:nvSpPr>
        <p:spPr>
          <a:xfrm>
            <a:off x="1325880" y="5312664"/>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Phones, screen reader, memory audit → beta call</a:t>
            </a:r>
          </a:p>
        </p:txBody>
      </p:sp>
      <p:sp>
        <p:nvSpPr>
          <p:cNvPr id="43" name="Rectangle 42"/>
          <p:cNvSpPr/>
          <p:nvPr/>
        </p:nvSpPr>
        <p:spPr>
          <a:xfrm>
            <a:off x="6236208" y="5285232"/>
            <a:ext cx="5440680" cy="7315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5221224"/>
            <a:ext cx="5440680" cy="7315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09360" y="5312664"/>
            <a:ext cx="594360" cy="548640"/>
          </a:xfrm>
          <a:prstGeom prst="rect">
            <a:avLst/>
          </a:prstGeom>
          <a:noFill/>
        </p:spPr>
        <p:txBody>
          <a:bodyPr wrap="square" lIns="18288" rIns="18288" tIns="9144" bIns="9144" anchor="ctr">
            <a:spAutoFit/>
          </a:bodyPr>
          <a:lstStyle/>
          <a:p>
            <a:pPr algn="l">
              <a:lnSpc>
                <a:spcPct val="108000"/>
              </a:lnSpc>
              <a:spcAft>
                <a:spcPts val="400"/>
              </a:spcAft>
            </a:pPr>
            <a:r>
              <a:rPr sz="2400" b="0">
                <a:solidFill>
                  <a:srgbClr val="CC1757"/>
                </a:solidFill>
                <a:latin typeface="Arial Black"/>
              </a:rPr>
              <a:t>10</a:t>
            </a:r>
          </a:p>
        </p:txBody>
      </p:sp>
      <p:sp>
        <p:nvSpPr>
          <p:cNvPr id="46" name="TextBox 45"/>
          <p:cNvSpPr txBox="1"/>
          <p:nvPr/>
        </p:nvSpPr>
        <p:spPr>
          <a:xfrm>
            <a:off x="6949440" y="5312664"/>
            <a:ext cx="4526280" cy="54864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Then: mobile feasibility spike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DA45"/>
        </a:solidFill>
        <a:effectLst/>
      </p:bgPr>
    </p:bg>
    <p:spTree>
      <p:nvGrpSpPr>
        <p:cNvPr id="1" name=""/>
        <p:cNvGrpSpPr/>
        <p:nvPr/>
      </p:nvGrpSpPr>
      <p:grpSpPr/>
      <p:cxnSp>
        <p:nvCxnSpPr>
          <p:cNvPr id="2" name="Connector 1"/>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HEAD 1ed17eb + uncommitted working tree · prepared 2026-09-15</a:t>
            </a:r>
          </a:p>
        </p:txBody>
      </p:sp>
      <p:sp>
        <p:nvSpPr>
          <p:cNvPr id="4" name="TextBox 3"/>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22</a:t>
            </a:r>
          </a:p>
        </p:txBody>
      </p:sp>
      <p:sp>
        <p:nvSpPr>
          <p:cNvPr id="5" name="TextBox 4"/>
          <p:cNvSpPr txBox="1"/>
          <p:nvPr/>
        </p:nvSpPr>
        <p:spPr>
          <a:xfrm>
            <a:off x="548640" y="2103120"/>
            <a:ext cx="10972800" cy="1097280"/>
          </a:xfrm>
          <a:prstGeom prst="rect">
            <a:avLst/>
          </a:prstGeom>
          <a:noFill/>
        </p:spPr>
        <p:txBody>
          <a:bodyPr wrap="square" lIns="18288" rIns="18288" tIns="9144" bIns="9144" anchor="t">
            <a:spAutoFit/>
          </a:bodyPr>
          <a:lstStyle/>
          <a:p>
            <a:pPr algn="l">
              <a:lnSpc>
                <a:spcPct val="108000"/>
              </a:lnSpc>
              <a:spcAft>
                <a:spcPts val="400"/>
              </a:spcAft>
            </a:pPr>
            <a:r>
              <a:rPr sz="6000" b="0">
                <a:solidFill>
                  <a:srgbClr val="151714"/>
                </a:solidFill>
                <a:latin typeface="Arial Black"/>
              </a:rPr>
              <a:t>Appendix</a:t>
            </a:r>
          </a:p>
        </p:txBody>
      </p:sp>
      <p:sp>
        <p:nvSpPr>
          <p:cNvPr id="6" name="TextBox 5"/>
          <p:cNvSpPr txBox="1"/>
          <p:nvPr/>
        </p:nvSpPr>
        <p:spPr>
          <a:xfrm>
            <a:off x="566928" y="3291840"/>
            <a:ext cx="10972800" cy="1645920"/>
          </a:xfrm>
          <a:prstGeom prst="rect">
            <a:avLst/>
          </a:prstGeom>
          <a:noFill/>
        </p:spPr>
        <p:txBody>
          <a:bodyPr wrap="square" lIns="18288" rIns="18288" tIns="9144" bIns="9144" anchor="t">
            <a:spAutoFit/>
          </a:bodyPr>
          <a:lstStyle/>
          <a:p>
            <a:pPr algn="l">
              <a:lnSpc>
                <a:spcPct val="108000"/>
              </a:lnSpc>
              <a:spcAft>
                <a:spcPts val="600"/>
              </a:spcAft>
            </a:pPr>
            <a:r>
              <a:rPr sz="1800" b="0">
                <a:solidFill>
                  <a:srgbClr val="151714"/>
                </a:solidFill>
                <a:latin typeface="Segoe UI Semibold"/>
              </a:rPr>
              <a:t>A1  API surface</a:t>
            </a:r>
          </a:p>
          <a:p>
            <a:pPr algn="l">
              <a:lnSpc>
                <a:spcPct val="108000"/>
              </a:lnSpc>
              <a:spcAft>
                <a:spcPts val="600"/>
              </a:spcAft>
            </a:pPr>
            <a:r>
              <a:rPr sz="1800" b="0">
                <a:solidFill>
                  <a:srgbClr val="151714"/>
                </a:solidFill>
                <a:latin typeface="Segoe UI Semibold"/>
              </a:rPr>
              <a:t>A2  Configuration (names only)</a:t>
            </a:r>
          </a:p>
          <a:p>
            <a:pPr algn="l">
              <a:lnSpc>
                <a:spcPct val="108000"/>
              </a:lnSpc>
              <a:spcAft>
                <a:spcPts val="600"/>
              </a:spcAft>
            </a:pPr>
            <a:r>
              <a:rPr sz="1800" b="0">
                <a:solidFill>
                  <a:srgbClr val="151714"/>
                </a:solidFill>
                <a:latin typeface="Segoe UI Semibold"/>
              </a:rPr>
              <a:t>A3  Reproducible commands</a:t>
            </a:r>
          </a:p>
          <a:p>
            <a:pPr algn="l">
              <a:lnSpc>
                <a:spcPct val="108000"/>
              </a:lnSpc>
              <a:spcAft>
                <a:spcPts val="600"/>
              </a:spcAft>
            </a:pPr>
            <a:r>
              <a:rPr sz="1800" b="0">
                <a:solidFill>
                  <a:srgbClr val="151714"/>
                </a:solidFill>
                <a:latin typeface="Segoe UI Semibold"/>
              </a:rPr>
              <a:t>A4  More screens</a:t>
            </a:r>
          </a:p>
          <a:p>
            <a:pPr algn="l">
              <a:lnSpc>
                <a:spcPct val="108000"/>
              </a:lnSpc>
              <a:spcAft>
                <a:spcPts val="600"/>
              </a:spcAft>
            </a:pPr>
            <a:r>
              <a:rPr sz="1800" b="0">
                <a:solidFill>
                  <a:srgbClr val="151714"/>
                </a:solidFill>
                <a:latin typeface="Segoe UI Semibold"/>
              </a:rPr>
              <a:t>A5  Evidence index and document discrepancies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A1 · API surface (all under /api)</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backend/app/api/routes/* · frontend/src/types/index.ts · docs/PROJECT-REPORT.md §7</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23</a:t>
            </a:r>
          </a:p>
        </p:txBody>
      </p:sp>
      <p:graphicFrame>
        <p:nvGraphicFramePr>
          <p:cNvPr id="7" name="Table 6"/>
          <p:cNvGraphicFramePr>
            <a:graphicFrameLocks noGrp="1"/>
          </p:cNvGraphicFramePr>
          <p:nvPr/>
        </p:nvGraphicFramePr>
        <p:xfrm>
          <a:off x="548640" y="1554480"/>
          <a:ext cx="11100815" cy="4526280"/>
        </p:xfrm>
        <a:graphic>
          <a:graphicData uri="http://schemas.openxmlformats.org/drawingml/2006/table">
            <a:tbl>
              <a:tblPr firstRow="1" bandRow="1">
                <a:tableStyleId>{5940675A-B579-460E-94D1-54222C63F5DA}</a:tableStyleId>
              </a:tblPr>
              <a:tblGrid>
                <a:gridCol w="1651361"/>
                <a:gridCol w="6605444"/>
                <a:gridCol w="2844010"/>
              </a:tblGrid>
              <a:tr h="502920">
                <a:tc>
                  <a:txBody>
                    <a:bodyPr wrap="square"/>
                    <a:lstStyle/>
                    <a:p>
                      <a:r>
                        <a:rPr sz="1250">
                          <a:solidFill>
                            <a:srgbClr val="151714"/>
                          </a:solidFill>
                          <a:latin typeface="Segoe UI Semibold"/>
                        </a:rPr>
                        <a:t>Area</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Endpoints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Notes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502920">
                <a:tc>
                  <a:txBody>
                    <a:bodyPr wrap="square"/>
                    <a:lstStyle/>
                    <a:p>
                      <a:r>
                        <a:rPr sz="1250">
                          <a:solidFill>
                            <a:srgbClr val="151714"/>
                          </a:solidFill>
                          <a:latin typeface="Segoe UI Semibold"/>
                        </a:rPr>
                        <a:t>Auth</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status · login · signup · recover · logout · account · password · recovery-codes · sign-out-everywhere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Signup gated by SIGNUP_ENABLED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02920">
                <a:tc>
                  <a:txBody>
                    <a:bodyPr wrap="square"/>
                    <a:lstStyle/>
                    <a:p>
                      <a:r>
                        <a:rPr sz="1250">
                          <a:solidFill>
                            <a:srgbClr val="151714"/>
                          </a:solidFill>
                          <a:latin typeface="Segoe UI Semibold"/>
                        </a:rPr>
                        <a:t>User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users/me (GET, PATCH) · users/me/export · users/me/delete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Delete needs confirm: DELETE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02920">
                <a:tc>
                  <a:txBody>
                    <a:bodyPr wrap="square"/>
                    <a:lstStyle/>
                    <a:p>
                      <a:r>
                        <a:rPr sz="1250">
                          <a:solidFill>
                            <a:srgbClr val="151714"/>
                          </a:solidFill>
                          <a:latin typeface="Segoe UI Semibold"/>
                        </a:rPr>
                        <a:t>Agents &amp; chat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agents · agents/{id} · agents/{id}/chat/stream (SSE)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Sync chat is 404 in production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02920">
                <a:tc>
                  <a:txBody>
                    <a:bodyPr wrap="square"/>
                    <a:lstStyle/>
                    <a:p>
                      <a:r>
                        <a:rPr sz="1250">
                          <a:solidFill>
                            <a:srgbClr val="151714"/>
                          </a:solidFill>
                          <a:latin typeface="Segoe UI Semibold"/>
                        </a:rPr>
                        <a:t>Conversations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conversations (GET, POST) · conversations/{id} (GET, DELETE)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Ownership checked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02920">
                <a:tc>
                  <a:txBody>
                    <a:bodyPr wrap="square"/>
                    <a:lstStyle/>
                    <a:p>
                      <a:r>
                        <a:rPr sz="1250">
                          <a:solidFill>
                            <a:srgbClr val="151714"/>
                          </a:solidFill>
                          <a:latin typeface="Segoe UI Semibold"/>
                        </a:rPr>
                        <a:t>Memory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memory/shared[/{id}] · memory/agent/{agent_id} · memory/agent[/{id}]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Explicit null → 422</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02920">
                <a:tc>
                  <a:txBody>
                    <a:bodyPr wrap="square"/>
                    <a:lstStyle/>
                    <a:p>
                      <a:r>
                        <a:rPr sz="1250">
                          <a:solidFill>
                            <a:srgbClr val="151714"/>
                          </a:solidFill>
                          <a:latin typeface="Segoe UI Semibold"/>
                        </a:rPr>
                        <a:t>Goals &amp; Today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goals[/{id}] · briefings/today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No calendar integration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02920">
                <a:tc>
                  <a:txBody>
                    <a:bodyPr wrap="square"/>
                    <a:lstStyle/>
                    <a:p>
                      <a:r>
                        <a:rPr sz="1250">
                          <a:solidFill>
                            <a:srgbClr val="151714"/>
                          </a:solidFill>
                          <a:latin typeface="Segoe UI Semibold"/>
                        </a:rPr>
                        <a:t>Team</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team/ask</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404 while TEAM_ENABLED=false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02920">
                <a:tc>
                  <a:txBody>
                    <a:bodyPr wrap="square"/>
                    <a:lstStyle/>
                    <a:p>
                      <a:r>
                        <a:rPr sz="1250">
                          <a:solidFill>
                            <a:srgbClr val="151714"/>
                          </a:solidFill>
                          <a:latin typeface="Segoe UI Semibold"/>
                        </a:rPr>
                        <a:t>Health &amp; admin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health · health/detail · legal/privacy · admin/dashboard · admin/metrics · admin/test-alert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Admin = ADMIN_ACCOUNTS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A2 · Configuration — names only, never values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backend/app/core/config.py · deploy/.env.example · docs/PROJECT-REPORT.md §8 · docs/OPERATIONS.md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24</a:t>
            </a:r>
          </a:p>
        </p:txBody>
      </p:sp>
      <p:sp>
        <p:nvSpPr>
          <p:cNvPr id="7" name="Rectangle 6"/>
          <p:cNvSpPr/>
          <p:nvPr/>
        </p:nvSpPr>
        <p:spPr>
          <a:xfrm>
            <a:off x="612647" y="1636776"/>
            <a:ext cx="11100816" cy="786384"/>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11100816" cy="786384"/>
          </a:xfrm>
          <a:prstGeom prst="rect">
            <a:avLst/>
          </a:prstGeom>
          <a:solidFill>
            <a:srgbClr val="FFF7DF"/>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572768"/>
            <a:ext cx="2240280" cy="78638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572768"/>
            <a:ext cx="2011680" cy="7863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App &amp; auth</a:t>
            </a:r>
          </a:p>
        </p:txBody>
      </p:sp>
      <p:sp>
        <p:nvSpPr>
          <p:cNvPr id="11" name="TextBox 10"/>
          <p:cNvSpPr txBox="1"/>
          <p:nvPr/>
        </p:nvSpPr>
        <p:spPr>
          <a:xfrm>
            <a:off x="2926080" y="1609344"/>
            <a:ext cx="8595360" cy="731520"/>
          </a:xfrm>
          <a:prstGeom prst="rect">
            <a:avLst/>
          </a:prstGeom>
          <a:noFill/>
        </p:spPr>
        <p:txBody>
          <a:bodyPr wrap="square" lIns="18288" rIns="18288" tIns="9144" bIns="9144" anchor="ctr">
            <a:spAutoFit/>
          </a:bodyPr>
          <a:lstStyle/>
          <a:p>
            <a:pPr algn="l">
              <a:lnSpc>
                <a:spcPct val="115000"/>
              </a:lnSpc>
              <a:spcAft>
                <a:spcPts val="400"/>
              </a:spcAft>
            </a:pPr>
            <a:r>
              <a:rPr sz="1200" b="0">
                <a:solidFill>
                  <a:srgbClr val="151714"/>
                </a:solidFill>
                <a:latin typeface="Segoe UI Semibold"/>
              </a:rPr>
              <a:t>APP_NAME   ·   ENVIRONMENT   ·   DEBUG   ·   AUTH_REQUIRED   ·   AUTH_SECRET   ·   AUTH_ACCESS_KEYS   ·   SESSION_SECONDS   ·   SIGNUP_ENABLED   ·   TEAM_ENABLED   ·   ADMIN_ACCOUNTS</a:t>
            </a:r>
          </a:p>
        </p:txBody>
      </p:sp>
      <p:sp>
        <p:nvSpPr>
          <p:cNvPr id="12" name="Rectangle 11"/>
          <p:cNvSpPr/>
          <p:nvPr/>
        </p:nvSpPr>
        <p:spPr>
          <a:xfrm>
            <a:off x="548640" y="2496312"/>
            <a:ext cx="11100816" cy="786384"/>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496312"/>
            <a:ext cx="2240280" cy="786384"/>
          </a:xfrm>
          <a:prstGeom prst="rect">
            <a:avLst/>
          </a:prstGeom>
          <a:solidFill>
            <a:srgbClr val="FFEBA6"/>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496312"/>
            <a:ext cx="2011680" cy="7863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Web &amp; data</a:t>
            </a:r>
          </a:p>
        </p:txBody>
      </p:sp>
      <p:sp>
        <p:nvSpPr>
          <p:cNvPr id="15" name="TextBox 14"/>
          <p:cNvSpPr txBox="1"/>
          <p:nvPr/>
        </p:nvSpPr>
        <p:spPr>
          <a:xfrm>
            <a:off x="2926080" y="2532888"/>
            <a:ext cx="8595360" cy="731520"/>
          </a:xfrm>
          <a:prstGeom prst="rect">
            <a:avLst/>
          </a:prstGeom>
          <a:noFill/>
        </p:spPr>
        <p:txBody>
          <a:bodyPr wrap="square" lIns="18288" rIns="18288" tIns="9144" bIns="9144" anchor="ctr">
            <a:spAutoFit/>
          </a:bodyPr>
          <a:lstStyle/>
          <a:p>
            <a:pPr algn="l">
              <a:lnSpc>
                <a:spcPct val="115000"/>
              </a:lnSpc>
              <a:spcAft>
                <a:spcPts val="400"/>
              </a:spcAft>
            </a:pPr>
            <a:r>
              <a:rPr sz="1200" b="0">
                <a:solidFill>
                  <a:srgbClr val="151714"/>
                </a:solidFill>
                <a:latin typeface="Segoe UI Semibold"/>
              </a:rPr>
              <a:t>DOMAIN   ·   DB_PASSWORD   ·   DATABASE_URL   ·   FRONTEND_URL   ·   NEXT_PUBLIC_API_URL   ·   BACKEND_URL</a:t>
            </a:r>
          </a:p>
        </p:txBody>
      </p:sp>
      <p:sp>
        <p:nvSpPr>
          <p:cNvPr id="16" name="Rectangle 15"/>
          <p:cNvSpPr/>
          <p:nvPr/>
        </p:nvSpPr>
        <p:spPr>
          <a:xfrm>
            <a:off x="548640" y="3419856"/>
            <a:ext cx="11100816" cy="786384"/>
          </a:xfrm>
          <a:prstGeom prst="rect">
            <a:avLst/>
          </a:prstGeom>
          <a:solidFill>
            <a:srgbClr val="FFF7DF"/>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3419856"/>
            <a:ext cx="2240280" cy="78638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419856"/>
            <a:ext cx="2011680" cy="7863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Model &amp; memory</a:t>
            </a:r>
          </a:p>
        </p:txBody>
      </p:sp>
      <p:sp>
        <p:nvSpPr>
          <p:cNvPr id="19" name="TextBox 18"/>
          <p:cNvSpPr txBox="1"/>
          <p:nvPr/>
        </p:nvSpPr>
        <p:spPr>
          <a:xfrm>
            <a:off x="2926080" y="3456432"/>
            <a:ext cx="8595360" cy="731520"/>
          </a:xfrm>
          <a:prstGeom prst="rect">
            <a:avLst/>
          </a:prstGeom>
          <a:noFill/>
        </p:spPr>
        <p:txBody>
          <a:bodyPr wrap="square" lIns="18288" rIns="18288" tIns="9144" bIns="9144" anchor="ctr">
            <a:spAutoFit/>
          </a:bodyPr>
          <a:lstStyle/>
          <a:p>
            <a:pPr algn="l">
              <a:lnSpc>
                <a:spcPct val="115000"/>
              </a:lnSpc>
              <a:spcAft>
                <a:spcPts val="400"/>
              </a:spcAft>
            </a:pPr>
            <a:r>
              <a:rPr sz="1200" b="0">
                <a:solidFill>
                  <a:srgbClr val="151714"/>
                </a:solidFill>
                <a:latin typeface="Segoe UI Semibold"/>
              </a:rPr>
              <a:t>LLM_PROVIDER   ·   LLM_API_KEY   ·   LLM_MODEL   ·   LLM_BASE_URL   ·   LLM_REASONING_EFFORT   ·   LLM_TIMEOUT_SECONDS   ·   LLM_MAX_TOKENS   ·   LLM_TEMPERATURE   ·   MEMORY_EXTRACTION   ·   MEMORY_TIMEOUT_SECONDS   ·   MEMORY_STORE_SENSITIVE   ·   MEMORY_MIN_CONFIDENCE</a:t>
            </a:r>
          </a:p>
        </p:txBody>
      </p:sp>
      <p:sp>
        <p:nvSpPr>
          <p:cNvPr id="20" name="Rectangle 19"/>
          <p:cNvSpPr/>
          <p:nvPr/>
        </p:nvSpPr>
        <p:spPr>
          <a:xfrm>
            <a:off x="548640" y="4343400"/>
            <a:ext cx="11100816" cy="786384"/>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4343400"/>
            <a:ext cx="2240280" cy="786384"/>
          </a:xfrm>
          <a:prstGeom prst="rect">
            <a:avLst/>
          </a:prstGeom>
          <a:solidFill>
            <a:srgbClr val="FFEBA6"/>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4343400"/>
            <a:ext cx="2011680" cy="7863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Limits &amp; alerts</a:t>
            </a:r>
          </a:p>
        </p:txBody>
      </p:sp>
      <p:sp>
        <p:nvSpPr>
          <p:cNvPr id="23" name="TextBox 22"/>
          <p:cNvSpPr txBox="1"/>
          <p:nvPr/>
        </p:nvSpPr>
        <p:spPr>
          <a:xfrm>
            <a:off x="2926080" y="4379976"/>
            <a:ext cx="8595360" cy="731520"/>
          </a:xfrm>
          <a:prstGeom prst="rect">
            <a:avLst/>
          </a:prstGeom>
          <a:noFill/>
        </p:spPr>
        <p:txBody>
          <a:bodyPr wrap="square" lIns="18288" rIns="18288" tIns="9144" bIns="9144" anchor="ctr">
            <a:spAutoFit/>
          </a:bodyPr>
          <a:lstStyle/>
          <a:p>
            <a:pPr algn="l">
              <a:lnSpc>
                <a:spcPct val="115000"/>
              </a:lnSpc>
              <a:spcAft>
                <a:spcPts val="400"/>
              </a:spcAft>
            </a:pPr>
            <a:r>
              <a:rPr sz="1200" b="0">
                <a:solidFill>
                  <a:srgbClr val="151714"/>
                </a:solidFill>
                <a:latin typeface="Segoe UI Semibold"/>
              </a:rPr>
              <a:t>ACCOUNT_REQUESTS_PER_MINUTE   ·   ACCOUNT_DAILY_TOKEN_BUDGET   ·   ALERT_WEBHOOK_URL   ·   ALERT_TELEGRAM_BOT_TOKEN   ·   ALERT_TELEGRAM_CHAT_ID   ·   ALERT_ERROR_THRESHOLD</a:t>
            </a:r>
          </a:p>
        </p:txBody>
      </p:sp>
      <p:sp>
        <p:nvSpPr>
          <p:cNvPr id="24" name="Rectangle 23"/>
          <p:cNvSpPr/>
          <p:nvPr/>
        </p:nvSpPr>
        <p:spPr>
          <a:xfrm>
            <a:off x="548640" y="5266944"/>
            <a:ext cx="11100816" cy="786384"/>
          </a:xfrm>
          <a:prstGeom prst="rect">
            <a:avLst/>
          </a:prstGeom>
          <a:solidFill>
            <a:srgbClr val="FFF7DF"/>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5266944"/>
            <a:ext cx="2240280" cy="78638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5266944"/>
            <a:ext cx="2011680" cy="7863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Backups &amp; watchdog</a:t>
            </a:r>
          </a:p>
        </p:txBody>
      </p:sp>
      <p:sp>
        <p:nvSpPr>
          <p:cNvPr id="27" name="TextBox 26"/>
          <p:cNvSpPr txBox="1"/>
          <p:nvPr/>
        </p:nvSpPr>
        <p:spPr>
          <a:xfrm>
            <a:off x="2926080" y="5303520"/>
            <a:ext cx="8595360" cy="731520"/>
          </a:xfrm>
          <a:prstGeom prst="rect">
            <a:avLst/>
          </a:prstGeom>
          <a:noFill/>
        </p:spPr>
        <p:txBody>
          <a:bodyPr wrap="square" lIns="18288" rIns="18288" tIns="9144" bIns="9144" anchor="ctr">
            <a:spAutoFit/>
          </a:bodyPr>
          <a:lstStyle/>
          <a:p>
            <a:pPr algn="l">
              <a:lnSpc>
                <a:spcPct val="115000"/>
              </a:lnSpc>
              <a:spcAft>
                <a:spcPts val="400"/>
              </a:spcAft>
            </a:pPr>
            <a:r>
              <a:rPr sz="1200" b="0">
                <a:solidFill>
                  <a:srgbClr val="151714"/>
                </a:solidFill>
                <a:latin typeface="Segoe UI Semibold"/>
              </a:rPr>
              <a:t>MODEER_COMPOSE_FILE   ·   MODEER_BACKUP_DIR   ·   MODEER_BACKUP_OFFHOST   ·   MODEER_BACKUP_KEEP_DAYS   ·   MODEER_BACKUP_PASSPHRASE_FILE   ·   MODEER_URL   ·   MODEER_WATCHDOG_STATE   ·   MODEER_WATCHDOG_TIMEOUT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A3 · Reproduce the checks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docs/PROJECT-REPORT.md §10 · docs/production-readiness-review-2026-09-14.md · docs/launch-rehearsal-2026-09-14.md · docs/quality-evidence-2026-09-15.md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25</a:t>
            </a:r>
          </a:p>
        </p:txBody>
      </p:sp>
      <p:sp>
        <p:nvSpPr>
          <p:cNvPr id="7" name="Rectangle 6"/>
          <p:cNvSpPr/>
          <p:nvPr/>
        </p:nvSpPr>
        <p:spPr>
          <a:xfrm>
            <a:off x="612647" y="1664208"/>
            <a:ext cx="548640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5486400" cy="4526280"/>
          </a:xfrm>
          <a:prstGeom prst="rect">
            <a:avLst/>
          </a:prstGeom>
          <a:solidFill>
            <a:srgbClr val="151714"/>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737360"/>
            <a:ext cx="5212080" cy="4297680"/>
          </a:xfrm>
          <a:prstGeom prst="rect">
            <a:avLst/>
          </a:prstGeom>
          <a:noFill/>
        </p:spPr>
        <p:txBody>
          <a:bodyPr wrap="square" lIns="18288" rIns="18288" tIns="9144" bIns="9144" anchor="t">
            <a:spAutoFit/>
          </a:bodyPr>
          <a:lstStyle/>
          <a:p>
            <a:pPr algn="l">
              <a:lnSpc>
                <a:spcPct val="108000"/>
              </a:lnSpc>
              <a:spcAft>
                <a:spcPts val="100"/>
              </a:spcAft>
            </a:pPr>
            <a:r>
              <a:rPr sz="1300" b="0">
                <a:solidFill>
                  <a:srgbClr val="FFF7DF"/>
                </a:solidFill>
                <a:latin typeface="Consolas"/>
              </a:rPr>
              <a:t># backend</a:t>
            </a:r>
          </a:p>
          <a:p>
            <a:pPr algn="l">
              <a:lnSpc>
                <a:spcPct val="108000"/>
              </a:lnSpc>
              <a:spcAft>
                <a:spcPts val="100"/>
              </a:spcAft>
            </a:pPr>
            <a:r>
              <a:rPr sz="1300" b="0">
                <a:solidFill>
                  <a:srgbClr val="FFF7DF"/>
                </a:solidFill>
                <a:latin typeface="Consolas"/>
              </a:rPr>
              <a:t>.venv/Scripts/python.exe -m pytest -q</a:t>
            </a:r>
          </a:p>
          <a:p>
            <a:pPr algn="l">
              <a:lnSpc>
                <a:spcPct val="108000"/>
              </a:lnSpc>
              <a:spcAft>
                <a:spcPts val="100"/>
              </a:spcAft>
            </a:pPr>
            <a:r>
              <a:rPr sz="1300" b="0">
                <a:solidFill>
                  <a:srgbClr val="FFF7DF"/>
                </a:solidFill>
                <a:latin typeface="Consolas"/>
              </a:rPr>
              <a:t>.venv/Scripts/python.exe -m ruff check .</a:t>
            </a:r>
          </a:p>
          <a:p>
            <a:pPr algn="l">
              <a:lnSpc>
                <a:spcPct val="108000"/>
              </a:lnSpc>
              <a:spcAft>
                <a:spcPts val="100"/>
              </a:spcAft>
            </a:pPr>
            <a:r>
              <a:rPr sz="1300" b="0">
                <a:solidFill>
                  <a:srgbClr val="FFF7DF"/>
                </a:solidFill>
                <a:latin typeface="Consolas"/>
              </a:rPr>
              <a:t>.venv/Scripts/python.exe -m pip check</a:t>
            </a:r>
          </a:p>
          <a:p>
            <a:pPr algn="l">
              <a:lnSpc>
                <a:spcPct val="108000"/>
              </a:lnSpc>
              <a:spcAft>
                <a:spcPts val="100"/>
              </a:spcAft>
            </a:pPr>
            <a:r>
              <a:rPr sz="1300" b="0">
                <a:solidFill>
                  <a:srgbClr val="FFF7DF"/>
                </a:solidFill>
                <a:latin typeface="Consolas"/>
              </a:rPr>
              <a:t/>
            </a:r>
          </a:p>
          <a:p>
            <a:pPr algn="l">
              <a:lnSpc>
                <a:spcPct val="108000"/>
              </a:lnSpc>
              <a:spcAft>
                <a:spcPts val="100"/>
              </a:spcAft>
            </a:pPr>
            <a:r>
              <a:rPr sz="1300" b="0">
                <a:solidFill>
                  <a:srgbClr val="FFF7DF"/>
                </a:solidFill>
                <a:latin typeface="Consolas"/>
              </a:rPr>
              <a:t># frontend</a:t>
            </a:r>
          </a:p>
          <a:p>
            <a:pPr algn="l">
              <a:lnSpc>
                <a:spcPct val="108000"/>
              </a:lnSpc>
              <a:spcAft>
                <a:spcPts val="100"/>
              </a:spcAft>
            </a:pPr>
            <a:r>
              <a:rPr sz="1300" b="0">
                <a:solidFill>
                  <a:srgbClr val="FFF7DF"/>
                </a:solidFill>
                <a:latin typeface="Consolas"/>
              </a:rPr>
              <a:t>npm ci</a:t>
            </a:r>
          </a:p>
          <a:p>
            <a:pPr algn="l">
              <a:lnSpc>
                <a:spcPct val="108000"/>
              </a:lnSpc>
              <a:spcAft>
                <a:spcPts val="100"/>
              </a:spcAft>
            </a:pPr>
            <a:r>
              <a:rPr sz="1300" b="0">
                <a:solidFill>
                  <a:srgbClr val="FFF7DF"/>
                </a:solidFill>
                <a:latin typeface="Consolas"/>
              </a:rPr>
              <a:t>npm run typecheck</a:t>
            </a:r>
          </a:p>
          <a:p>
            <a:pPr algn="l">
              <a:lnSpc>
                <a:spcPct val="108000"/>
              </a:lnSpc>
              <a:spcAft>
                <a:spcPts val="100"/>
              </a:spcAft>
            </a:pPr>
            <a:r>
              <a:rPr sz="1300" b="0">
                <a:solidFill>
                  <a:srgbClr val="FFF7DF"/>
                </a:solidFill>
                <a:latin typeface="Consolas"/>
              </a:rPr>
              <a:t>npm run lint</a:t>
            </a:r>
          </a:p>
          <a:p>
            <a:pPr algn="l">
              <a:lnSpc>
                <a:spcPct val="108000"/>
              </a:lnSpc>
              <a:spcAft>
                <a:spcPts val="100"/>
              </a:spcAft>
            </a:pPr>
            <a:r>
              <a:rPr sz="1300" b="0">
                <a:solidFill>
                  <a:srgbClr val="FFF7DF"/>
                </a:solidFill>
                <a:latin typeface="Consolas"/>
              </a:rPr>
              <a:t>npm run build</a:t>
            </a:r>
          </a:p>
          <a:p>
            <a:pPr algn="l">
              <a:lnSpc>
                <a:spcPct val="108000"/>
              </a:lnSpc>
              <a:spcAft>
                <a:spcPts val="100"/>
              </a:spcAft>
            </a:pPr>
            <a:r>
              <a:rPr sz="1300" b="0">
                <a:solidFill>
                  <a:srgbClr val="FFF7DF"/>
                </a:solidFill>
                <a:latin typeface="Consolas"/>
              </a:rPr>
              <a:t>node tools/links-check.cjs</a:t>
            </a:r>
          </a:p>
          <a:p>
            <a:pPr algn="l">
              <a:lnSpc>
                <a:spcPct val="108000"/>
              </a:lnSpc>
              <a:spcAft>
                <a:spcPts val="100"/>
              </a:spcAft>
            </a:pPr>
            <a:r>
              <a:rPr sz="1300" b="0">
                <a:solidFill>
                  <a:srgbClr val="FFF7DF"/>
                </a:solidFill>
                <a:latin typeface="Consolas"/>
              </a:rPr>
              <a:t>node tools/stream-check.cjs</a:t>
            </a:r>
          </a:p>
          <a:p>
            <a:pPr algn="l">
              <a:lnSpc>
                <a:spcPct val="108000"/>
              </a:lnSpc>
              <a:spcAft>
                <a:spcPts val="100"/>
              </a:spcAft>
            </a:pPr>
            <a:r>
              <a:rPr sz="1300" b="0">
                <a:solidFill>
                  <a:srgbClr val="FFF7DF"/>
                </a:solidFill>
                <a:latin typeface="Consolas"/>
              </a:rPr>
              <a:t>node tools/api-check.cjs</a:t>
            </a:r>
          </a:p>
          <a:p>
            <a:pPr algn="l">
              <a:lnSpc>
                <a:spcPct val="108000"/>
              </a:lnSpc>
              <a:spcAft>
                <a:spcPts val="100"/>
              </a:spcAft>
            </a:pPr>
            <a:r>
              <a:rPr sz="1300" b="0">
                <a:solidFill>
                  <a:srgbClr val="FFF7DF"/>
                </a:solidFill>
                <a:latin typeface="Consolas"/>
              </a:rPr>
              <a:t>npm audit --omit=dev</a:t>
            </a:r>
          </a:p>
        </p:txBody>
      </p:sp>
      <p:sp>
        <p:nvSpPr>
          <p:cNvPr id="10" name="Rectangle 9"/>
          <p:cNvSpPr/>
          <p:nvPr/>
        </p:nvSpPr>
        <p:spPr>
          <a:xfrm>
            <a:off x="6373368" y="1664208"/>
            <a:ext cx="5349240" cy="21031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600200"/>
            <a:ext cx="5349240" cy="21031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309360" y="1600200"/>
            <a:ext cx="534924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37376" y="1655064"/>
            <a:ext cx="509320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Local production rehearsal</a:t>
            </a:r>
          </a:p>
        </p:txBody>
      </p:sp>
      <p:sp>
        <p:nvSpPr>
          <p:cNvPr id="14" name="TextBox 13"/>
          <p:cNvSpPr txBox="1"/>
          <p:nvPr/>
        </p:nvSpPr>
        <p:spPr>
          <a:xfrm>
            <a:off x="6455664" y="2130552"/>
            <a:ext cx="5056631" cy="148132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deploy/tests/production-rehearsal/ README</a:t>
            </a:r>
          </a:p>
          <a:p>
            <a:pPr algn="l" marL="219456" indent="-182880">
              <a:lnSpc>
                <a:spcPct val="108000"/>
              </a:lnSpc>
              <a:spcAft>
                <a:spcPts val="400"/>
              </a:spcAft>
              <a:buFont typeface="Arial"/>
              <a:buChar char="•"/>
            </a:pPr>
            <a:r>
              <a:rPr sz="1300" b="0">
                <a:solidFill>
                  <a:srgbClr val="151714"/>
                </a:solidFill>
                <a:latin typeface="Segoe UI"/>
              </a:rPr>
              <a:t>Fresh Compose project name each run</a:t>
            </a:r>
          </a:p>
          <a:p>
            <a:pPr algn="l" marL="219456" indent="-182880">
              <a:lnSpc>
                <a:spcPct val="108000"/>
              </a:lnSpc>
              <a:spcAft>
                <a:spcPts val="400"/>
              </a:spcAft>
              <a:buFont typeface="Arial"/>
              <a:buChar char="•"/>
            </a:pPr>
            <a:r>
              <a:rPr sz="1300" b="0">
                <a:solidFill>
                  <a:srgbClr val="151714"/>
                </a:solidFill>
                <a:latin typeface="Segoe UI"/>
              </a:rPr>
              <a:t>Seed users from PowerShell</a:t>
            </a:r>
          </a:p>
        </p:txBody>
      </p:sp>
      <p:sp>
        <p:nvSpPr>
          <p:cNvPr id="15" name="Rectangle 14"/>
          <p:cNvSpPr/>
          <p:nvPr/>
        </p:nvSpPr>
        <p:spPr>
          <a:xfrm>
            <a:off x="6373368" y="3995928"/>
            <a:ext cx="5349240" cy="21945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3931920"/>
            <a:ext cx="5349240" cy="21945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09360" y="3931920"/>
            <a:ext cx="534924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37376" y="3986783"/>
            <a:ext cx="509320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Live quality (spends free quota)</a:t>
            </a:r>
          </a:p>
        </p:txBody>
      </p:sp>
      <p:sp>
        <p:nvSpPr>
          <p:cNvPr id="19" name="TextBox 18"/>
          <p:cNvSpPr txBox="1"/>
          <p:nvPr/>
        </p:nvSpPr>
        <p:spPr>
          <a:xfrm>
            <a:off x="6455664" y="4462272"/>
            <a:ext cx="5056631" cy="157276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200" b="0">
                <a:solidFill>
                  <a:srgbClr val="151714"/>
                </a:solidFill>
                <a:latin typeface="Consolas"/>
              </a:rPr>
              <a:t>quality_check.py --samples 3</a:t>
            </a:r>
          </a:p>
          <a:p>
            <a:pPr algn="l" marL="219456" indent="-182880">
              <a:lnSpc>
                <a:spcPct val="108000"/>
              </a:lnSpc>
              <a:spcAft>
                <a:spcPts val="400"/>
              </a:spcAft>
              <a:buFont typeface="Arial"/>
              <a:buChar char="•"/>
            </a:pPr>
            <a:r>
              <a:rPr sz="1200" b="0">
                <a:solidFill>
                  <a:srgbClr val="151714"/>
                </a:solidFill>
                <a:latin typeface="Consolas"/>
              </a:rPr>
              <a:t>tools.rejudge_quality</a:t>
            </a:r>
          </a:p>
          <a:p>
            <a:pPr algn="l" marL="219456" indent="-182880">
              <a:lnSpc>
                <a:spcPct val="108000"/>
              </a:lnSpc>
              <a:spcAft>
                <a:spcPts val="400"/>
              </a:spcAft>
              <a:buFont typeface="Arial"/>
              <a:buChar char="•"/>
            </a:pPr>
            <a:r>
              <a:rPr sz="1200" b="0">
                <a:solidFill>
                  <a:srgbClr val="151714"/>
                </a:solidFill>
                <a:latin typeface="Consolas"/>
              </a:rPr>
              <a:t>journey_check.py --db &lt;new&gt;</a:t>
            </a:r>
          </a:p>
          <a:p>
            <a:pPr algn="l" marL="219456" indent="-182880">
              <a:lnSpc>
                <a:spcPct val="108000"/>
              </a:lnSpc>
              <a:spcAft>
                <a:spcPts val="400"/>
              </a:spcAft>
              <a:buFont typeface="Arial"/>
              <a:buChar char="•"/>
            </a:pPr>
            <a:r>
              <a:rPr sz="1300" b="0">
                <a:solidFill>
                  <a:srgbClr val="151714"/>
                </a:solidFill>
                <a:latin typeface="Segoe UI"/>
              </a:rPr>
              <a:t>Freeze sources; new output names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A4 · More screens from the working tree</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Screenshots 2026-09-15 · Next dev + tools.qa_server · mock model · synthetic data</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26</a:t>
            </a:r>
          </a:p>
        </p:txBody>
      </p:sp>
      <p:sp>
        <p:nvSpPr>
          <p:cNvPr id="7" name="Rectangle 6"/>
          <p:cNvSpPr/>
          <p:nvPr/>
        </p:nvSpPr>
        <p:spPr>
          <a:xfrm>
            <a:off x="612647" y="1572768"/>
            <a:ext cx="329184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team.jpg"/>
          <p:cNvPicPr>
            <a:picLocks noChangeAspect="1"/>
          </p:cNvPicPr>
          <p:nvPr/>
        </p:nvPicPr>
        <p:blipFill>
          <a:blip r:embed="rId3"/>
          <a:stretch>
            <a:fillRect/>
          </a:stretch>
        </p:blipFill>
        <p:spPr>
          <a:xfrm>
            <a:off x="548640" y="1508760"/>
            <a:ext cx="3291840" cy="2057400"/>
          </a:xfrm>
          <a:prstGeom prst="rect">
            <a:avLst/>
          </a:prstGeom>
          <a:ln w="25400">
            <a:solidFill>
              <a:srgbClr val="151714"/>
            </a:solidFill>
          </a:ln>
        </p:spPr>
      </p:pic>
      <p:sp>
        <p:nvSpPr>
          <p:cNvPr id="9" name="TextBox 8"/>
          <p:cNvSpPr txBox="1"/>
          <p:nvPr/>
        </p:nvSpPr>
        <p:spPr>
          <a:xfrm>
            <a:off x="548640" y="3611879"/>
            <a:ext cx="3291840" cy="2743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151714"/>
                </a:solidFill>
                <a:latin typeface="Segoe UI Semibold"/>
              </a:rPr>
              <a:t>Team</a:t>
            </a:r>
          </a:p>
        </p:txBody>
      </p:sp>
      <p:sp>
        <p:nvSpPr>
          <p:cNvPr id="10" name="Rectangle 9"/>
          <p:cNvSpPr/>
          <p:nvPr/>
        </p:nvSpPr>
        <p:spPr>
          <a:xfrm>
            <a:off x="4361688" y="1572768"/>
            <a:ext cx="329184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t-goals.jpg"/>
          <p:cNvPicPr>
            <a:picLocks noChangeAspect="1"/>
          </p:cNvPicPr>
          <p:nvPr/>
        </p:nvPicPr>
        <p:blipFill>
          <a:blip r:embed="rId4"/>
          <a:stretch>
            <a:fillRect/>
          </a:stretch>
        </p:blipFill>
        <p:spPr>
          <a:xfrm>
            <a:off x="4297679" y="1508760"/>
            <a:ext cx="3291840" cy="2057400"/>
          </a:xfrm>
          <a:prstGeom prst="rect">
            <a:avLst/>
          </a:prstGeom>
          <a:ln w="25400">
            <a:solidFill>
              <a:srgbClr val="151714"/>
            </a:solidFill>
          </a:ln>
        </p:spPr>
      </p:pic>
      <p:sp>
        <p:nvSpPr>
          <p:cNvPr id="12" name="TextBox 11"/>
          <p:cNvSpPr txBox="1"/>
          <p:nvPr/>
        </p:nvSpPr>
        <p:spPr>
          <a:xfrm>
            <a:off x="4297679" y="3611879"/>
            <a:ext cx="3291840" cy="2743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151714"/>
                </a:solidFill>
                <a:latin typeface="Segoe UI Semibold"/>
              </a:rPr>
              <a:t>Goals — synthetic goals</a:t>
            </a:r>
          </a:p>
        </p:txBody>
      </p:sp>
      <p:sp>
        <p:nvSpPr>
          <p:cNvPr id="13" name="Rectangle 12"/>
          <p:cNvSpPr/>
          <p:nvPr/>
        </p:nvSpPr>
        <p:spPr>
          <a:xfrm>
            <a:off x="8110727" y="1572768"/>
            <a:ext cx="329184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ot-account.jpg"/>
          <p:cNvPicPr>
            <a:picLocks noChangeAspect="1"/>
          </p:cNvPicPr>
          <p:nvPr/>
        </p:nvPicPr>
        <p:blipFill>
          <a:blip r:embed="rId5"/>
          <a:stretch>
            <a:fillRect/>
          </a:stretch>
        </p:blipFill>
        <p:spPr>
          <a:xfrm>
            <a:off x="8046719" y="1508760"/>
            <a:ext cx="3291840" cy="2057400"/>
          </a:xfrm>
          <a:prstGeom prst="rect">
            <a:avLst/>
          </a:prstGeom>
          <a:ln w="25400">
            <a:solidFill>
              <a:srgbClr val="151714"/>
            </a:solidFill>
          </a:ln>
        </p:spPr>
      </p:pic>
      <p:sp>
        <p:nvSpPr>
          <p:cNvPr id="15" name="TextBox 14"/>
          <p:cNvSpPr txBox="1"/>
          <p:nvPr/>
        </p:nvSpPr>
        <p:spPr>
          <a:xfrm>
            <a:off x="8046719" y="3611879"/>
            <a:ext cx="3291840" cy="2743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151714"/>
                </a:solidFill>
                <a:latin typeface="Segoe UI Semibold"/>
              </a:rPr>
              <a:t>Account</a:t>
            </a:r>
          </a:p>
        </p:txBody>
      </p:sp>
      <p:sp>
        <p:nvSpPr>
          <p:cNvPr id="16" name="Rectangle 15"/>
          <p:cNvSpPr/>
          <p:nvPr/>
        </p:nvSpPr>
        <p:spPr>
          <a:xfrm>
            <a:off x="612647" y="3995928"/>
            <a:ext cx="329184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ot-chat.jpg"/>
          <p:cNvPicPr>
            <a:picLocks noChangeAspect="1"/>
          </p:cNvPicPr>
          <p:nvPr/>
        </p:nvPicPr>
        <p:blipFill>
          <a:blip r:embed="rId6"/>
          <a:stretch>
            <a:fillRect/>
          </a:stretch>
        </p:blipFill>
        <p:spPr>
          <a:xfrm>
            <a:off x="548640" y="3931920"/>
            <a:ext cx="3291840" cy="2057400"/>
          </a:xfrm>
          <a:prstGeom prst="rect">
            <a:avLst/>
          </a:prstGeom>
          <a:ln w="25400">
            <a:solidFill>
              <a:srgbClr val="151714"/>
            </a:solidFill>
          </a:ln>
        </p:spPr>
      </p:pic>
      <p:sp>
        <p:nvSpPr>
          <p:cNvPr id="18" name="TextBox 17"/>
          <p:cNvSpPr txBox="1"/>
          <p:nvPr/>
        </p:nvSpPr>
        <p:spPr>
          <a:xfrm>
            <a:off x="548640" y="6035040"/>
            <a:ext cx="3291840" cy="2743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151714"/>
                </a:solidFill>
                <a:latin typeface="Segoe UI Semibold"/>
              </a:rPr>
              <a:t>Chat — mock provider placeholder</a:t>
            </a:r>
          </a:p>
        </p:txBody>
      </p:sp>
      <p:sp>
        <p:nvSpPr>
          <p:cNvPr id="19" name="Rectangle 18"/>
          <p:cNvSpPr/>
          <p:nvPr/>
        </p:nvSpPr>
        <p:spPr>
          <a:xfrm>
            <a:off x="4361688" y="3995928"/>
            <a:ext cx="3291840" cy="2057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hot-login.jpg"/>
          <p:cNvPicPr>
            <a:picLocks noChangeAspect="1"/>
          </p:cNvPicPr>
          <p:nvPr/>
        </p:nvPicPr>
        <p:blipFill>
          <a:blip r:embed="rId7"/>
          <a:stretch>
            <a:fillRect/>
          </a:stretch>
        </p:blipFill>
        <p:spPr>
          <a:xfrm>
            <a:off x="4297679" y="3931920"/>
            <a:ext cx="3291840" cy="2057400"/>
          </a:xfrm>
          <a:prstGeom prst="rect">
            <a:avLst/>
          </a:prstGeom>
          <a:ln w="25400">
            <a:solidFill>
              <a:srgbClr val="151714"/>
            </a:solidFill>
          </a:ln>
        </p:spPr>
      </p:pic>
      <p:sp>
        <p:nvSpPr>
          <p:cNvPr id="21" name="TextBox 20"/>
          <p:cNvSpPr txBox="1"/>
          <p:nvPr/>
        </p:nvSpPr>
        <p:spPr>
          <a:xfrm>
            <a:off x="4297679" y="6035040"/>
            <a:ext cx="3291840" cy="2743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151714"/>
                </a:solidFill>
                <a:latin typeface="Segoe UI Semibold"/>
              </a:rPr>
              <a:t>Login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A5 · Evidence index and discrepancies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All paths relative to repository root · baseline HEAD 1ed17eb + working tree · prepared 2026-09-15</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Handover · 27</a:t>
            </a:r>
          </a:p>
        </p:txBody>
      </p:sp>
      <p:graphicFrame>
        <p:nvGraphicFramePr>
          <p:cNvPr id="7" name="Table 6"/>
          <p:cNvGraphicFramePr>
            <a:graphicFrameLocks noGrp="1"/>
          </p:cNvGraphicFramePr>
          <p:nvPr/>
        </p:nvGraphicFramePr>
        <p:xfrm>
          <a:off x="548640" y="1554480"/>
          <a:ext cx="6675119" cy="3200400"/>
        </p:xfrm>
        <a:graphic>
          <a:graphicData uri="http://schemas.openxmlformats.org/drawingml/2006/table">
            <a:tbl>
              <a:tblPr firstRow="1" bandRow="1">
                <a:tableStyleId>{5940675A-B579-460E-94D1-54222C63F5DA}</a:tableStyleId>
              </a:tblPr>
              <a:tblGrid>
                <a:gridCol w="2670048"/>
                <a:gridCol w="2314041"/>
                <a:gridCol w="1691030"/>
              </a:tblGrid>
              <a:tr h="457200">
                <a:tc>
                  <a:txBody>
                    <a:bodyPr wrap="square"/>
                    <a:lstStyle/>
                    <a:p>
                      <a:r>
                        <a:rPr sz="1200">
                          <a:solidFill>
                            <a:srgbClr val="151714"/>
                          </a:solidFill>
                          <a:latin typeface="Segoe UI Semibold"/>
                        </a:rPr>
                        <a:t>Artifact (2026-09-14 unless noted)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00">
                          <a:solidFill>
                            <a:srgbClr val="151714"/>
                          </a:solidFill>
                          <a:latin typeface="Segoe UI Semibold"/>
                        </a:rPr>
                        <a:t>Shows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00">
                          <a:solidFill>
                            <a:srgbClr val="151714"/>
                          </a:solidFill>
                          <a:latin typeface="Segoe UI Semibold"/>
                        </a:rPr>
                        <a:t>Limit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457200">
                <a:tc>
                  <a:txBody>
                    <a:bodyPr wrap="square"/>
                    <a:lstStyle/>
                    <a:p>
                      <a:r>
                        <a:rPr sz="1200">
                          <a:solidFill>
                            <a:srgbClr val="151714"/>
                          </a:solidFill>
                          <a:latin typeface="Segoe UI Semibold"/>
                        </a:rPr>
                        <a:t>production-verification.json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Image digests · 351 tests · migrations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Local images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57200">
                <a:tc>
                  <a:txBody>
                    <a:bodyPr wrap="square"/>
                    <a:lstStyle/>
                    <a:p>
                      <a:r>
                        <a:rPr sz="1200">
                          <a:solidFill>
                            <a:srgbClr val="151714"/>
                          </a:solidFill>
                          <a:latin typeface="Segoe UI Semibold"/>
                        </a:rPr>
                        <a:t>production-rehearsal.json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23 HTTPS browser checks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Scripted model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57200">
                <a:tc>
                  <a:txBody>
                    <a:bodyPr wrap="square"/>
                    <a:lstStyle/>
                    <a:p>
                      <a:r>
                        <a:rPr sz="1200">
                          <a:solidFill>
                            <a:srgbClr val="151714"/>
                          </a:solidFill>
                          <a:latin typeface="Segoe UI Semibold"/>
                        </a:rPr>
                        <a:t>accessibility-rehearsal.json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25 scans · keyboard stops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No phones / screen reader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57200">
                <a:tc>
                  <a:txBody>
                    <a:bodyPr wrap="square"/>
                    <a:lstStyle/>
                    <a:p>
                      <a:r>
                        <a:rPr sz="1200">
                          <a:solidFill>
                            <a:srgbClr val="151714"/>
                          </a:solidFill>
                          <a:latin typeface="Segoe UI Semibold"/>
                        </a:rPr>
                        <a:t>operations-rehearsal.json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10 backup and alert checks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Local copy · synthetic alerts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57200">
                <a:tc>
                  <a:txBody>
                    <a:bodyPr wrap="square"/>
                    <a:lstStyle/>
                    <a:p>
                      <a:r>
                        <a:rPr sz="1200">
                          <a:solidFill>
                            <a:srgbClr val="151714"/>
                          </a:solidFill>
                          <a:latin typeface="Segoe UI Semibold"/>
                        </a:rPr>
                        <a:t>quality-remediation-14b.json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39 answers · 27/11/1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Judge imperfect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57200">
                <a:tc>
                  <a:txBody>
                    <a:bodyPr wrap="square"/>
                    <a:lstStyle/>
                    <a:p>
                      <a:r>
                        <a:rPr sz="1200">
                          <a:solidFill>
                            <a:srgbClr val="151714"/>
                          </a:solidFill>
                          <a:latin typeface="Segoe UI Semibold"/>
                        </a:rPr>
                        <a:t>journey-rehearsal.txt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13 live journey checks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TestClient closure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
        <p:nvSpPr>
          <p:cNvPr id="8" name="Rectangle 7"/>
          <p:cNvSpPr/>
          <p:nvPr/>
        </p:nvSpPr>
        <p:spPr>
          <a:xfrm>
            <a:off x="7562088" y="1618488"/>
            <a:ext cx="4160520" cy="45720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554480"/>
            <a:ext cx="4160520" cy="45720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498079" y="1554480"/>
            <a:ext cx="416052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26096" y="1609344"/>
            <a:ext cx="390448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Document discrepancies</a:t>
            </a:r>
          </a:p>
        </p:txBody>
      </p:sp>
      <p:sp>
        <p:nvSpPr>
          <p:cNvPr id="12" name="TextBox 11"/>
          <p:cNvSpPr txBox="1"/>
          <p:nvPr/>
        </p:nvSpPr>
        <p:spPr>
          <a:xfrm>
            <a:off x="7644383" y="2084831"/>
            <a:ext cx="3867911" cy="39502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00" b="0">
                <a:solidFill>
                  <a:srgbClr val="151714"/>
                </a:solidFill>
                <a:latin typeface="Segoe UI"/>
              </a:rPr>
              <a:t>PROJECT-REPORT §5 prompt versions are older than the code</a:t>
            </a:r>
          </a:p>
          <a:p>
            <a:pPr algn="l" marL="219456" indent="-182880">
              <a:lnSpc>
                <a:spcPct val="108000"/>
              </a:lnSpc>
              <a:spcAft>
                <a:spcPts val="400"/>
              </a:spcAft>
              <a:buFont typeface="Arial"/>
              <a:buChar char="•"/>
            </a:pPr>
            <a:r>
              <a:rPr sz="1300" b="0">
                <a:solidFill>
                  <a:srgbClr val="151714"/>
                </a:solidFill>
                <a:latin typeface="Segoe UI"/>
              </a:rPr>
              <a:t>DEPLOYMENT.md: “20 checks” and contrast note are stale</a:t>
            </a:r>
          </a:p>
          <a:p>
            <a:pPr algn="l" marL="219456" indent="-182880">
              <a:lnSpc>
                <a:spcPct val="108000"/>
              </a:lnSpc>
              <a:spcAft>
                <a:spcPts val="400"/>
              </a:spcAft>
              <a:buFont typeface="Arial"/>
              <a:buChar char="•"/>
            </a:pPr>
            <a:r>
              <a:rPr sz="1300" b="0">
                <a:solidFill>
                  <a:srgbClr val="151714"/>
                </a:solidFill>
                <a:latin typeface="Segoe UI"/>
              </a:rPr>
              <a:t>HANDOFF.md, STATUS.md stop at Sep 13</a:t>
            </a:r>
          </a:p>
          <a:p>
            <a:pPr algn="l" marL="219456" indent="-182880">
              <a:lnSpc>
                <a:spcPct val="108000"/>
              </a:lnSpc>
              <a:spcAft>
                <a:spcPts val="400"/>
              </a:spcAft>
              <a:buFont typeface="Arial"/>
              <a:buChar char="•"/>
            </a:pPr>
            <a:r>
              <a:rPr sz="1300" b="0">
                <a:solidFill>
                  <a:srgbClr val="151714"/>
                </a:solidFill>
                <a:latin typeface="Segoe UI"/>
              </a:rPr>
              <a:t>Older notes said 11 tables; there are 10</a:t>
            </a:r>
          </a:p>
          <a:p>
            <a:pPr algn="l" marL="219456" indent="-182880">
              <a:lnSpc>
                <a:spcPct val="108000"/>
              </a:lnSpc>
              <a:spcAft>
                <a:spcPts val="400"/>
              </a:spcAft>
              <a:buFont typeface="Arial"/>
              <a:buChar char="•"/>
            </a:pPr>
            <a:r>
              <a:rPr sz="1300" b="0">
                <a:solidFill>
                  <a:srgbClr val="151714"/>
                </a:solidFill>
                <a:latin typeface="Segoe UI"/>
              </a:rPr>
              <a:t>Rehearsal Docker cleanup not verified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