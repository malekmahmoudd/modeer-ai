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the owner and the incoming mobile/engineering team.</a:t>
            </a:r>
          </a:p>
          <a:p>
            <a:r>
              <a:t>STATUS: everything in this deck is PROPOSED. No mobile app, native authentication endpoint, store account, bundle/application ID or signing identity exists. Nothing here is evidence that native features are implemented.</a:t>
            </a:r>
          </a:p>
          <a:p>
            <a:r>
              <a:t>SOURCES: docs/MOBILE-ROADMAP.md (planning date 2026-09-13; dependency update 2026-09-15), docs/PROJECT-REPORT.md, docs/launch-rehearsal-2026-09-14.md, docs/quality-evidence-2026-09-15.md, backend and frontend source at HEAD 1ed17eb plus the uncommitted working tree.</a:t>
            </a:r>
          </a:p>
          <a:p>
            <a:r>
              <a:t>Time-sensitive Apple, Google and Expo requirements were rechecked against official pages on 2026-09-15 (see the store slide and appendix). The React Native framework recommendation could not be re-fetched on 2026-09-15 and keeps its 2026-09-13 documented date.</a:t>
            </a:r>
          </a:p>
          <a:p>
            <a:r>
              <a:t>Effort figures are ranges under stated assumptions, not dates, quotes or budgets.</a:t>
            </a:r>
          </a:p>
          <a:p/>
          <a:p>
            <a:r>
              <a:t>SOURCES (repository paths are relative to the root): Proposed plan · docs/MOBILE-ROADMAP.md (planning date 2026-09-13, dependency update 2026-09-15) · HEAD 1ed17eb + working tree</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EXISTS (web, implemented; locally verified 2026-09-14/15): FastAPI backend with cookie sessions, password/recovery codes, POST/SSE streaming chat with four completion states, shared/private memory, goals, account export/deletion. Local production rehearsal: 351 backend tests in the locked image (2 recovery races on PostgreSQL 16), 23 HTTPS browser checks, 25 axe scans with zero findings, 10 operations checks, 13 live journey checks. These numbers are separate evidence, not a combined score.</a:t>
            </a:r>
          </a:p>
          <a:p/>
          <a:p>
            <a:r>
              <a:t>STILL OPEN (must close before native password accounts are exposed):</a:t>
            </a:r>
          </a:p>
          <a:p>
            <a:r>
              <a:t>- Unresolved defect: answer quality — 27 automated passes, 11 failures, 1 unavailable grade across 39 live answers, with manual checks finding both judge errors and missed defects.</a:t>
            </a:r>
          </a:p>
          <a:p>
            <a:r>
              <a:t>- Operational gates: real host/domain/TLS, genuinely remote backup + scheduler + restore, alert receipt by a person, legacy memory audit.</a:t>
            </a:r>
          </a:p>
          <a:p>
            <a:r>
              <a:t>- Coverage gaps: physical devices, human screen reader, load/multi-worker, real network disconnect.</a:t>
            </a:r>
          </a:p>
          <a:p>
            <a:r>
              <a:t>- Release hygiene: the Sept 13–14 fixes are in an uncommitted working tree on top of 1ed17eb.</a:t>
            </a:r>
          </a:p>
          <a:p/>
          <a:p>
            <a:r>
              <a:t>NATIVE MOBILE: proposed only; no code, accounts or signing identities.</a:t>
            </a:r>
          </a:p>
          <a:p/>
          <a:p>
            <a:r>
              <a:t>SOURCES (repository paths are relative to the root): docs/launch-rehearsal-2026-09-14.md · docs/quality-evidence-2026-09-15.md · docs/MOBILE-ROADMAP.md §1</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MVP (proposed) = a private personal AI workspace, no public content, no external actions.</a:t>
            </a:r>
          </a:p>
          <a:p>
            <a:r>
              <a:t>Mapping to existing foundations:</a:t>
            </a:r>
          </a:p>
          <a:p>
            <a:r>
              <a:t>- Sign in / optional signup / recovery → password/key routes, recovery codes, epoch → native forms, secure sessions, deliberate recovery-code handling, accessible validation.</a:t>
            </a:r>
          </a:p>
          <a:p>
            <a:r>
              <a:t>- First use → Modeer onboarding, shared facts, profile → concise privacy/AI-sharing explanation with explicit required consent, first chat, inspectable memory.</a:t>
            </a:r>
          </a:p>
          <a:p>
            <a:r>
              <a:t>- Home / Team → hero, featured specialists, Today, ten identities → native navigation and portrait panels.</a:t>
            </a:r>
          </a:p>
          <a:p>
            <a:r>
              <a:t>- Chat / history → POST SSE, conversation API, four reply states → streaming native transcript, keyboard-safe composer, history, Continue/Try again, reconnect reconciliation.</a:t>
            </a:r>
          </a:p>
          <a:p>
            <a:r>
              <a:t>- Memory → shared/private CRUD, pinning, automatic-memory switch.</a:t>
            </a:r>
          </a:p>
          <a:p>
            <a:r>
              <a:t>- Goals / Today → goal CRUD and deterministic briefing (no calendar claims).</a:t>
            </a:r>
          </a:p>
          <a:p>
            <a:r>
              <a:t>- Account rights → export, deletion, sign-out-everywhere → secure share flow, in-app deletion, local-cache purge, revocation handling.</a:t>
            </a:r>
          </a:p>
          <a:p>
            <a:r>
              <a:t>- AI output concerns → no reporting workflow exists → in-app report action, server intake and operator process (required before Google Play release).</a:t>
            </a:r>
          </a:p>
          <a:p/>
          <a:p>
            <a:r>
              <a:t>OUT OF MVP (optional, not implied commitments): Ask My Team UI, voice, push reminders, widgets, HealthKit/Health Connect, calendar/email connections, camera/document uploads, autonomous actions, payments, social login, offline AI generation. Do not request contacts, microphone, health or location permissions without an implemented feature that needs them.</a:t>
            </a:r>
          </a:p>
          <a:p/>
          <a:p>
            <a:r>
              <a:t>SOURCES (repository paths are relative to the root): docs/MOBILE-ROADMAP.md §3 · backend routes (auth, chat, conversations, memory, goals, briefings, users)</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(documented engineering inference, not a verified team fact): a separate React Native app using Expo and TypeScript, consuming the existing FastAPI backend; keep the web app; preserve the approved design; start with a physical-device auth + streaming prototype, not a full port.</a:t>
            </a:r>
          </a:p>
          <a:p>
            <a:r>
              <a:t>WHY: existing React/TypeScript codebase, modest screen count, server-hosted AI, one shared mobile implementation.</a:t>
            </a:r>
          </a:p>
          <a:p>
            <a:r>
              <a:t>STAFFING ASSUMPTION: actual team availability and native experience are UNKNOWN. Revisit if the owner already has an experienced Flutter or native team (owner decision).</a:t>
            </a:r>
          </a:p>
          <a:p/>
          <a:p>
            <a:r>
              <a:t>OPTIONS</a:t>
            </a:r>
          </a:p>
          <a:p>
            <a:r>
              <a:t>- React Native + Expo: reuses TypeScript knowledge, domain types, pure utilities, artwork and tokens; native views replace DOM/CSS; Expo services are optional infrastructure choices.</a:t>
            </a:r>
          </a:p>
          <a:p>
            <a:r>
              <a:t>- Flutter: reuses APIs, assets and design intent; client moves to Dart; strong rendering control for comic panels; attractive with an experienced Flutter team.</a:t>
            </a:r>
          </a:p>
          <a:p>
            <a:r>
              <a:t>- Separate native (SwiftUI + Kotlin/Compose): maximum platform control; two UI/state/transport implementations; prefer only with dedicated platform engineers.</a:t>
            </a:r>
          </a:p>
          <a:p>
            <a:r>
              <a:t>- WebView wrapper: acceptable as a demand probe only; keyboard, navigation, accessibility, secure storage, interrupted networks and store requirements still need real work.</a:t>
            </a:r>
          </a:p>
          <a:p/>
          <a:p>
            <a:r>
              <a:t>VERIFICATION: Expo's expo/fetch documentation (SDK v57.0.0 page, fetched 2026-09-15) shows reading resp.body with getReader() for text/event-stream — a candidate transport, not proof Modeer's POST/SSE works on a device. React Native's "use a framework such as Expo" guidance is carried from the 2026-09-13 documented check; reactnative.dev could not be fetched on 2026-09-15. Pin a compatible Expo/React Native/React set at implementation time; do not copy web package versions.</a:t>
            </a:r>
          </a:p>
          <a:p/>
          <a:p>
            <a:r>
              <a:t>SOURCES (repository paths are relative to the root): docs/MOBILE-ROADMAP.md §2 · docs.expo.dev expo/fetch (SDK 57 page, checked 2026-09-15) · reactnative.dev (documented 2026-09-13)</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(implemented today): account model, password and recovery verification logic, epoch revocation, per-account quotas and refunds, streaming runtime and completion states, memory scope and validation, goals and briefings, export and deletion services, observability and readiness. Provider keys, prompts, model selection, extraction and quota enforcement STAY on the server.</a:t>
            </a:r>
          </a:p>
          <a:p>
            <a:r>
              <a:t>Also reusable as specifications: tests, artwork (after rights review), palette/typography, agent identity wording, domain types (validated against a versioned development schema artifact — do not reopen production Swagger).</a:t>
            </a:r>
          </a:p>
          <a:p/>
          <a:p>
            <a:r>
              <a:t>NOT DIRECTLY REUSABLE on mobile: browser components, Tailwind classes, next/navigation, Next image/font loaders, window.location, DOM Markdown rendering, and the current chat hook (it mixes network parsing with React/browser state and drops memory error fields — extract a tested transport/event parser only after fixing its contract).</a:t>
            </a:r>
          </a:p>
          <a:p/>
          <a:p>
            <a:r>
              <a:t>REQUIRED API WORK (proposed, P0):</a:t>
            </a:r>
          </a:p>
          <a:p>
            <a:r>
              <a:t>1. Native session contract: short-lived bearer access tokens + rotating refresh credentials backed by per-device server records; hashed refresh storage; token-family reuse detection; atomic rotation; device logout; sign-out-everywhere and password/recovery revocation; epoch (or equivalent) check on every request. Prefer an established, reviewed implementation. Never weaken browser cookie/Origin protections.</a:t>
            </a:r>
          </a:p>
          <a:p>
            <a:r>
              <a:t>2. Operation identity: client request ID/idempotency key + payload fingerprint; durable turn record with atomic claim and lease; status endpoint to reconcile after reconnect.</a:t>
            </a:r>
          </a:p>
          <a:p>
            <a:r>
              <a:t>3. Stable error codes (auth, allowance, provider limits, interruption, memory failure) with retry_after.</a:t>
            </a:r>
          </a:p>
          <a:p>
            <a:r>
              <a:t>4. Cursor pagination for conversations/messages.</a:t>
            </a:r>
          </a:p>
          <a:p>
            <a:r>
              <a:t>5. Versioned API/schema artifact; AI-output report intake; external account-deletion web resource.</a:t>
            </a:r>
          </a:p>
          <a:p/>
          <a:p>
            <a:r>
              <a:t>SOURCES (repository paths are relative to the root): docs/MOBILE-ROADMAP.md §4–6 · backend/app/core/auth.py · api/routes/auth.py · frontend/src/features/chat/useChatStream.ts</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CONTRACT: sign-in (password or invitation key reuse verification) → server issues short-lived access token + refresh credential tied to a device record → app stores the refresh credential in Expo SecureStore → every API call carries the access token; server checks account epoch (or equivalent) → refresh rotates atomically with reuse detection → logout revokes the device; sign-out-everywhere, password change and recovery revoke all devices.</a:t>
            </a:r>
          </a:p>
          <a:p/>
          <a:p>
            <a:r>
              <a:t>SECURESTORE FACTS (docs.expo.dev, fetched 2026-09-15): data is not preserved on Android uninstall; on iOS it can persist across reinstall with the same bundle ID (do not rely on it); large payloads can be rejected — historically some iOS releases refused values above ~2048 bytes. So: store small credentials only, never transcripts; treat unreadable entries as re-authentication; verify the session at launch; uninstall is not a server logout.</a:t>
            </a:r>
          </a:p>
          <a:p>
            <a:r>
              <a:t>Biometrics: optional local app lock only; never a replacement for server authorisation or recovery.</a:t>
            </a:r>
          </a:p>
          <a:p>
            <a:r>
              <a:t>Recovery codes: shown only on deliberate issuance; never in analytics, logs or caches; explain copy/save choices.</a:t>
            </a:r>
          </a:p>
          <a:p>
            <a:r>
              <a:t>DEEP LINKS: verified HTTPS universal/app links for defined routes; re-check authorisation after open; never put passwords, keys, tokens, chat text or recovery codes in links. Social login is out of MVP (system browser + authorisation code/PKCE if added).</a:t>
            </a:r>
          </a:p>
          <a:p>
            <a:r>
              <a:t>DELETION: Apple guideline 5.1.1(v) and its account-deletion page (checked 2026-09-15) require in-app initiation of account deletion when the app supports account creation; Google Play (checked 2026-09-15) requires an in-app path AND a functional web link resource to request account and data deletion. The existing authenticated JSON endpoint alone is not the complete store deliverable.</a:t>
            </a:r>
          </a:p>
          <a:p/>
          <a:p>
            <a:r>
              <a:t>SOURCES (repository paths are relative to the root): docs/MOBILE-ROADMAP.md §5 · docs.expo.dev SecureStore (checked 2026-09-15) · Apple 5.1.1(v) · Google Play account deletion (checked 2026-09-15)</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(implemented): POST + SSE frames start, delta, end, memory, error; persisted completion metadata; NO durable generation ID, idempotency key or event replay; conversation locks serialise one worker only.</a:t>
            </a:r>
          </a:p>
          <a:p/>
          <a:p>
            <a:r>
              <a:t>PROPOSED FLOW:</a:t>
            </a:r>
          </a:p>
          <a:p>
            <a:r>
              <a:t>1. App creates a request ID (idempotency key) and sends it with a payload fingerprint. Same key + same payload returns the same operation; same key + different payload is rejected.</a:t>
            </a:r>
          </a:p>
          <a:p>
            <a:r>
              <a:t>2. Server atomically claims a durable turn record (accepted/running/completed/truncated/interrupted/failed), with a lease for crashed workers.</a:t>
            </a:r>
          </a:p>
          <a:p>
            <a:r>
              <a:t>3. App streams with chunk-boundary-safe UTF-8 and frame parsing, explicit abort and cleanup.</a:t>
            </a:r>
          </a:p>
          <a:p>
            <a:r>
              <a:t>4. On background/suspension: assume network and execution stop. On foreground: reconcile the operation via status + stored transcript. NEVER auto-resend the prompt.</a:t>
            </a:r>
          </a:p>
          <a:p>
            <a:r>
              <a:t>5. Try again = explicit regeneration; Continue = new user turn; show when more allowance may be used. Deduplicate by server IDs, never by message text. Two devices retrying at once must not create two charges for one operation.</a:t>
            </a:r>
          </a:p>
          <a:p>
            <a:r>
              <a:t>Full replayable SSE is optional for MVP if reconciliation is safe; do not advertise seamless resume without replay. Guaranteed completion while the app is closed would need a durable server job, not a phone background task.</a:t>
            </a:r>
          </a:p>
          <a:p>
            <a:r>
              <a:t>TESTS: final delta combined with finish reason, partial frames, missing terminal events, post-answer memory errors, server vs client timeouts (35 s provider, 50 s web client today), Wi-Fi→cellular, airplane mode, OS termination.</a:t>
            </a:r>
          </a:p>
          <a:p/>
          <a:p>
            <a:r>
              <a:t>SOURCES (repository paths are relative to the root): docs/MOBILE-ROADMAP.md §6 · backend/app/api/routes/chat.py (SSE start/delta/end/memory/error) · docs/PROJECT-REPORT.md §7</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MVP RULES</a:t>
            </a:r>
          </a:p>
          <a:p>
            <a:r>
              <a:t>- The server is the source of truth. A bounded, account-partitioned cache plus a local unsent draft.</a:t>
            </a:r>
          </a:p>
          <a:p>
            <a:r>
              <a:t>- Offline: previously cached conversations can be read, with a clear "last synced" indicator. There is no offline model — AI sends are disabled offline, never silently queued for later spending.</a:t>
            </a:r>
          </a:p>
          <a:p>
            <a:r>
              <a:t>- Storage: transcripts in an encrypted database or vetted encrypted store with platform-protected keys, explicit size/age bounds, backup policy and logout cleanup. SecureStore is not a database for large content. Do not cache sensitive memories by default without an explicit product decision.</a:t>
            </a:r>
          </a:p>
          <a:p>
            <a:r>
              <a:t>- Analytics and crash reports must not contain prompts, facts, tokens or recovery material (vendor choice — or none — is an owner decision).</a:t>
            </a:r>
          </a:p>
          <a:p>
            <a:r>
              <a:t>- Purge all account-specific cache and drafts on account switching, logout/deletion and confirmed revocation. Remove export temp files per a documented policy. Consider hiding chat text in app-switcher previews (test both platforms).</a:t>
            </a:r>
          </a:p>
          <a:p>
            <a:r>
              <a:t>- Writes (memory, goals) require a connection and server confirmation; optimistic UI must revert on failure. Offline edits need versions/ETags and conflict detection first, so a mobile edit never overwrites a newer web correction. Future sync needs tombstones, cursor expiry and reconciliation; test restored device backups so deleted accounts or facts do not reappear.</a:t>
            </a:r>
          </a:p>
          <a:p/>
          <a:p>
            <a:r>
              <a:t>SOURCES (repository paths are relative to the root): docs/MOBILE-ROADMAP.md §7 · docs/PROJECT-REPORT.md §6 (memory, export, deletion)</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two CONCEPT wireframes drawn for this deck — they are not screenshots and no mobile UI exists. RIGHT: a real web screenshot at 390px (desktop Chrome, local dev, mock model) for reference.</a:t>
            </a:r>
          </a:p>
          <a:p>
            <a:r>
              <a:t>PROPOSED DESIGN RULES: keep warm paper, yellow/pink fields, dark text, borders and large human artwork on discovery screens; a quiet reading surface in chat. Keep ink on pink and deep pink text #CC1757 (the contrast fix); never return to white on pink.</a:t>
            </a:r>
          </a:p>
          <a:p>
            <a:r>
              <a:t>Navigation: native bottom tabs for Home, Team, Memory, Goals; Account clearly reachable; chat as a stack screen with history and standard back. Composer above the keyboard, safe areas respected, scroll position preserved, auto-follow new text only when the reader is near the bottom.</a:t>
            </a:r>
          </a:p>
          <a:p>
            <a:r>
              <a:t>ACCESSIBILITY: platform text scaling; meaningful names/roles; announce reply outcomes and memory errors, not every token; recovery actions usable with VoiceOver and TalkBack; decorative art out of traversal, concise identity descriptions where informative; large fonts, reduced motion, landscape, small screens. Tablet scope decided separately.</a:t>
            </a:r>
          </a:p>
          <a:p>
            <a:r>
              <a:t>ASSETS: bundle approved/licensed font files (licences to confirm — owner) and sized artwork (rights inventory missing — owner); keep text native and selectable; virtualise long transcripts; profile image decode and memory on older devices.</a:t>
            </a:r>
          </a:p>
          <a:p>
            <a:r>
              <a:t>Evidence today covers the web only (25 axe scans, keyboard pass). Human VoiceOver/TalkBack and physical-device passes are required acceptance items.</a:t>
            </a:r>
          </a:p>
          <a:p/>
          <a:p>
            <a:r>
              <a:t>SOURCES (repository paths are relative to the root): frontend/src/app/globals.css · docs/MOBILE-ROADMAP.md §8 · web screenshot 2026-09-15 (390px, desktop Chrome, mock model)</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NOTIFICATIONS (optional, after MVP): today's daily briefing is not a scheduled notification product. Push needs a chosen use case (e.g. opt-in reminders or a completed background job), a server scheduler/job system, device-token registration and revocation, timezone preferences, deduplication, quiet hours and delivery monitoring. Ask permission at the point of value; generic payloads without health/finance details or reply text; deep links recheck authorisation; logout/deletion unregister tokens.</a:t>
            </a:r>
          </a:p>
          <a:p/>
          <a:p>
            <a:r>
              <a:t>SAFETY (store release requirement): Google Play's AI-generated content policy (fetched 2026-09-15) says apps that generate content using AI must contain in-app user reporting or flagging features so users can report offensive content without leaving the app, and developers should use reports to inform filtering/moderation. Build: in-app report action, rate-limited intake, authorised review queue, response policy, retention limits, content-minimising logs.</a:t>
            </a:r>
          </a:p>
          <a:p/>
          <a:p>
            <a:r>
              <a:t>LOAD &amp; QUOTAS: model capacity is server-wide and every account shares the upstream free-tier provider quota. Estimate demand from measured active users × turns/day × observed input/output/extraction usage plus peak simultaneous streams; allowance units are conservative, not provider tokens. Load-test admission, first-token latency, stream completion, SQL pool pressure, password hashing and extraction on the chosen host. Keep one worker until durable claims and distributed monitoring exist. Do not promise user counts before measuring.</a:t>
            </a:r>
          </a:p>
          <a:p/>
          <a:p>
            <a:r>
              <a:t>OBSERVABILITY: agree targets first (latency percentiles, completed-turn rate, allowance rejections, crash-free sessions, backup age, restore time, operator response). Record app version, API version and operation IDs; never personal text. No current artifact establishes an SLA.</a:t>
            </a:r>
          </a:p>
          <a:p/>
          <a:p>
            <a:r>
              <a:t>SOURCES (repository paths are relative to the root): docs/MOBILE-ROADMAP.md §9 · Google Play AI-generated content policy (checked 2026-09-15) · docs/usage-limits.md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ACCEPTANCE MATRIX (evidence must name a signed build and backend revision):</a:t>
            </a:r>
          </a:p>
          <a:p>
            <a:r>
              <a:t>- Devices: at least one physical iPhone and one Android phone; current and oldest supported OS in simulators/emulators; a small display; an older/memory-constrained Android; large text. Minimum OS support chosen after framework/device research (owner decision).</a:t>
            </a:r>
          </a:p>
          <a:p>
            <a:r>
              <a:t>- Account isolation: A→B switching, stale caches, expired sessions, deleted account, sign-out-everywhere, password recovery, refresh-token replay, simultaneous recovery. A valid session must never reveal another account's state.</a:t>
            </a:r>
          </a:p>
          <a:p>
            <a:r>
              <a:t>- Streaming: Wi-Fi→cellular, airplane mode, background/foreground, OS termination, slow response, idle stream, total cap, cancellation, failed extraction, duplicate taps, two-device overlap.</a:t>
            </a:r>
          </a:p>
          <a:p>
            <a:r>
              <a:t>- Data: memory on/off, sensitive-candidate handling, manual correction protection, pinning, private specialist isolation at actual provider input, goal conflicts, export and deletion cleanup.</a:t>
            </a:r>
          </a:p>
          <a:p>
            <a:r>
              <a:t>- UI/accessibility: VoiceOver/TalkBack, keyboard/safe areas, text scaling, reduced motion, focus after errors, portrait loading, long Markdown/code/tables.</a:t>
            </a:r>
          </a:p>
          <a:p>
            <a:r>
              <a:t>- Security: no credentials in logs/deep links/backups; native token lifecycle; TLS; backend ownership checks; deletion; signed release configuration and dependency checks.</a:t>
            </a:r>
          </a:p>
          <a:p>
            <a:r>
              <a:t>- Quality: complete release-agent evaluation plus short real personalised journeys, source/config fingerprints, human adjudication of contested judge outcomes.</a:t>
            </a:r>
          </a:p>
          <a:p>
            <a:r>
              <a:t>A 390px web check does not count as a native-device pass; an automated scanner does not replace screen-reader testing.</a:t>
            </a:r>
          </a:p>
          <a:p/>
          <a:p>
            <a:r>
              <a:t>SOURCES (repository paths are relative to the root): docs/MOBILE-ROADMAP.md §10</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 following were fetched from official pages on 2026-09-15 (automated retrieval; re-verify at submission time):</a:t>
            </a:r>
          </a:p>
          <a:p>
            <a:r>
              <a:t>- Apple, https://developer.apple.com/news/upcoming-requirements/ — apps uploaded to App Store Connect must be built with Xcode 26 or later using an SDK for iOS 26 (or iPadOS/tvOS/visionOS/watchOS 26); stated as effective since April 28, 2026. This is a BUILD requirement, not a minimum supported iOS version.</a:t>
            </a:r>
          </a:p>
          <a:p>
            <a:r>
              <a:t>- Apple, https://developer.apple.com/app-store/review/guidelines/ — 5.1.2(i): clearly disclose where personal data is shared with third parties, including third-party AI, and obtain explicit permission first. 5.1.1(v): apps that support account creation must offer account deletion within the app.</a:t>
            </a:r>
          </a:p>
          <a:p>
            <a:r>
              <a:t>- Apple, https://developer.apple.com/support/offering-account-deletion-in-your-app/ — deletion must be initiable in the app; deactivation alone is insufficient.</a:t>
            </a:r>
          </a:p>
          <a:p>
            <a:r>
              <a:t>- Apple, https://developer.apple.com/help/app-store-connect/test-a-beta-version/invite-external-testers — external TestFlight builds go through TestFlight App Review (first build full review); up to 10,000 external testers per app.</a:t>
            </a:r>
          </a:p>
          <a:p>
            <a:r>
              <a:t>- Google, https://developer.android.com/google/play/requirements/target-sdk — from August 31, 2026 new apps and updates must target Android 16 (API 36) or higher (phone apps); extension possible to November 1, 2026. Target API ≠ minimum supported Android.</a:t>
            </a:r>
          </a:p>
          <a:p>
            <a:r>
              <a:t>- Google, https://support.google.com/googleplay/android-developer/answer/13327111 — apps enabling account creation must provide an in-app deletion path and a functional web link resource for account/data deletion requests.</a:t>
            </a:r>
          </a:p>
          <a:p>
            <a:r>
              <a:t>- Google, https://support.google.com/googleplay/android-developer/answer/14151465 — personal developer accounts created after November 13, 2023 must run a closed test with at least 12 testers opted in continuously for at least 14 days before applying for production. Applicability depends on the owner's account type (owner decision; do not assume).</a:t>
            </a:r>
          </a:p>
          <a:p>
            <a:r>
              <a:t>- Google, https://support.google.com/googleplay/android-developer/answer/13985936 — AI-generated content apps need in-app reporting/flagging.</a:t>
            </a:r>
          </a:p>
          <a:p>
            <a:r>
              <a:t>Not rechecked on 2026-09-15: Apple App Privacy details and Google Data safety pages (carried from the 2026-09-13 roadmap); complete both from the actual app, backend and SDKs.</a:t>
            </a:r>
          </a:p>
          <a:p>
            <a:r>
              <a:t>OWNERSHIP: the owner must hold Apple/Google developer accounts, bundle/application IDs, signing authority and recovery access. Separate dev/staging/production endpoints and signing profiles. Local iOS builds need Apple's toolchain; Windows alone is not the whole iOS release environment. Over-the-air updates must respect native compatibility and store policy. Store approval time is external and not guaranteed.</a:t>
            </a:r>
          </a:p>
          <a:p/>
          <a:p>
            <a:r>
              <a:t>SOURCES (repository paths are relative to the root): developer.apple.com · developer.android.com · support.google.com (URLs in notes and appendix) — rechecked 2026-09-15</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ASSUMPTIONS behind every range (from the roadmap): one experienced full-time React Native/TypeScript engineer; backend support about half-time; part-time design and QA; existing artwork reused; English phone UI; no billing, push, voice or integrations; prompt/provider behaviour largely retained; owner decisions, hardware, credentials and a usable staging host available when needed. Ranges overlap; they are not a priced quote. Do not turn them into promised dates or budgets.</a:t>
            </a:r>
          </a:p>
          <a:p/>
          <a:p>
            <a:r>
              <a:t>PHASES</a:t>
            </a:r>
          </a:p>
          <a:p>
            <a:r>
              <a:t>0. Backend release closure — 1–3 engineering weeks (operational waiting separate): staging verification of the implemented recovery/context/error fixes, quality acceptance, real-domain staging, backup/alert proof. Exit: critical findings closed; staging accounts and reliable rollback/restore.</a:t>
            </a:r>
          </a:p>
          <a:p>
            <a:r>
              <a:t>1. Native feasibility — 1–2 weeks: small Expo development builds on both physical platforms; native auth design and streamed chat prototype. Exit: sign in, stream, interrupt, reconcile and revoke on both devices without duplicates or secret leakage.</a:t>
            </a:r>
          </a:p>
          <a:p>
            <a:r>
              <a:t>2. API/auth foundation — 2–4 weeks: native session issuance/rotation, operation identity, conflict/error contract, pagination, shared types. Exit: security/concurrency tests pass; web authentication remains protected.</a:t>
            </a:r>
          </a:p>
          <a:p>
            <a:r>
              <a:t>3. Product MVP — 3–5 weeks: Home/Team/Chat/History/Memory/Goals/Account, export/deletion, bounded cache, design/accessibility. Exit: all mapped journeys against staging with large text and scripted failures.</a:t>
            </a:r>
          </a:p>
          <a:p>
            <a:r>
              <a:t>4. Release hardening — 2–3 weeks: device matrix, VoiceOver/TalkBack, load/quality verification, AI-sharing consent, AI reporting/support workflow. Exit: no unresolved high-severity defects; evidence tied to a signed candidate.</a:t>
            </a:r>
          </a:p>
          <a:p>
            <a:r>
              <a:t>5. Beta and stores — 2–4+ calendar weeks: TestFlight/Play testing, store declarations/assets, monitored rollout. Exit: account-specific testing requirements met; owner release decision; store approval (external).</a:t>
            </a:r>
          </a:p>
          <a:p>
            <a:r>
              <a:t>TOTALS under these assumptions: roughly 12–18 calendar weeks with overlap, plus hosting/account approvals and store cycles; a single engineer also owning backend, design and QA: roughly 16–24+ weeks. Re-estimate after Phase 1.</a:t>
            </a:r>
          </a:p>
          <a:p/>
          <a:p>
            <a:r>
              <a:t>SOURCES (repository paths are relative to the root): docs/MOBILE-ROADMAP.md §12 · effort ranges are planning ranges under stated assumptions, not dates or quotes</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(from the roadmap) and mitigations:</a:t>
            </a:r>
          </a:p>
          <a:p>
            <a:r>
              <a:t>- Recovery/auth concurrency on native tokens → apply the same database serialisation used for web recovery; PostgreSQL race tests for refresh rotation.</a:t>
            </a:r>
          </a:p>
          <a:p>
            <a:r>
              <a:t>- Streaming during OS suspension → Phase 1 prototype on physical devices; server-side reconciliation; never auto-resend.</a:t>
            </a:r>
          </a:p>
          <a:p>
            <a:r>
              <a:t>- Memory boundaries across devices → provider-input isolation test in the first milestone; account-partitioned cache.</a:t>
            </a:r>
          </a:p>
          <a:p>
            <a:r>
              <a:t>- Shared free-tier provider quota → measure demand before promising users; keep allowances; consider owner decisions on capacity within the free tier.</a:t>
            </a:r>
          </a:p>
          <a:p>
            <a:r>
              <a:t>- Platform accessibility → VoiceOver/TalkBack acceptance by people.</a:t>
            </a:r>
          </a:p>
          <a:p>
            <a:r>
              <a:t>- Store AI and privacy requirements → AI-sharing consent, reporting workflow, deletion web page built into scope.</a:t>
            </a:r>
          </a:p>
          <a:p>
            <a:r>
              <a:t>- Limited asset provenance → artwork and font rights inventory before submission (owner).</a:t>
            </a:r>
          </a:p>
          <a:p>
            <a:r>
              <a:t>- Unmeasured answer quality → web quality acceptance precedes mobile exposure.</a:t>
            </a:r>
          </a:p>
          <a:p>
            <a:r>
              <a:t>Adding voice, offline writes or payments requires a revised estimate.</a:t>
            </a:r>
          </a:p>
          <a:p/>
          <a:p>
            <a:r>
              <a:t>RELEASE GATES for mobile (proposed): (1) web gates closed — quality accepted, real domain, remote backup, alert receipt, working tree committed; (2) Phase 1 feasibility passed on both platforms; (3) native auth/operation contracts security-reviewed; (4) device, accessibility and security matrix passed on a signed candidate; (5) store declarations, reporting workflow and deletion page live; (6) owner release decision.</a:t>
            </a:r>
          </a:p>
          <a:p/>
          <a:p>
            <a:r>
              <a:t>SOURCES (repository paths are relative to the root): docs/MOBILE-ROADMAP.md §12–14 · docs/launch-rehearsal-2026-09-14.md · docs/quality-evidence-2026-09-15.md</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 — before native account access</a:t>
            </a:r>
          </a:p>
          <a:p>
            <a:r>
              <a:t>1. Verify the implemented R13-01 recovery and credential/session fixes in hosted staging (local PostgreSQL race tests already pass).</a:t>
            </a:r>
          </a:p>
          <a:p>
            <a:r>
              <a:t>2. Verify the implemented R13-02/R13-03 memory-error propagation and aggregate context bounds in staging; reuse their regression cases for the native client.</a:t>
            </a:r>
          </a:p>
          <a:p>
            <a:r>
              <a:t>3. Establish a staged API version/schema and a native token threat model; retain browser protections.</a:t>
            </a:r>
          </a:p>
          <a:p>
            <a:r>
              <a:t>4. Add operation IDs, idempotency and durable turn ownership; specify reconciliation after uncertainty.</a:t>
            </a:r>
          </a:p>
          <a:p>
            <a:r>
              <a:t>5. Prove physical-device streaming/auth/revocation on the chosen framework/toolchain.</a:t>
            </a:r>
          </a:p>
          <a:p>
            <a:r>
              <a:t>P1 — required MVP and store delivery</a:t>
            </a:r>
          </a:p>
          <a:p>
            <a:r>
              <a:t>6. Native shell, approved artwork/tokens, accessible keyboard-safe chat and history.</a:t>
            </a:r>
          </a:p>
          <a:p>
            <a:r>
              <a:t>7. Memory/Goals/Today/Account parity and bounded account-isolated storage.</a:t>
            </a:r>
          </a:p>
          <a:p>
            <a:r>
              <a:t>8. AI-sharing consent distinct from automatic learning; export/deletion and local purge.</a:t>
            </a:r>
          </a:p>
          <a:p>
            <a:r>
              <a:t>9. AI response reporting with an owned support/triage workflow; external deletion resource.</a:t>
            </a:r>
          </a:p>
          <a:p>
            <a:r>
              <a:t>10. Full device lifecycle/security tests, source-linked quality artifacts, signed builds and monitoring.</a:t>
            </a:r>
          </a:p>
          <a:p>
            <a:r>
              <a:t>11. Store metadata, SDK/privacy declarations, beta requirements and controlled rollout.</a:t>
            </a:r>
          </a:p>
          <a:p>
            <a:r>
              <a:t>P2 — after observed demand</a:t>
            </a:r>
          </a:p>
          <a:p>
            <a:r>
              <a:t>Push reminders/background completion, biometric app lock, tablet optimisation, localisation/RTL, widgets, attachments, voice and selected integrations. Ask My Team stays off until its own design is approved. Payments need a separate product and policy phase.</a:t>
            </a:r>
          </a:p>
          <a:p/>
          <a:p>
            <a:r>
              <a:t>SOURCES (repository paths are relative to the root): docs/MOBILE-ROADMAP.md §13</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FIRST MILESTONE (proposed; only after critical backend/web gates): a two-platform prototype that signs into a synthetic staging account, streams one Modeer reply, loses connectivity mid-reply, reloads the authoritative partial result, retries without duplicate expenditure, and rejects the session after sign-out-everywhere. Include one private-memory isolation check at the actual provider input. At its review: choose the final framework/toolchain, approve the native auth and operation contracts, re-estimate using measured work, and only then start the full MVP.</a:t>
            </a:r>
          </a:p>
          <a:p/>
          <a:p>
            <a:r>
              <a:t>OWNER DECISIONS NEEDED (do not assume from the web implementation): account mode and email-identity/support policy; automatic-memory default and AI-sharing consent wording; target countries, ages and languages; minimum OS/device coverage; hosting and provider capacity within the free tier and expected beta cohort; retention and offline-cache policy; artwork and font rights; who owns the Apple/Google developer accounts and signing keys; analytics/crash-reporting vendor or none; whether paid features ever belong in a later release; team staffing and framework experience.</a:t>
            </a:r>
          </a:p>
          <a:p/>
          <a:p>
            <a:r>
              <a:t>SOURCES (repository paths are relative to the root): docs/MOBILE-ROADMAP.md §14</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2026-09-15 (official pages):</a:t>
            </a:r>
          </a:p>
          <a:p>
            <a:r>
              <a:t>1. https://developer.apple.com/news/upcoming-requirements/ — Xcode 26 / iOS 26 SDK since Apr 28, 2026.</a:t>
            </a:r>
          </a:p>
          <a:p>
            <a:r>
              <a:t>2. https://developer.apple.com/app-store/review/guidelines/ — 5.1.2(i) third-party AI disclosure and explicit permission; 5.1.1(v) in-app account deletion.</a:t>
            </a:r>
          </a:p>
          <a:p>
            <a:r>
              <a:t>3. https://developer.apple.com/support/offering-account-deletion-in-your-app/</a:t>
            </a:r>
          </a:p>
          <a:p>
            <a:r>
              <a:t>4. https://developer.apple.com/help/app-store-connect/test-a-beta-version/invite-external-testers — TestFlight App Review for external builds; up to 10,000 external testers.</a:t>
            </a:r>
          </a:p>
          <a:p>
            <a:r>
              <a:t>5. https://developer.android.com/google/play/requirements/target-sdk — API 36 from Aug 31, 2026 (extension to Nov 1, 2026).</a:t>
            </a:r>
          </a:p>
          <a:p>
            <a:r>
              <a:t>6. https://support.google.com/googleplay/android-developer/answer/13327111 — in-app deletion + web resource.</a:t>
            </a:r>
          </a:p>
          <a:p>
            <a:r>
              <a:t>7. https://support.google.com/googleplay/android-developer/answer/14151465 — 12 testers, 14 days, personal accounts created after Nov 13, 2023.</a:t>
            </a:r>
          </a:p>
          <a:p>
            <a:r>
              <a:t>8. https://support.google.com/googleplay/android-developer/answer/13985936 — AI-generated content reporting.</a:t>
            </a:r>
          </a:p>
          <a:p>
            <a:r>
              <a:t>9. https://docs.expo.dev/versions/latest/sdk/expo/ — expo/fetch streaming via resp.body.getReader() (SDK 57.0.0 page).</a:t>
            </a:r>
          </a:p>
          <a:p>
            <a:r>
              <a:t>10. https://docs.expo.dev/versions/latest/sdk/securestore/ — uninstall behaviour; payload size caution.</a:t>
            </a:r>
          </a:p>
          <a:p>
            <a:r>
              <a:t>NOT rechecked 2026-09-15 (documented 2026-09-13 in docs/MOBILE-ROADMAP.md): https://reactnative.dev/docs/environment-setup (fetch failed twice), Flutter architecture overview, Expo authentication and local builds guides, Apple App Privacy details, Google Data safety.</a:t>
            </a:r>
          </a:p>
          <a:p>
            <a:r>
              <a:t>Limitation: pages were retrieved and summarised by an automated fetch tool; quoted requirements should be re-read directly before relying on them.</a:t>
            </a:r>
          </a:p>
          <a:p/>
          <a:p>
            <a:r>
              <a:t>SOURCES (repository paths are relative to the root): Fetched 2026-09-15 via automated page retrieval · re-verify at implementation and submission</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speaker notes on 'Reuse the backend; add what phones need' and 'Phones drop connections' for the full rationale. All items are proposed; none exist in the backend today.</a:t>
            </a:r>
          </a:p>
          <a:p/>
          <a:p>
            <a:r>
              <a:t>SOURCES (repository paths are relative to the root): docs/MOBILE-ROADMAP.md §5–7, §13</a:t>
            </a:r>
          </a:p>
          <a:p>
            <a:r>
              <a:t>BASELINE: branch fixes/launch-readiness-20260911, HEAD 1ed17eb5748d948a541f0e76a7fabcddd094534d plus the uncommitted working tree; deck prepared 2026-09-15.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cxnSp>
        <p:nvCxnSpPr>
          <p:cNvPr id="2" name="Connector 1"/>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Proposed plan · docs/MOBILE-ROADMAP.md (planning date 2026-09-13, dependency update 2026-09-15) · HEAD 1ed17eb + working tree</a:t>
            </a:r>
          </a:p>
        </p:txBody>
      </p:sp>
      <p:sp>
        <p:nvSpPr>
          <p:cNvPr id="4" name="TextBox 3"/>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a:t>
            </a:r>
          </a:p>
        </p:txBody>
      </p:sp>
      <p:sp>
        <p:nvSpPr>
          <p:cNvPr id="5" name="Rectangle 4"/>
          <p:cNvSpPr/>
          <p:nvPr/>
        </p:nvSpPr>
        <p:spPr>
          <a:xfrm>
            <a:off x="0" y="0"/>
            <a:ext cx="5532120" cy="6309360"/>
          </a:xfrm>
          <a:prstGeom prst="rect">
            <a:avLst/>
          </a:prstGeom>
          <a:solidFill>
            <a:srgbClr val="FF4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dmark.png"/>
          <p:cNvPicPr>
            <a:picLocks noChangeAspect="1"/>
          </p:cNvPicPr>
          <p:nvPr/>
        </p:nvPicPr>
        <p:blipFill>
          <a:blip r:embed="rId3"/>
          <a:stretch>
            <a:fillRect/>
          </a:stretch>
        </p:blipFill>
        <p:spPr>
          <a:xfrm>
            <a:off x="566928" y="502920"/>
            <a:ext cx="2103120" cy="757123"/>
          </a:xfrm>
          <a:prstGeom prst="rect">
            <a:avLst/>
          </a:prstGeom>
        </p:spPr>
      </p:pic>
      <p:sp>
        <p:nvSpPr>
          <p:cNvPr id="7" name="TextBox 6"/>
          <p:cNvSpPr txBox="1"/>
          <p:nvPr/>
        </p:nvSpPr>
        <p:spPr>
          <a:xfrm>
            <a:off x="548640" y="1417320"/>
            <a:ext cx="4846320" cy="2194560"/>
          </a:xfrm>
          <a:prstGeom prst="rect">
            <a:avLst/>
          </a:prstGeom>
          <a:noFill/>
        </p:spPr>
        <p:txBody>
          <a:bodyPr wrap="square" lIns="18288" rIns="18288" tIns="9144" bIns="9144" anchor="t">
            <a:spAutoFit/>
          </a:bodyPr>
          <a:lstStyle/>
          <a:p>
            <a:pPr algn="l">
              <a:lnSpc>
                <a:spcPct val="95000"/>
              </a:lnSpc>
              <a:spcAft>
                <a:spcPts val="400"/>
              </a:spcAft>
            </a:pPr>
            <a:r>
              <a:rPr sz="4600" b="0">
                <a:solidFill>
                  <a:srgbClr val="151714"/>
                </a:solidFill>
                <a:latin typeface="Arial Black"/>
              </a:rPr>
              <a:t>iOS &amp; Android</a:t>
            </a:r>
          </a:p>
          <a:p>
            <a:pPr algn="l">
              <a:lnSpc>
                <a:spcPct val="95000"/>
              </a:lnSpc>
              <a:spcAft>
                <a:spcPts val="400"/>
              </a:spcAft>
            </a:pPr>
            <a:r>
              <a:rPr sz="4600" b="0">
                <a:solidFill>
                  <a:srgbClr val="151714"/>
                </a:solidFill>
                <a:latin typeface="Arial Black"/>
              </a:rPr>
              <a:t>delivery</a:t>
            </a:r>
          </a:p>
          <a:p>
            <a:pPr algn="l">
              <a:lnSpc>
                <a:spcPct val="95000"/>
              </a:lnSpc>
              <a:spcAft>
                <a:spcPts val="400"/>
              </a:spcAft>
            </a:pPr>
            <a:r>
              <a:rPr sz="4600" b="0">
                <a:solidFill>
                  <a:srgbClr val="151714"/>
                </a:solidFill>
                <a:latin typeface="Arial Black"/>
              </a:rPr>
              <a:t>roadmap</a:t>
            </a:r>
          </a:p>
        </p:txBody>
      </p:sp>
      <p:sp>
        <p:nvSpPr>
          <p:cNvPr id="8" name="TextBox 7"/>
          <p:cNvSpPr txBox="1"/>
          <p:nvPr/>
        </p:nvSpPr>
        <p:spPr>
          <a:xfrm>
            <a:off x="566928" y="3977639"/>
            <a:ext cx="4754880" cy="822960"/>
          </a:xfrm>
          <a:prstGeom prst="rect">
            <a:avLst/>
          </a:prstGeom>
          <a:noFill/>
        </p:spPr>
        <p:txBody>
          <a:bodyPr wrap="square" lIns="18288" rIns="18288" tIns="9144" bIns="9144" anchor="t">
            <a:spAutoFit/>
          </a:bodyPr>
          <a:lstStyle/>
          <a:p>
            <a:pPr algn="l">
              <a:lnSpc>
                <a:spcPct val="108000"/>
              </a:lnSpc>
              <a:spcAft>
                <a:spcPts val="400"/>
              </a:spcAft>
            </a:pPr>
            <a:r>
              <a:rPr sz="1800" b="0">
                <a:solidFill>
                  <a:srgbClr val="151714"/>
                </a:solidFill>
                <a:latin typeface="Segoe UI"/>
              </a:rPr>
              <a:t>How Modeer could reach phones without weakening what already works.</a:t>
            </a:r>
          </a:p>
        </p:txBody>
      </p:sp>
      <p:sp>
        <p:nvSpPr>
          <p:cNvPr id="9" name="Rectangle 8"/>
          <p:cNvSpPr/>
          <p:nvPr/>
        </p:nvSpPr>
        <p:spPr>
          <a:xfrm>
            <a:off x="566928" y="4983480"/>
            <a:ext cx="246888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PROPOSED · NOTHING BUILT</a:t>
            </a:r>
          </a:p>
        </p:txBody>
      </p:sp>
      <p:sp>
        <p:nvSpPr>
          <p:cNvPr id="10" name="TextBox 9"/>
          <p:cNvSpPr txBox="1"/>
          <p:nvPr/>
        </p:nvSpPr>
        <p:spPr>
          <a:xfrm>
            <a:off x="566928" y="5394960"/>
            <a:ext cx="4846320" cy="82296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151714"/>
                </a:solidFill>
                <a:latin typeface="Segoe UI Semibold"/>
              </a:rPr>
              <a:t>Prepared 2026-09-15</a:t>
            </a:r>
          </a:p>
          <a:p>
            <a:pPr algn="l">
              <a:lnSpc>
                <a:spcPct val="108000"/>
              </a:lnSpc>
              <a:spcAft>
                <a:spcPts val="400"/>
              </a:spcAft>
            </a:pPr>
            <a:r>
              <a:rPr sz="1300" b="0">
                <a:solidFill>
                  <a:srgbClr val="151714"/>
                </a:solidFill>
                <a:latin typeface="Segoe UI Semibold"/>
              </a:rPr>
              <a:t>For the owner and the incoming mobile team</a:t>
            </a:r>
          </a:p>
        </p:txBody>
      </p:sp>
      <p:sp>
        <p:nvSpPr>
          <p:cNvPr id="11" name="Rectangle 10"/>
          <p:cNvSpPr/>
          <p:nvPr/>
        </p:nvSpPr>
        <p:spPr>
          <a:xfrm>
            <a:off x="6099048" y="1161288"/>
            <a:ext cx="1691640" cy="211455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udy.jpg"/>
          <p:cNvPicPr>
            <a:picLocks noChangeAspect="1"/>
          </p:cNvPicPr>
          <p:nvPr/>
        </p:nvPicPr>
        <p:blipFill>
          <a:blip r:embed="rId4"/>
          <a:stretch>
            <a:fillRect/>
          </a:stretch>
        </p:blipFill>
        <p:spPr>
          <a:xfrm>
            <a:off x="6035040" y="1097280"/>
            <a:ext cx="1691640" cy="2114550"/>
          </a:xfrm>
          <a:prstGeom prst="rect">
            <a:avLst/>
          </a:prstGeom>
          <a:ln w="25400">
            <a:solidFill>
              <a:srgbClr val="151714"/>
            </a:solidFill>
          </a:ln>
        </p:spPr>
      </p:pic>
      <p:sp>
        <p:nvSpPr>
          <p:cNvPr id="13" name="Rectangle 12"/>
          <p:cNvSpPr/>
          <p:nvPr/>
        </p:nvSpPr>
        <p:spPr>
          <a:xfrm>
            <a:off x="8019288" y="1161288"/>
            <a:ext cx="1691640" cy="211455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ravel.jpg"/>
          <p:cNvPicPr>
            <a:picLocks noChangeAspect="1"/>
          </p:cNvPicPr>
          <p:nvPr/>
        </p:nvPicPr>
        <p:blipFill>
          <a:blip r:embed="rId5"/>
          <a:stretch>
            <a:fillRect/>
          </a:stretch>
        </p:blipFill>
        <p:spPr>
          <a:xfrm>
            <a:off x="7955279" y="1097280"/>
            <a:ext cx="1691640" cy="2114550"/>
          </a:xfrm>
          <a:prstGeom prst="rect">
            <a:avLst/>
          </a:prstGeom>
          <a:ln w="25400">
            <a:solidFill>
              <a:srgbClr val="151714"/>
            </a:solidFill>
          </a:ln>
        </p:spPr>
      </p:pic>
      <p:sp>
        <p:nvSpPr>
          <p:cNvPr id="15" name="Rectangle 14"/>
          <p:cNvSpPr/>
          <p:nvPr/>
        </p:nvSpPr>
        <p:spPr>
          <a:xfrm>
            <a:off x="9939528" y="1161288"/>
            <a:ext cx="1691640" cy="211455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tness.jpg"/>
          <p:cNvPicPr>
            <a:picLocks noChangeAspect="1"/>
          </p:cNvPicPr>
          <p:nvPr/>
        </p:nvPicPr>
        <p:blipFill>
          <a:blip r:embed="rId6"/>
          <a:stretch>
            <a:fillRect/>
          </a:stretch>
        </p:blipFill>
        <p:spPr>
          <a:xfrm>
            <a:off x="9875520" y="1097280"/>
            <a:ext cx="1691640" cy="2114550"/>
          </a:xfrm>
          <a:prstGeom prst="rect">
            <a:avLst/>
          </a:prstGeom>
          <a:ln w="25400">
            <a:solidFill>
              <a:srgbClr val="151714"/>
            </a:solidFill>
          </a:ln>
        </p:spPr>
      </p:pic>
      <p:sp>
        <p:nvSpPr>
          <p:cNvPr id="17" name="TextBox 16"/>
          <p:cNvSpPr txBox="1"/>
          <p:nvPr/>
        </p:nvSpPr>
        <p:spPr>
          <a:xfrm>
            <a:off x="6035040" y="3429000"/>
            <a:ext cx="5577840" cy="1097280"/>
          </a:xfrm>
          <a:prstGeom prst="rect">
            <a:avLst/>
          </a:prstGeom>
          <a:noFill/>
        </p:spPr>
        <p:txBody>
          <a:bodyPr wrap="square" lIns="18288" rIns="18288" tIns="9144" bIns="9144" anchor="t">
            <a:spAutoFit/>
          </a:bodyPr>
          <a:lstStyle/>
          <a:p>
            <a:pPr algn="l">
              <a:lnSpc>
                <a:spcPct val="108000"/>
              </a:lnSpc>
              <a:spcAft>
                <a:spcPts val="400"/>
              </a:spcAft>
            </a:pPr>
            <a:r>
              <a:rPr sz="2200" b="0">
                <a:solidFill>
                  <a:srgbClr val="151714"/>
                </a:solidFill>
                <a:latin typeface="Arial Black"/>
              </a:rPr>
              <a:t>Mobile starts only after the web release gates close.</a:t>
            </a:r>
          </a:p>
        </p:txBody>
      </p:sp>
      <p:sp>
        <p:nvSpPr>
          <p:cNvPr id="18" name="TextBox 17"/>
          <p:cNvSpPr txBox="1"/>
          <p:nvPr/>
        </p:nvSpPr>
        <p:spPr>
          <a:xfrm>
            <a:off x="6035040" y="4572000"/>
            <a:ext cx="5577840" cy="914400"/>
          </a:xfrm>
          <a:prstGeom prst="rect">
            <a:avLst/>
          </a:prstGeom>
          <a:noFill/>
        </p:spPr>
        <p:txBody>
          <a:bodyPr wrap="square" lIns="18288" rIns="18288" tIns="9144" bIns="9144" anchor="t">
            <a:spAutoFit/>
          </a:bodyPr>
          <a:lstStyle/>
          <a:p>
            <a:pPr algn="l">
              <a:lnSpc>
                <a:spcPct val="108000"/>
              </a:lnSpc>
              <a:spcAft>
                <a:spcPts val="400"/>
              </a:spcAft>
            </a:pPr>
            <a:r>
              <a:rPr sz="1500" b="0">
                <a:solidFill>
                  <a:srgbClr val="43483F"/>
                </a:solidFill>
                <a:latin typeface="Segoe UI"/>
              </a:rPr>
              <a:t>First milestone: a two-platform prototype that signs in, streams, survives a dropped connection and rejects a revoked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STARTING POINT</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Mobile depends on the web release gates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docs/launch-rehearsal-2026-09-14.md · docs/quality-evidence-2026-09-15.md · docs/MOBILE-ROADMAP.md §1</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2</a:t>
            </a:r>
          </a:p>
        </p:txBody>
      </p:sp>
      <p:sp>
        <p:nvSpPr>
          <p:cNvPr id="7" name="Rectangle 6"/>
          <p:cNvSpPr/>
          <p:nvPr/>
        </p:nvSpPr>
        <p:spPr>
          <a:xfrm>
            <a:off x="612647" y="1709928"/>
            <a:ext cx="3611880" cy="41148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3611880" cy="41148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45920"/>
            <a:ext cx="36118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700784"/>
            <a:ext cx="3355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Web today</a:t>
            </a:r>
          </a:p>
        </p:txBody>
      </p:sp>
      <p:sp>
        <p:nvSpPr>
          <p:cNvPr id="11" name="TextBox 10"/>
          <p:cNvSpPr txBox="1"/>
          <p:nvPr/>
        </p:nvSpPr>
        <p:spPr>
          <a:xfrm>
            <a:off x="694944" y="2176272"/>
            <a:ext cx="3319272" cy="34930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Streaming chat with 4 reply states</a:t>
            </a:r>
          </a:p>
          <a:p>
            <a:pPr algn="l" marL="219456" indent="-182880">
              <a:lnSpc>
                <a:spcPct val="108000"/>
              </a:lnSpc>
              <a:spcAft>
                <a:spcPts val="400"/>
              </a:spcAft>
              <a:buFont typeface="Arial"/>
              <a:buChar char="•"/>
            </a:pPr>
            <a:r>
              <a:rPr sz="1400" b="0">
                <a:solidFill>
                  <a:srgbClr val="151714"/>
                </a:solidFill>
                <a:latin typeface="Segoe UI"/>
              </a:rPr>
              <a:t>Shared + private memory, goals</a:t>
            </a:r>
          </a:p>
          <a:p>
            <a:pPr algn="l" marL="219456" indent="-182880">
              <a:lnSpc>
                <a:spcPct val="108000"/>
              </a:lnSpc>
              <a:spcAft>
                <a:spcPts val="400"/>
              </a:spcAft>
              <a:buFont typeface="Arial"/>
              <a:buChar char="•"/>
            </a:pPr>
            <a:r>
              <a:rPr sz="1400" b="0">
                <a:solidFill>
                  <a:srgbClr val="151714"/>
                </a:solidFill>
                <a:latin typeface="Segoe UI"/>
              </a:rPr>
              <a:t>Passwords, recovery codes, revocation</a:t>
            </a:r>
          </a:p>
          <a:p>
            <a:pPr algn="l" marL="219456" indent="-182880">
              <a:lnSpc>
                <a:spcPct val="108000"/>
              </a:lnSpc>
              <a:spcAft>
                <a:spcPts val="400"/>
              </a:spcAft>
              <a:buFont typeface="Arial"/>
              <a:buChar char="•"/>
            </a:pPr>
            <a:r>
              <a:rPr sz="1400" b="0">
                <a:solidFill>
                  <a:srgbClr val="151714"/>
                </a:solidFill>
                <a:latin typeface="Segoe UI"/>
              </a:rPr>
              <a:t>Export and in-app deletion</a:t>
            </a:r>
          </a:p>
          <a:p>
            <a:pPr algn="l" marL="219456" indent="-182880">
              <a:lnSpc>
                <a:spcPct val="108000"/>
              </a:lnSpc>
              <a:spcAft>
                <a:spcPts val="400"/>
              </a:spcAft>
              <a:buFont typeface="Arial"/>
              <a:buChar char="•"/>
            </a:pPr>
            <a:r>
              <a:rPr sz="1400" b="0">
                <a:solidFill>
                  <a:srgbClr val="151714"/>
                </a:solidFill>
                <a:latin typeface="Segoe UI"/>
              </a:rPr>
              <a:t>Verified locally, not on a real host</a:t>
            </a:r>
          </a:p>
        </p:txBody>
      </p:sp>
      <p:sp>
        <p:nvSpPr>
          <p:cNvPr id="12" name="Rectangle 11"/>
          <p:cNvSpPr/>
          <p:nvPr/>
        </p:nvSpPr>
        <p:spPr>
          <a:xfrm>
            <a:off x="4379976" y="1709928"/>
            <a:ext cx="3611880" cy="41148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645920"/>
            <a:ext cx="3611880" cy="41148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15968" y="1645920"/>
            <a:ext cx="361188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43983" y="1700784"/>
            <a:ext cx="3355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Still open</a:t>
            </a:r>
          </a:p>
        </p:txBody>
      </p:sp>
      <p:sp>
        <p:nvSpPr>
          <p:cNvPr id="16" name="TextBox 15"/>
          <p:cNvSpPr txBox="1"/>
          <p:nvPr/>
        </p:nvSpPr>
        <p:spPr>
          <a:xfrm>
            <a:off x="4462272" y="2176272"/>
            <a:ext cx="3319272" cy="34930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Answer quality: 27 pass · 11 fail · 1 ungraded</a:t>
            </a:r>
          </a:p>
          <a:p>
            <a:pPr algn="l" marL="219456" indent="-182880">
              <a:lnSpc>
                <a:spcPct val="108000"/>
              </a:lnSpc>
              <a:spcAft>
                <a:spcPts val="400"/>
              </a:spcAft>
              <a:buFont typeface="Arial"/>
              <a:buChar char="•"/>
            </a:pPr>
            <a:r>
              <a:rPr sz="1400" b="0">
                <a:solidFill>
                  <a:srgbClr val="151714"/>
                </a:solidFill>
                <a:latin typeface="Segoe UI"/>
              </a:rPr>
              <a:t>Real domain, remote backups, alert receipt</a:t>
            </a:r>
          </a:p>
          <a:p>
            <a:pPr algn="l" marL="219456" indent="-182880">
              <a:lnSpc>
                <a:spcPct val="108000"/>
              </a:lnSpc>
              <a:spcAft>
                <a:spcPts val="400"/>
              </a:spcAft>
              <a:buFont typeface="Arial"/>
              <a:buChar char="•"/>
            </a:pPr>
            <a:r>
              <a:rPr sz="1400" b="0">
                <a:solidFill>
                  <a:srgbClr val="151714"/>
                </a:solidFill>
                <a:latin typeface="Segoe UI"/>
              </a:rPr>
              <a:t>Phones and screen reader untested</a:t>
            </a:r>
          </a:p>
          <a:p>
            <a:pPr algn="l" marL="219456" indent="-182880">
              <a:lnSpc>
                <a:spcPct val="108000"/>
              </a:lnSpc>
              <a:spcAft>
                <a:spcPts val="400"/>
              </a:spcAft>
              <a:buFont typeface="Arial"/>
              <a:buChar char="•"/>
            </a:pPr>
            <a:r>
              <a:rPr sz="1400" b="0">
                <a:solidFill>
                  <a:srgbClr val="151714"/>
                </a:solidFill>
                <a:latin typeface="Segoe UI"/>
              </a:rPr>
              <a:t>Fixes still uncommitted</a:t>
            </a:r>
          </a:p>
        </p:txBody>
      </p:sp>
      <p:sp>
        <p:nvSpPr>
          <p:cNvPr id="17" name="Rectangle 16"/>
          <p:cNvSpPr/>
          <p:nvPr/>
        </p:nvSpPr>
        <p:spPr>
          <a:xfrm>
            <a:off x="8147304" y="1709928"/>
            <a:ext cx="3566160" cy="41148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45920"/>
            <a:ext cx="3566160" cy="41148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83296" y="1645920"/>
            <a:ext cx="356616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11312" y="1700784"/>
            <a:ext cx="33101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Mobile</a:t>
            </a:r>
          </a:p>
        </p:txBody>
      </p:sp>
      <p:sp>
        <p:nvSpPr>
          <p:cNvPr id="21" name="TextBox 20"/>
          <p:cNvSpPr txBox="1"/>
          <p:nvPr/>
        </p:nvSpPr>
        <p:spPr>
          <a:xfrm>
            <a:off x="8229600" y="2176272"/>
            <a:ext cx="3273552" cy="34930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No app, API or store accounts yet</a:t>
            </a:r>
          </a:p>
          <a:p>
            <a:pPr algn="l" marL="219456" indent="-182880">
              <a:lnSpc>
                <a:spcPct val="108000"/>
              </a:lnSpc>
              <a:spcAft>
                <a:spcPts val="400"/>
              </a:spcAft>
              <a:buFont typeface="Arial"/>
              <a:buChar char="•"/>
            </a:pPr>
            <a:r>
              <a:rPr sz="1400" b="0">
                <a:solidFill>
                  <a:srgbClr val="151714"/>
                </a:solidFill>
                <a:latin typeface="Segoe UI"/>
              </a:rPr>
              <a:t>Starts with a small feasibility spike</a:t>
            </a:r>
          </a:p>
          <a:p>
            <a:pPr algn="l" marL="219456" indent="-182880">
              <a:lnSpc>
                <a:spcPct val="108000"/>
              </a:lnSpc>
              <a:spcAft>
                <a:spcPts val="400"/>
              </a:spcAft>
              <a:buFont typeface="Arial"/>
              <a:buChar char="•"/>
            </a:pPr>
            <a:r>
              <a:rPr sz="1400" b="0">
                <a:solidFill>
                  <a:srgbClr val="151714"/>
                </a:solidFill>
                <a:latin typeface="Segoe UI"/>
              </a:rPr>
              <a:t>Native password accounts wait for the gates</a:t>
            </a:r>
          </a:p>
        </p:txBody>
      </p:sp>
      <p:sp>
        <p:nvSpPr>
          <p:cNvPr id="22" name="Rectangle 21"/>
          <p:cNvSpPr/>
          <p:nvPr/>
        </p:nvSpPr>
        <p:spPr>
          <a:xfrm>
            <a:off x="4315968" y="5961888"/>
            <a:ext cx="1828800" cy="274320"/>
          </a:xfrm>
          <a:prstGeom prst="rect">
            <a:avLst/>
          </a:prstGeom>
          <a:solidFill>
            <a:srgbClr val="CC1757"/>
          </a:solidFill>
          <a:ln w="15875">
            <a:solidFill>
              <a:srgbClr val="CC1757"/>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FFFF"/>
                </a:solidFill>
                <a:latin typeface="Segoe UI Semibold"/>
              </a:rPr>
              <a:t>UNRESOLVED DEFECT</a:t>
            </a:r>
          </a:p>
        </p:txBody>
      </p:sp>
      <p:sp>
        <p:nvSpPr>
          <p:cNvPr id="23" name="Rectangle 22"/>
          <p:cNvSpPr/>
          <p:nvPr/>
        </p:nvSpPr>
        <p:spPr>
          <a:xfrm>
            <a:off x="6263640" y="5961888"/>
            <a:ext cx="1737360" cy="274320"/>
          </a:xfrm>
          <a:prstGeom prst="rect">
            <a:avLst/>
          </a:prstGeom>
          <a:solidFill>
            <a:srgbClr val="151714"/>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FFDA45"/>
                </a:solidFill>
                <a:latin typeface="Segoe UI Semibold"/>
              </a:rPr>
              <a:t>OPERATIONAL GATE</a:t>
            </a:r>
          </a:p>
        </p:txBody>
      </p:sp>
      <p:sp>
        <p:nvSpPr>
          <p:cNvPr id="24" name="Rectangle 23"/>
          <p:cNvSpPr/>
          <p:nvPr/>
        </p:nvSpPr>
        <p:spPr>
          <a:xfrm>
            <a:off x="8083296" y="5961888"/>
            <a:ext cx="100584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PROPOSED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SCOPE</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The mobile MVP mirrors the web journeys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§3 · backend routes (auth, chat, conversations, memory, goals, briefings, users)</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3</a:t>
            </a:r>
          </a:p>
        </p:txBody>
      </p:sp>
      <p:graphicFrame>
        <p:nvGraphicFramePr>
          <p:cNvPr id="7" name="Table 6"/>
          <p:cNvGraphicFramePr>
            <a:graphicFrameLocks noGrp="1"/>
          </p:cNvGraphicFramePr>
          <p:nvPr/>
        </p:nvGraphicFramePr>
        <p:xfrm>
          <a:off x="548640" y="1600200"/>
          <a:ext cx="7406640" cy="4096512"/>
        </p:xfrm>
        <a:graphic>
          <a:graphicData uri="http://schemas.openxmlformats.org/drawingml/2006/table">
            <a:tbl>
              <a:tblPr firstRow="1" bandRow="1">
                <a:tableStyleId>{5940675A-B579-460E-94D1-54222C63F5DA}</a:tableStyleId>
              </a:tblPr>
              <a:tblGrid>
                <a:gridCol w="1463040"/>
                <a:gridCol w="2651760"/>
                <a:gridCol w="3291840"/>
              </a:tblGrid>
              <a:tr h="512064">
                <a:tc>
                  <a:txBody>
                    <a:bodyPr wrap="square"/>
                    <a:lstStyle/>
                    <a:p>
                      <a:r>
                        <a:rPr sz="1250">
                          <a:solidFill>
                            <a:srgbClr val="151714"/>
                          </a:solidFill>
                          <a:latin typeface="Segoe UI Semibold"/>
                        </a:rPr>
                        <a:t>Journey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Already on the web</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Mobile MVP work</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512064">
                <a:tc>
                  <a:txBody>
                    <a:bodyPr wrap="square"/>
                    <a:lstStyle/>
                    <a:p>
                      <a:r>
                        <a:rPr sz="1250">
                          <a:solidFill>
                            <a:srgbClr val="151714"/>
                          </a:solidFill>
                          <a:latin typeface="Segoe UI Semibold"/>
                        </a:rPr>
                        <a:t>Access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Password or key · recovery codes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Native forms · secure session · code handling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12064">
                <a:tc>
                  <a:txBody>
                    <a:bodyPr wrap="square"/>
                    <a:lstStyle/>
                    <a:p>
                      <a:r>
                        <a:rPr sz="1250">
                          <a:solidFill>
                            <a:srgbClr val="151714"/>
                          </a:solidFill>
                          <a:latin typeface="Segoe UI Semibold"/>
                        </a:rPr>
                        <a:t>First use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Onboarding with Modeer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AI-sharing consent before the first request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12064">
                <a:tc>
                  <a:txBody>
                    <a:bodyPr wrap="square"/>
                    <a:lstStyle/>
                    <a:p>
                      <a:r>
                        <a:rPr sz="1250">
                          <a:solidFill>
                            <a:srgbClr val="151714"/>
                          </a:solidFill>
                          <a:latin typeface="Segoe UI Semibold"/>
                        </a:rPr>
                        <a:t>Home &amp; team</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Hero · specialists · Today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Native tabs and portrait panels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12064">
                <a:tc>
                  <a:txBody>
                    <a:bodyPr wrap="square"/>
                    <a:lstStyle/>
                    <a:p>
                      <a:r>
                        <a:rPr sz="1250">
                          <a:solidFill>
                            <a:srgbClr val="151714"/>
                          </a:solidFill>
                          <a:latin typeface="Segoe UI Semibold"/>
                        </a:rPr>
                        <a:t>Chat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POST + SSE · 4 reply states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Streaming transcript · reconnect reconciliation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12064">
                <a:tc>
                  <a:txBody>
                    <a:bodyPr wrap="square"/>
                    <a:lstStyle/>
                    <a:p>
                      <a:r>
                        <a:rPr sz="1250">
                          <a:solidFill>
                            <a:srgbClr val="151714"/>
                          </a:solidFill>
                          <a:latin typeface="Segoe UI Semibold"/>
                        </a:rPr>
                        <a:t>Memory &amp; goals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Shared/private facts · goals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Same controls, server-confirmed writes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12064">
                <a:tc>
                  <a:txBody>
                    <a:bodyPr wrap="square"/>
                    <a:lstStyle/>
                    <a:p>
                      <a:r>
                        <a:rPr sz="1250">
                          <a:solidFill>
                            <a:srgbClr val="151714"/>
                          </a:solidFill>
                          <a:latin typeface="Segoe UI Semibold"/>
                        </a:rPr>
                        <a:t>Account rights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Export · delete · sign out all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In-app deletion · local purge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12064">
                <a:tc>
                  <a:txBody>
                    <a:bodyPr wrap="square"/>
                    <a:lstStyle/>
                    <a:p>
                      <a:r>
                        <a:rPr sz="1250">
                          <a:solidFill>
                            <a:srgbClr val="151714"/>
                          </a:solidFill>
                          <a:latin typeface="Segoe UI Semibold"/>
                        </a:rPr>
                        <a:t>AI reports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CC1757"/>
                          </a:solidFill>
                          <a:latin typeface="Segoe UI Semibold"/>
                        </a:rPr>
                        <a:t>Not built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Report action + operator triage (store requirement)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bl>
          </a:graphicData>
        </a:graphic>
      </p:graphicFrame>
      <p:sp>
        <p:nvSpPr>
          <p:cNvPr id="8" name="Rectangle 7"/>
          <p:cNvSpPr/>
          <p:nvPr/>
        </p:nvSpPr>
        <p:spPr>
          <a:xfrm>
            <a:off x="8247888" y="1664208"/>
            <a:ext cx="347472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83879" y="1600200"/>
            <a:ext cx="347472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183879" y="1600200"/>
            <a:ext cx="347472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11896" y="1655064"/>
            <a:ext cx="321868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Not in the MVP</a:t>
            </a:r>
          </a:p>
        </p:txBody>
      </p:sp>
      <p:sp>
        <p:nvSpPr>
          <p:cNvPr id="12" name="TextBox 11"/>
          <p:cNvSpPr txBox="1"/>
          <p:nvPr/>
        </p:nvSpPr>
        <p:spPr>
          <a:xfrm>
            <a:off x="8330183" y="2130552"/>
            <a:ext cx="318211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Ask My Team</a:t>
            </a:r>
          </a:p>
          <a:p>
            <a:pPr algn="l" marL="219456" indent="-182880">
              <a:lnSpc>
                <a:spcPct val="108000"/>
              </a:lnSpc>
              <a:spcAft>
                <a:spcPts val="400"/>
              </a:spcAft>
              <a:buFont typeface="Arial"/>
              <a:buChar char="•"/>
            </a:pPr>
            <a:r>
              <a:rPr sz="1400" b="0">
                <a:solidFill>
                  <a:srgbClr val="151714"/>
                </a:solidFill>
                <a:latin typeface="Segoe UI"/>
              </a:rPr>
              <a:t>Voice, widgets, attachments</a:t>
            </a:r>
          </a:p>
          <a:p>
            <a:pPr algn="l" marL="219456" indent="-182880">
              <a:lnSpc>
                <a:spcPct val="108000"/>
              </a:lnSpc>
              <a:spcAft>
                <a:spcPts val="400"/>
              </a:spcAft>
              <a:buFont typeface="Arial"/>
              <a:buChar char="•"/>
            </a:pPr>
            <a:r>
              <a:rPr sz="1400" b="0">
                <a:solidFill>
                  <a:srgbClr val="151714"/>
                </a:solidFill>
                <a:latin typeface="Segoe UI"/>
              </a:rPr>
              <a:t>Push reminders</a:t>
            </a:r>
          </a:p>
          <a:p>
            <a:pPr algn="l" marL="219456" indent="-182880">
              <a:lnSpc>
                <a:spcPct val="108000"/>
              </a:lnSpc>
              <a:spcAft>
                <a:spcPts val="400"/>
              </a:spcAft>
              <a:buFont typeface="Arial"/>
              <a:buChar char="•"/>
            </a:pPr>
            <a:r>
              <a:rPr sz="1400" b="0">
                <a:solidFill>
                  <a:srgbClr val="151714"/>
                </a:solidFill>
                <a:latin typeface="Segoe UI"/>
              </a:rPr>
              <a:t>Health, calendar, email links</a:t>
            </a:r>
          </a:p>
          <a:p>
            <a:pPr algn="l" marL="219456" indent="-182880">
              <a:lnSpc>
                <a:spcPct val="108000"/>
              </a:lnSpc>
              <a:spcAft>
                <a:spcPts val="400"/>
              </a:spcAft>
              <a:buFont typeface="Arial"/>
              <a:buChar char="•"/>
            </a:pPr>
            <a:r>
              <a:rPr sz="1400" b="0">
                <a:solidFill>
                  <a:srgbClr val="151714"/>
                </a:solidFill>
                <a:latin typeface="Segoe UI"/>
              </a:rPr>
              <a:t>Payments, social login</a:t>
            </a:r>
          </a:p>
          <a:p>
            <a:pPr algn="l" marL="219456" indent="-182880">
              <a:lnSpc>
                <a:spcPct val="108000"/>
              </a:lnSpc>
              <a:spcAft>
                <a:spcPts val="400"/>
              </a:spcAft>
              <a:buFont typeface="Arial"/>
              <a:buChar char="•"/>
            </a:pPr>
            <a:r>
              <a:rPr sz="1400" b="0">
                <a:solidFill>
                  <a:srgbClr val="151714"/>
                </a:solidFill>
                <a:latin typeface="Segoe UI"/>
              </a:rPr>
              <a:t>Offline AI answers</a:t>
            </a:r>
          </a:p>
        </p:txBody>
      </p:sp>
      <p:sp>
        <p:nvSpPr>
          <p:cNvPr id="13" name="Rectangle 12"/>
          <p:cNvSpPr/>
          <p:nvPr/>
        </p:nvSpPr>
        <p:spPr>
          <a:xfrm>
            <a:off x="548640" y="5852160"/>
            <a:ext cx="155448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PROPOSED SCOPE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TECHNOLOGY OPTIONS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React Native with Expo — if the team fits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§2 · docs.expo.dev expo/fetch (SDK 57 page, checked 2026-09-15) · reactnative.dev (documented 2026-09-13)</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4</a:t>
            </a:r>
          </a:p>
        </p:txBody>
      </p:sp>
      <p:sp>
        <p:nvSpPr>
          <p:cNvPr id="7" name="Rectangle 6"/>
          <p:cNvSpPr/>
          <p:nvPr/>
        </p:nvSpPr>
        <p:spPr>
          <a:xfrm>
            <a:off x="612647" y="1664208"/>
            <a:ext cx="3520440" cy="3291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520440" cy="3291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352044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3264408" cy="329184"/>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Arial Black"/>
              </a:rPr>
              <a:t>React Native + Expo</a:t>
            </a:r>
          </a:p>
        </p:txBody>
      </p:sp>
      <p:sp>
        <p:nvSpPr>
          <p:cNvPr id="11" name="TextBox 10"/>
          <p:cNvSpPr txBox="1"/>
          <p:nvPr/>
        </p:nvSpPr>
        <p:spPr>
          <a:xfrm>
            <a:off x="694944" y="2130552"/>
            <a:ext cx="3227832" cy="2670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Reuses TypeScript, types, tokens, art</a:t>
            </a:r>
          </a:p>
          <a:p>
            <a:pPr algn="l" marL="219456" indent="-182880">
              <a:lnSpc>
                <a:spcPct val="108000"/>
              </a:lnSpc>
              <a:spcAft>
                <a:spcPts val="400"/>
              </a:spcAft>
              <a:buFont typeface="Arial"/>
              <a:buChar char="•"/>
            </a:pPr>
            <a:r>
              <a:rPr sz="1400" b="0">
                <a:solidFill>
                  <a:srgbClr val="151714"/>
                </a:solidFill>
                <a:latin typeface="Segoe UI"/>
              </a:rPr>
              <a:t>One mobile codebase</a:t>
            </a:r>
          </a:p>
          <a:p>
            <a:pPr algn="l" marL="219456" indent="-182880">
              <a:lnSpc>
                <a:spcPct val="108000"/>
              </a:lnSpc>
              <a:spcAft>
                <a:spcPts val="400"/>
              </a:spcAft>
              <a:buFont typeface="Arial"/>
              <a:buChar char="•"/>
            </a:pPr>
            <a:r>
              <a:rPr sz="1400" b="0">
                <a:solidFill>
                  <a:srgbClr val="151714"/>
                </a:solidFill>
                <a:latin typeface="Segoe UI"/>
              </a:rPr>
              <a:t>Streaming fetch documented by Expo</a:t>
            </a:r>
          </a:p>
        </p:txBody>
      </p:sp>
      <p:sp>
        <p:nvSpPr>
          <p:cNvPr id="12" name="Rectangle 11"/>
          <p:cNvSpPr/>
          <p:nvPr/>
        </p:nvSpPr>
        <p:spPr>
          <a:xfrm>
            <a:off x="548640" y="5029200"/>
            <a:ext cx="3520440" cy="64008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5029200"/>
            <a:ext cx="3291840" cy="640080"/>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Segoe UI Semibold"/>
              </a:rPr>
              <a:t>Recommended, after a device spike</a:t>
            </a:r>
          </a:p>
        </p:txBody>
      </p:sp>
      <p:sp>
        <p:nvSpPr>
          <p:cNvPr id="14" name="Rectangle 13"/>
          <p:cNvSpPr/>
          <p:nvPr/>
        </p:nvSpPr>
        <p:spPr>
          <a:xfrm>
            <a:off x="4361688" y="1664208"/>
            <a:ext cx="3520440" cy="3291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1600200"/>
            <a:ext cx="3520440" cy="3291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297679" y="1600200"/>
            <a:ext cx="3520440" cy="420624"/>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25695" y="1655064"/>
            <a:ext cx="3264408" cy="329184"/>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Arial Black"/>
              </a:rPr>
              <a:t>Flutter</a:t>
            </a:r>
          </a:p>
        </p:txBody>
      </p:sp>
      <p:sp>
        <p:nvSpPr>
          <p:cNvPr id="18" name="TextBox 17"/>
          <p:cNvSpPr txBox="1"/>
          <p:nvPr/>
        </p:nvSpPr>
        <p:spPr>
          <a:xfrm>
            <a:off x="4443983" y="2130552"/>
            <a:ext cx="3227832" cy="2670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Reuses APIs, assets, design intent</a:t>
            </a:r>
          </a:p>
          <a:p>
            <a:pPr algn="l" marL="219456" indent="-182880">
              <a:lnSpc>
                <a:spcPct val="108000"/>
              </a:lnSpc>
              <a:spcAft>
                <a:spcPts val="400"/>
              </a:spcAft>
              <a:buFont typeface="Arial"/>
              <a:buChar char="•"/>
            </a:pPr>
            <a:r>
              <a:rPr sz="1400" b="0">
                <a:solidFill>
                  <a:srgbClr val="151714"/>
                </a:solidFill>
                <a:latin typeface="Segoe UI"/>
              </a:rPr>
              <a:t>New language and UI layer</a:t>
            </a:r>
          </a:p>
          <a:p>
            <a:pPr algn="l" marL="219456" indent="-182880">
              <a:lnSpc>
                <a:spcPct val="108000"/>
              </a:lnSpc>
              <a:spcAft>
                <a:spcPts val="400"/>
              </a:spcAft>
              <a:buFont typeface="Arial"/>
              <a:buChar char="•"/>
            </a:pPr>
            <a:r>
              <a:rPr sz="1400" b="0">
                <a:solidFill>
                  <a:srgbClr val="151714"/>
                </a:solidFill>
                <a:latin typeface="Segoe UI"/>
              </a:rPr>
              <a:t>Great rendering control</a:t>
            </a:r>
          </a:p>
        </p:txBody>
      </p:sp>
      <p:sp>
        <p:nvSpPr>
          <p:cNvPr id="19" name="Rectangle 18"/>
          <p:cNvSpPr/>
          <p:nvPr/>
        </p:nvSpPr>
        <p:spPr>
          <a:xfrm>
            <a:off x="4297679" y="5029200"/>
            <a:ext cx="3520440" cy="640080"/>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34840" y="5029200"/>
            <a:ext cx="3291840" cy="640080"/>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Segoe UI Semibold"/>
              </a:rPr>
              <a:t>Viable with a Flutter team</a:t>
            </a:r>
          </a:p>
        </p:txBody>
      </p:sp>
      <p:sp>
        <p:nvSpPr>
          <p:cNvPr id="21" name="Rectangle 20"/>
          <p:cNvSpPr/>
          <p:nvPr/>
        </p:nvSpPr>
        <p:spPr>
          <a:xfrm>
            <a:off x="8110727" y="1664208"/>
            <a:ext cx="3520440" cy="3291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19" y="1600200"/>
            <a:ext cx="3520440" cy="3291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046719" y="1600200"/>
            <a:ext cx="3520440" cy="420624"/>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74736" y="1655064"/>
            <a:ext cx="3264408" cy="329184"/>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Arial Black"/>
              </a:rPr>
              <a:t>Native iOS + Android</a:t>
            </a:r>
          </a:p>
        </p:txBody>
      </p:sp>
      <p:sp>
        <p:nvSpPr>
          <p:cNvPr id="25" name="TextBox 24"/>
          <p:cNvSpPr txBox="1"/>
          <p:nvPr/>
        </p:nvSpPr>
        <p:spPr>
          <a:xfrm>
            <a:off x="8193023" y="2130552"/>
            <a:ext cx="3227832" cy="267004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Full platform control</a:t>
            </a:r>
          </a:p>
          <a:p>
            <a:pPr algn="l" marL="219456" indent="-182880">
              <a:lnSpc>
                <a:spcPct val="108000"/>
              </a:lnSpc>
              <a:spcAft>
                <a:spcPts val="400"/>
              </a:spcAft>
              <a:buFont typeface="Arial"/>
              <a:buChar char="•"/>
            </a:pPr>
            <a:r>
              <a:rPr sz="1400" b="0">
                <a:solidFill>
                  <a:srgbClr val="151714"/>
                </a:solidFill>
                <a:latin typeface="Segoe UI"/>
              </a:rPr>
              <a:t>Two clients to build and keep in sync</a:t>
            </a:r>
          </a:p>
          <a:p>
            <a:pPr algn="l" marL="219456" indent="-182880">
              <a:lnSpc>
                <a:spcPct val="108000"/>
              </a:lnSpc>
              <a:spcAft>
                <a:spcPts val="400"/>
              </a:spcAft>
              <a:buFont typeface="Arial"/>
              <a:buChar char="•"/>
            </a:pPr>
            <a:r>
              <a:rPr sz="1400" b="0">
                <a:solidFill>
                  <a:srgbClr val="151714"/>
                </a:solidFill>
                <a:latin typeface="Segoe UI"/>
              </a:rPr>
              <a:t>More release coordination</a:t>
            </a:r>
          </a:p>
        </p:txBody>
      </p:sp>
      <p:sp>
        <p:nvSpPr>
          <p:cNvPr id="26" name="Rectangle 25"/>
          <p:cNvSpPr/>
          <p:nvPr/>
        </p:nvSpPr>
        <p:spPr>
          <a:xfrm>
            <a:off x="8046719" y="5029200"/>
            <a:ext cx="3520440" cy="640080"/>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83879" y="5029200"/>
            <a:ext cx="3291840" cy="640080"/>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Segoe UI Semibold"/>
              </a:rPr>
              <a:t>Only with platform specialists</a:t>
            </a:r>
          </a:p>
        </p:txBody>
      </p:sp>
      <p:sp>
        <p:nvSpPr>
          <p:cNvPr id="28" name="TextBox 27"/>
          <p:cNvSpPr txBox="1"/>
          <p:nvPr/>
        </p:nvSpPr>
        <p:spPr>
          <a:xfrm>
            <a:off x="548640" y="5806440"/>
            <a:ext cx="11064240" cy="45720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151714"/>
                </a:solidFill>
                <a:latin typeface="Segoe UI Semibold"/>
              </a:rPr>
              <a:t>Assumption: </a:t>
            </a:r>
            <a:r>
              <a:rPr sz="1300" b="0">
                <a:solidFill>
                  <a:srgbClr val="151714"/>
                </a:solidFill>
                <a:latin typeface="Segoe UI"/>
              </a:rPr>
              <a:t>team skills are unknown — the owner should confirm before committing to a framework. A WebView wrapper is a demand test, not the product.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BACKEND REUSE AND REQUIRED API WORK</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Reuse the backend; add what phones need</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§4–6 · backend/app/core/auth.py · api/routes/auth.py · frontend/src/features/chat/useChatStream.ts</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5</a:t>
            </a:r>
          </a:p>
        </p:txBody>
      </p:sp>
      <p:sp>
        <p:nvSpPr>
          <p:cNvPr id="7" name="Rectangle 6"/>
          <p:cNvSpPr/>
          <p:nvPr/>
        </p:nvSpPr>
        <p:spPr>
          <a:xfrm>
            <a:off x="612647" y="1664208"/>
            <a:ext cx="539496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539496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539496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51389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Reuse as-is</a:t>
            </a:r>
          </a:p>
        </p:txBody>
      </p:sp>
      <p:sp>
        <p:nvSpPr>
          <p:cNvPr id="11" name="TextBox 10"/>
          <p:cNvSpPr txBox="1"/>
          <p:nvPr/>
        </p:nvSpPr>
        <p:spPr>
          <a:xfrm>
            <a:off x="694944" y="2130552"/>
            <a:ext cx="510235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50" b="0">
                <a:solidFill>
                  <a:srgbClr val="151714"/>
                </a:solidFill>
                <a:latin typeface="Segoe UI"/>
              </a:rPr>
              <a:t>Accounts, passwords, recovery codes, epochs</a:t>
            </a:r>
          </a:p>
          <a:p>
            <a:pPr algn="l" marL="219456" indent="-182880">
              <a:lnSpc>
                <a:spcPct val="108000"/>
              </a:lnSpc>
              <a:spcAft>
                <a:spcPts val="400"/>
              </a:spcAft>
              <a:buFont typeface="Arial"/>
              <a:buChar char="•"/>
            </a:pPr>
            <a:r>
              <a:rPr sz="1450" b="0">
                <a:solidFill>
                  <a:srgbClr val="151714"/>
                </a:solidFill>
                <a:latin typeface="Segoe UI"/>
              </a:rPr>
              <a:t>Streaming runtime and 4 reply states</a:t>
            </a:r>
          </a:p>
          <a:p>
            <a:pPr algn="l" marL="219456" indent="-182880">
              <a:lnSpc>
                <a:spcPct val="108000"/>
              </a:lnSpc>
              <a:spcAft>
                <a:spcPts val="400"/>
              </a:spcAft>
              <a:buFont typeface="Arial"/>
              <a:buChar char="•"/>
            </a:pPr>
            <a:r>
              <a:rPr sz="1450" b="0">
                <a:solidFill>
                  <a:srgbClr val="151714"/>
                </a:solidFill>
                <a:latin typeface="Segoe UI"/>
              </a:rPr>
              <a:t>Memory scope, validation, consent switch</a:t>
            </a:r>
          </a:p>
          <a:p>
            <a:pPr algn="l" marL="219456" indent="-182880">
              <a:lnSpc>
                <a:spcPct val="108000"/>
              </a:lnSpc>
              <a:spcAft>
                <a:spcPts val="400"/>
              </a:spcAft>
              <a:buFont typeface="Arial"/>
              <a:buChar char="•"/>
            </a:pPr>
            <a:r>
              <a:rPr sz="1450" b="0">
                <a:solidFill>
                  <a:srgbClr val="151714"/>
                </a:solidFill>
                <a:latin typeface="Segoe UI"/>
              </a:rPr>
              <a:t>Quotas and refunds</a:t>
            </a:r>
          </a:p>
          <a:p>
            <a:pPr algn="l" marL="219456" indent="-182880">
              <a:lnSpc>
                <a:spcPct val="108000"/>
              </a:lnSpc>
              <a:spcAft>
                <a:spcPts val="400"/>
              </a:spcAft>
              <a:buFont typeface="Arial"/>
              <a:buChar char="•"/>
            </a:pPr>
            <a:r>
              <a:rPr sz="1450" b="0">
                <a:solidFill>
                  <a:srgbClr val="151714"/>
                </a:solidFill>
                <a:latin typeface="Segoe UI"/>
              </a:rPr>
              <a:t>Export and deletion services</a:t>
            </a:r>
          </a:p>
          <a:p>
            <a:pPr algn="l" marL="219456" indent="-182880">
              <a:lnSpc>
                <a:spcPct val="108000"/>
              </a:lnSpc>
              <a:spcAft>
                <a:spcPts val="400"/>
              </a:spcAft>
              <a:buFont typeface="Arial"/>
              <a:buChar char="•"/>
            </a:pPr>
            <a:r>
              <a:rPr sz="1450" b="0">
                <a:solidFill>
                  <a:srgbClr val="151714"/>
                </a:solidFill>
                <a:latin typeface="Segoe UI"/>
              </a:rPr>
              <a:t>Prompts, models, keys stay on the server</a:t>
            </a:r>
          </a:p>
        </p:txBody>
      </p:sp>
      <p:sp>
        <p:nvSpPr>
          <p:cNvPr id="12" name="Rectangle 11"/>
          <p:cNvSpPr/>
          <p:nvPr/>
        </p:nvSpPr>
        <p:spPr>
          <a:xfrm>
            <a:off x="6327648" y="1664208"/>
            <a:ext cx="539496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600200"/>
            <a:ext cx="539496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63640" y="1600200"/>
            <a:ext cx="539496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91655" y="1655064"/>
            <a:ext cx="51389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Build first (P0)</a:t>
            </a:r>
          </a:p>
        </p:txBody>
      </p:sp>
      <p:sp>
        <p:nvSpPr>
          <p:cNvPr id="16" name="TextBox 15"/>
          <p:cNvSpPr txBox="1"/>
          <p:nvPr/>
        </p:nvSpPr>
        <p:spPr>
          <a:xfrm>
            <a:off x="6409944" y="2130552"/>
            <a:ext cx="510235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50" b="0">
                <a:solidFill>
                  <a:srgbClr val="151714"/>
                </a:solidFill>
                <a:latin typeface="Segoe UI"/>
              </a:rPr>
              <a:t>Native tokens: access + rotating refresh, per device</a:t>
            </a:r>
          </a:p>
          <a:p>
            <a:pPr algn="l" marL="219456" indent="-182880">
              <a:lnSpc>
                <a:spcPct val="108000"/>
              </a:lnSpc>
              <a:spcAft>
                <a:spcPts val="400"/>
              </a:spcAft>
              <a:buFont typeface="Arial"/>
              <a:buChar char="•"/>
            </a:pPr>
            <a:r>
              <a:rPr sz="1450" b="0">
                <a:solidFill>
                  <a:srgbClr val="151714"/>
                </a:solidFill>
                <a:latin typeface="Segoe UI"/>
              </a:rPr>
              <a:t>Idempotency key and durable turn record</a:t>
            </a:r>
          </a:p>
          <a:p>
            <a:pPr algn="l" marL="219456" indent="-182880">
              <a:lnSpc>
                <a:spcPct val="108000"/>
              </a:lnSpc>
              <a:spcAft>
                <a:spcPts val="400"/>
              </a:spcAft>
              <a:buFont typeface="Arial"/>
              <a:buChar char="•"/>
            </a:pPr>
            <a:r>
              <a:rPr sz="1450" b="0">
                <a:solidFill>
                  <a:srgbClr val="151714"/>
                </a:solidFill>
                <a:latin typeface="Segoe UI"/>
              </a:rPr>
              <a:t>Status endpoint to reconcile after reconnect</a:t>
            </a:r>
          </a:p>
          <a:p>
            <a:pPr algn="l" marL="219456" indent="-182880">
              <a:lnSpc>
                <a:spcPct val="108000"/>
              </a:lnSpc>
              <a:spcAft>
                <a:spcPts val="400"/>
              </a:spcAft>
              <a:buFont typeface="Arial"/>
              <a:buChar char="•"/>
            </a:pPr>
            <a:r>
              <a:rPr sz="1450" b="0">
                <a:solidFill>
                  <a:srgbClr val="151714"/>
                </a:solidFill>
                <a:latin typeface="Segoe UI"/>
              </a:rPr>
              <a:t>Stable error codes</a:t>
            </a:r>
          </a:p>
          <a:p>
            <a:pPr algn="l" marL="219456" indent="-182880">
              <a:lnSpc>
                <a:spcPct val="108000"/>
              </a:lnSpc>
              <a:spcAft>
                <a:spcPts val="400"/>
              </a:spcAft>
              <a:buFont typeface="Arial"/>
              <a:buChar char="•"/>
            </a:pPr>
            <a:r>
              <a:rPr sz="1450" b="0">
                <a:solidFill>
                  <a:srgbClr val="151714"/>
                </a:solidFill>
                <a:latin typeface="Segoe UI"/>
              </a:rPr>
              <a:t>Cursor pagination</a:t>
            </a:r>
          </a:p>
          <a:p>
            <a:pPr algn="l" marL="219456" indent="-182880">
              <a:lnSpc>
                <a:spcPct val="108000"/>
              </a:lnSpc>
              <a:spcAft>
                <a:spcPts val="400"/>
              </a:spcAft>
              <a:buFont typeface="Arial"/>
              <a:buChar char="•"/>
            </a:pPr>
            <a:r>
              <a:rPr sz="1450" b="0">
                <a:solidFill>
                  <a:srgbClr val="151714"/>
                </a:solidFill>
                <a:latin typeface="Segoe UI"/>
              </a:rPr>
              <a:t>AI-report intake · web deletion page</a:t>
            </a:r>
          </a:p>
        </p:txBody>
      </p:sp>
      <p:sp>
        <p:nvSpPr>
          <p:cNvPr id="17" name="Rectangle 16"/>
          <p:cNvSpPr/>
          <p:nvPr/>
        </p:nvSpPr>
        <p:spPr>
          <a:xfrm>
            <a:off x="9372600" y="1673352"/>
            <a:ext cx="100584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PROPOSED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AUTHENTICATION, STORAGE, REVOCATION, LINKS, DELETION</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Native sessions without weakening the web</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§5 · docs.expo.dev SecureStore (checked 2026-09-15) · Apple 5.1.1(v) · Google Play account deletion (checked 2026-09-15)</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6</a:t>
            </a:r>
          </a:p>
        </p:txBody>
      </p:sp>
      <p:sp>
        <p:nvSpPr>
          <p:cNvPr id="7" name="Rectangle 6"/>
          <p:cNvSpPr/>
          <p:nvPr/>
        </p:nvSpPr>
        <p:spPr>
          <a:xfrm>
            <a:off x="612647" y="184708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920240" cy="1005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Sign in</a:t>
            </a:r>
          </a:p>
          <a:p>
            <a:pPr algn="ctr"/>
            <a:r>
              <a:rPr sz="1150">
                <a:solidFill>
                  <a:srgbClr val="43483F"/>
                </a:solidFill>
                <a:latin typeface="Segoe UI"/>
              </a:rPr>
              <a:t>password or key</a:t>
            </a:r>
          </a:p>
        </p:txBody>
      </p:sp>
      <p:cxnSp>
        <p:nvCxnSpPr>
          <p:cNvPr id="9" name="Connector 8"/>
          <p:cNvCxnSpPr/>
          <p:nvPr/>
        </p:nvCxnSpPr>
        <p:spPr>
          <a:xfrm>
            <a:off x="2468880" y="2286000"/>
            <a:ext cx="2286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61488" y="184708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97480" y="1783080"/>
            <a:ext cx="1920240" cy="10058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Issue tokens</a:t>
            </a:r>
          </a:p>
          <a:p>
            <a:pPr algn="ctr"/>
            <a:r>
              <a:rPr sz="1150">
                <a:solidFill>
                  <a:srgbClr val="43483F"/>
                </a:solidFill>
                <a:latin typeface="Segoe UI"/>
              </a:rPr>
              <a:t>access + refresh · device record</a:t>
            </a:r>
          </a:p>
        </p:txBody>
      </p:sp>
      <p:cxnSp>
        <p:nvCxnSpPr>
          <p:cNvPr id="12" name="Connector 11"/>
          <p:cNvCxnSpPr/>
          <p:nvPr/>
        </p:nvCxnSpPr>
        <p:spPr>
          <a:xfrm>
            <a:off x="4617720" y="2286000"/>
            <a:ext cx="2286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910328" y="184708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46320" y="1783080"/>
            <a:ext cx="1920240" cy="1005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SecureStore</a:t>
            </a:r>
          </a:p>
          <a:p>
            <a:pPr algn="ctr"/>
            <a:r>
              <a:rPr sz="1150">
                <a:solidFill>
                  <a:srgbClr val="43483F"/>
                </a:solidFill>
                <a:latin typeface="Segoe UI"/>
              </a:rPr>
              <a:t>small credential only</a:t>
            </a:r>
          </a:p>
        </p:txBody>
      </p:sp>
      <p:cxnSp>
        <p:nvCxnSpPr>
          <p:cNvPr id="15" name="Connector 14"/>
          <p:cNvCxnSpPr/>
          <p:nvPr/>
        </p:nvCxnSpPr>
        <p:spPr>
          <a:xfrm>
            <a:off x="6766560" y="2286000"/>
            <a:ext cx="2286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59168" y="184708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95160" y="1783080"/>
            <a:ext cx="1920240" cy="10058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API call</a:t>
            </a:r>
          </a:p>
          <a:p>
            <a:pPr algn="ctr"/>
            <a:r>
              <a:rPr sz="1150">
                <a:solidFill>
                  <a:srgbClr val="43483F"/>
                </a:solidFill>
                <a:latin typeface="Segoe UI"/>
              </a:rPr>
              <a:t>access token · epoch check</a:t>
            </a:r>
          </a:p>
        </p:txBody>
      </p:sp>
      <p:cxnSp>
        <p:nvCxnSpPr>
          <p:cNvPr id="18" name="Connector 17"/>
          <p:cNvCxnSpPr/>
          <p:nvPr/>
        </p:nvCxnSpPr>
        <p:spPr>
          <a:xfrm>
            <a:off x="8915400" y="2286000"/>
            <a:ext cx="2286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208008" y="1847088"/>
            <a:ext cx="1920240" cy="10058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1783080"/>
            <a:ext cx="1920240" cy="10058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Refresh</a:t>
            </a:r>
          </a:p>
          <a:p>
            <a:pPr algn="ctr"/>
            <a:r>
              <a:rPr sz="1150">
                <a:solidFill>
                  <a:srgbClr val="43483F"/>
                </a:solidFill>
                <a:latin typeface="Segoe UI"/>
              </a:rPr>
              <a:t>rotate · detect reuse</a:t>
            </a:r>
          </a:p>
        </p:txBody>
      </p:sp>
      <p:sp>
        <p:nvSpPr>
          <p:cNvPr id="21" name="Rectangle 20"/>
          <p:cNvSpPr/>
          <p:nvPr/>
        </p:nvSpPr>
        <p:spPr>
          <a:xfrm>
            <a:off x="7059168" y="3310127"/>
            <a:ext cx="4069080" cy="822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95160" y="3246120"/>
            <a:ext cx="4069080" cy="82296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Revoke</a:t>
            </a:r>
          </a:p>
          <a:p>
            <a:pPr algn="ctr"/>
            <a:r>
              <a:rPr sz="1150">
                <a:solidFill>
                  <a:srgbClr val="43483F"/>
                </a:solidFill>
                <a:latin typeface="Segoe UI"/>
              </a:rPr>
              <a:t>logout · sign out all · password change · recovery · deletion</a:t>
            </a:r>
          </a:p>
        </p:txBody>
      </p:sp>
      <p:cxnSp>
        <p:nvCxnSpPr>
          <p:cNvPr id="23" name="Connector 22"/>
          <p:cNvCxnSpPr/>
          <p:nvPr/>
        </p:nvCxnSpPr>
        <p:spPr>
          <a:xfrm>
            <a:off x="7955279" y="2788920"/>
            <a:ext cx="0" cy="45720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12647" y="3310127"/>
            <a:ext cx="6126480" cy="28803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246120"/>
            <a:ext cx="6126480" cy="28803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48640" y="3246120"/>
            <a:ext cx="61264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76656" y="3300984"/>
            <a:ext cx="58704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Rules</a:t>
            </a:r>
          </a:p>
        </p:txBody>
      </p:sp>
      <p:sp>
        <p:nvSpPr>
          <p:cNvPr id="28" name="TextBox 27"/>
          <p:cNvSpPr txBox="1"/>
          <p:nvPr/>
        </p:nvSpPr>
        <p:spPr>
          <a:xfrm>
            <a:off x="694944" y="3776472"/>
            <a:ext cx="5833872" cy="225856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Never relax browser cookie or Origin checks</a:t>
            </a:r>
          </a:p>
          <a:p>
            <a:pPr algn="l" marL="219456" indent="-182880">
              <a:lnSpc>
                <a:spcPct val="108000"/>
              </a:lnSpc>
              <a:spcAft>
                <a:spcPts val="400"/>
              </a:spcAft>
              <a:buFont typeface="Arial"/>
              <a:buChar char="•"/>
            </a:pPr>
            <a:r>
              <a:rPr sz="1350" b="0">
                <a:solidFill>
                  <a:srgbClr val="151714"/>
                </a:solidFill>
                <a:latin typeface="Segoe UI"/>
              </a:rPr>
              <a:t>Uninstall is not a logout; verify session at launch</a:t>
            </a:r>
          </a:p>
          <a:p>
            <a:pPr algn="l" marL="219456" indent="-182880">
              <a:lnSpc>
                <a:spcPct val="108000"/>
              </a:lnSpc>
              <a:spcAft>
                <a:spcPts val="400"/>
              </a:spcAft>
              <a:buFont typeface="Arial"/>
              <a:buChar char="•"/>
            </a:pPr>
            <a:r>
              <a:rPr sz="1350" b="0">
                <a:solidFill>
                  <a:srgbClr val="151714"/>
                </a:solidFill>
                <a:latin typeface="Segoe UI"/>
              </a:rPr>
              <a:t>No secrets or chat text in deep links</a:t>
            </a:r>
          </a:p>
          <a:p>
            <a:pPr algn="l" marL="219456" indent="-182880">
              <a:lnSpc>
                <a:spcPct val="108000"/>
              </a:lnSpc>
              <a:spcAft>
                <a:spcPts val="400"/>
              </a:spcAft>
              <a:buFont typeface="Arial"/>
              <a:buChar char="•"/>
            </a:pPr>
            <a:r>
              <a:rPr sz="1350" b="0">
                <a:solidFill>
                  <a:srgbClr val="151714"/>
                </a:solidFill>
                <a:latin typeface="Segoe UI"/>
              </a:rPr>
              <a:t>Biometrics = local lock, not authorisation</a:t>
            </a:r>
          </a:p>
        </p:txBody>
      </p:sp>
      <p:sp>
        <p:nvSpPr>
          <p:cNvPr id="29" name="Rectangle 28"/>
          <p:cNvSpPr/>
          <p:nvPr/>
        </p:nvSpPr>
        <p:spPr>
          <a:xfrm>
            <a:off x="7059168" y="4361688"/>
            <a:ext cx="4663440" cy="18288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5160" y="4297680"/>
            <a:ext cx="4663440" cy="18288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995160" y="4297680"/>
            <a:ext cx="466344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23176" y="4352544"/>
            <a:ext cx="440740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Deletion (stores)</a:t>
            </a:r>
          </a:p>
        </p:txBody>
      </p:sp>
      <p:sp>
        <p:nvSpPr>
          <p:cNvPr id="33" name="TextBox 32"/>
          <p:cNvSpPr txBox="1"/>
          <p:nvPr/>
        </p:nvSpPr>
        <p:spPr>
          <a:xfrm>
            <a:off x="7141464" y="4828032"/>
            <a:ext cx="4370831" cy="1207007"/>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In-app deletion (Apple and Google)</a:t>
            </a:r>
          </a:p>
          <a:p>
            <a:pPr algn="l" marL="219456" indent="-182880">
              <a:lnSpc>
                <a:spcPct val="108000"/>
              </a:lnSpc>
              <a:spcAft>
                <a:spcPts val="400"/>
              </a:spcAft>
              <a:buFont typeface="Arial"/>
              <a:buChar char="•"/>
            </a:pPr>
            <a:r>
              <a:rPr sz="1350" b="0">
                <a:solidFill>
                  <a:srgbClr val="151714"/>
                </a:solidFill>
                <a:latin typeface="Segoe UI"/>
              </a:rPr>
              <a:t>Plus a working web deletion page (Google)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STREAMING, CANCELLATION, RECONNECTS AND BACKGROUND</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Phones drop connections; turns must not duplicate</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§6 · backend/app/api/routes/chat.py (SSE start/delta/end/memory/error) · docs/PROJECT-REPORT.md §7</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7</a:t>
            </a:r>
          </a:p>
        </p:txBody>
      </p:sp>
      <p:sp>
        <p:nvSpPr>
          <p:cNvPr id="7" name="Rectangle 6"/>
          <p:cNvSpPr/>
          <p:nvPr/>
        </p:nvSpPr>
        <p:spPr>
          <a:xfrm>
            <a:off x="612647" y="1892807"/>
            <a:ext cx="201168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2011680" cy="91440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Send</a:t>
            </a:r>
          </a:p>
          <a:p>
            <a:pPr algn="ctr"/>
            <a:r>
              <a:rPr sz="1150">
                <a:solidFill>
                  <a:srgbClr val="43483F"/>
                </a:solidFill>
                <a:latin typeface="Segoe UI"/>
              </a:rPr>
              <a:t>request ID + fingerprint</a:t>
            </a:r>
          </a:p>
        </p:txBody>
      </p:sp>
      <p:sp>
        <p:nvSpPr>
          <p:cNvPr id="9" name="Rectangle 8"/>
          <p:cNvSpPr/>
          <p:nvPr/>
        </p:nvSpPr>
        <p:spPr>
          <a:xfrm>
            <a:off x="3081527" y="1892807"/>
            <a:ext cx="210312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17520" y="1828800"/>
            <a:ext cx="2103120" cy="9144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Claim turn</a:t>
            </a:r>
          </a:p>
          <a:p>
            <a:pPr algn="ctr"/>
            <a:r>
              <a:rPr sz="1150">
                <a:solidFill>
                  <a:srgbClr val="43483F"/>
                </a:solidFill>
                <a:latin typeface="Segoe UI"/>
              </a:rPr>
              <a:t>durable record · lease</a:t>
            </a:r>
          </a:p>
        </p:txBody>
      </p:sp>
      <p:sp>
        <p:nvSpPr>
          <p:cNvPr id="11" name="Rectangle 10"/>
          <p:cNvSpPr/>
          <p:nvPr/>
        </p:nvSpPr>
        <p:spPr>
          <a:xfrm>
            <a:off x="5641848" y="1892807"/>
            <a:ext cx="201168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77840" y="1828800"/>
            <a:ext cx="2011680" cy="9144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Stream</a:t>
            </a:r>
          </a:p>
          <a:p>
            <a:pPr algn="ctr"/>
            <a:r>
              <a:rPr sz="1150">
                <a:solidFill>
                  <a:srgbClr val="43483F"/>
                </a:solidFill>
                <a:latin typeface="Segoe UI"/>
              </a:rPr>
              <a:t>safe frame parsing</a:t>
            </a:r>
          </a:p>
        </p:txBody>
      </p:sp>
      <p:sp>
        <p:nvSpPr>
          <p:cNvPr id="13" name="Rectangle 12"/>
          <p:cNvSpPr/>
          <p:nvPr/>
        </p:nvSpPr>
        <p:spPr>
          <a:xfrm>
            <a:off x="8110728" y="1892807"/>
            <a:ext cx="164592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828800"/>
            <a:ext cx="1645920" cy="9144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Finished</a:t>
            </a:r>
          </a:p>
          <a:p>
            <a:pPr algn="ctr"/>
            <a:r>
              <a:rPr sz="1150">
                <a:solidFill>
                  <a:srgbClr val="43483F"/>
                </a:solidFill>
                <a:latin typeface="Segoe UI"/>
              </a:rPr>
              <a:t>completion state</a:t>
            </a:r>
          </a:p>
        </p:txBody>
      </p:sp>
      <p:cxnSp>
        <p:nvCxnSpPr>
          <p:cNvPr id="15" name="Connector 14"/>
          <p:cNvCxnSpPr/>
          <p:nvPr/>
        </p:nvCxnSpPr>
        <p:spPr>
          <a:xfrm>
            <a:off x="2560320" y="2286000"/>
            <a:ext cx="4572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120640" y="2286000"/>
            <a:ext cx="4572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589520" y="2286000"/>
            <a:ext cx="4572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641848" y="3493008"/>
            <a:ext cx="201168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77840" y="3429000"/>
            <a:ext cx="2011680" cy="91440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Backgrounded</a:t>
            </a:r>
          </a:p>
          <a:p>
            <a:pPr algn="ctr"/>
            <a:r>
              <a:rPr sz="1150">
                <a:solidFill>
                  <a:srgbClr val="43483F"/>
                </a:solidFill>
                <a:latin typeface="Segoe UI"/>
              </a:rPr>
              <a:t>network may stop</a:t>
            </a:r>
          </a:p>
        </p:txBody>
      </p:sp>
      <p:sp>
        <p:nvSpPr>
          <p:cNvPr id="20" name="Rectangle 19"/>
          <p:cNvSpPr/>
          <p:nvPr/>
        </p:nvSpPr>
        <p:spPr>
          <a:xfrm>
            <a:off x="8110728" y="3493008"/>
            <a:ext cx="3611880" cy="9144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3429000"/>
            <a:ext cx="3611880" cy="91440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51714"/>
                </a:solidFill>
                <a:latin typeface="Segoe UI Semibold"/>
              </a:rPr>
              <a:t>Reconcile on return</a:t>
            </a:r>
          </a:p>
          <a:p>
            <a:pPr algn="ctr"/>
            <a:r>
              <a:rPr sz="1150">
                <a:solidFill>
                  <a:srgbClr val="43483F"/>
                </a:solidFill>
                <a:latin typeface="Segoe UI"/>
              </a:rPr>
              <a:t>status + stored transcript · never resend</a:t>
            </a:r>
          </a:p>
        </p:txBody>
      </p:sp>
      <p:cxnSp>
        <p:nvCxnSpPr>
          <p:cNvPr id="22" name="Connector 21"/>
          <p:cNvCxnSpPr/>
          <p:nvPr/>
        </p:nvCxnSpPr>
        <p:spPr>
          <a:xfrm>
            <a:off x="6583680" y="2743200"/>
            <a:ext cx="0" cy="68580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75120" y="2948940"/>
            <a:ext cx="914400" cy="274320"/>
          </a:xfrm>
          <a:prstGeom prst="rect">
            <a:avLst/>
          </a:prstGeom>
          <a:noFill/>
        </p:spPr>
        <p:txBody>
          <a:bodyPr wrap="square" lIns="18288" rIns="18288" tIns="9144" bIns="9144" anchor="t">
            <a:spAutoFit/>
          </a:bodyPr>
          <a:lstStyle/>
          <a:p>
            <a:pPr algn="ctr">
              <a:lnSpc>
                <a:spcPct val="108000"/>
              </a:lnSpc>
              <a:spcAft>
                <a:spcPts val="400"/>
              </a:spcAft>
            </a:pPr>
            <a:r>
              <a:rPr sz="1100" b="0">
                <a:solidFill>
                  <a:srgbClr val="43483F"/>
                </a:solidFill>
                <a:latin typeface="Segoe UI Semibold"/>
              </a:rPr>
              <a:t>suspend</a:t>
            </a:r>
          </a:p>
        </p:txBody>
      </p:sp>
      <p:cxnSp>
        <p:nvCxnSpPr>
          <p:cNvPr id="24" name="Connector 23"/>
          <p:cNvCxnSpPr/>
          <p:nvPr/>
        </p:nvCxnSpPr>
        <p:spPr>
          <a:xfrm>
            <a:off x="7589520" y="3886200"/>
            <a:ext cx="45720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12647" y="3493008"/>
            <a:ext cx="4663440" cy="26974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29000"/>
            <a:ext cx="4663440" cy="26974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3429000"/>
            <a:ext cx="466344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 y="3483864"/>
            <a:ext cx="4407407"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Duplicate prevention</a:t>
            </a:r>
          </a:p>
        </p:txBody>
      </p:sp>
      <p:sp>
        <p:nvSpPr>
          <p:cNvPr id="29" name="TextBox 28"/>
          <p:cNvSpPr txBox="1"/>
          <p:nvPr/>
        </p:nvSpPr>
        <p:spPr>
          <a:xfrm>
            <a:off x="694944" y="3959352"/>
            <a:ext cx="4370831" cy="20756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Same key + same payload → same turn</a:t>
            </a:r>
          </a:p>
          <a:p>
            <a:pPr algn="l" marL="219456" indent="-182880">
              <a:lnSpc>
                <a:spcPct val="108000"/>
              </a:lnSpc>
              <a:spcAft>
                <a:spcPts val="400"/>
              </a:spcAft>
              <a:buFont typeface="Arial"/>
              <a:buChar char="•"/>
            </a:pPr>
            <a:r>
              <a:rPr sz="1350" b="0">
                <a:solidFill>
                  <a:srgbClr val="151714"/>
                </a:solidFill>
                <a:latin typeface="Segoe UI"/>
              </a:rPr>
              <a:t>Same key + new payload → rejected</a:t>
            </a:r>
          </a:p>
          <a:p>
            <a:pPr algn="l" marL="219456" indent="-182880">
              <a:lnSpc>
                <a:spcPct val="108000"/>
              </a:lnSpc>
              <a:spcAft>
                <a:spcPts val="400"/>
              </a:spcAft>
              <a:buFont typeface="Arial"/>
              <a:buChar char="•"/>
            </a:pPr>
            <a:r>
              <a:rPr sz="1350" b="0">
                <a:solidFill>
                  <a:srgbClr val="151714"/>
                </a:solidFill>
                <a:latin typeface="Segoe UI"/>
              </a:rPr>
              <a:t>Dedupe by server IDs, not text</a:t>
            </a:r>
          </a:p>
          <a:p>
            <a:pPr algn="l" marL="219456" indent="-182880">
              <a:lnSpc>
                <a:spcPct val="108000"/>
              </a:lnSpc>
              <a:spcAft>
                <a:spcPts val="400"/>
              </a:spcAft>
              <a:buFont typeface="Arial"/>
              <a:buChar char="•"/>
            </a:pPr>
            <a:r>
              <a:rPr sz="1350" b="0">
                <a:solidFill>
                  <a:srgbClr val="151714"/>
                </a:solidFill>
                <a:latin typeface="Segoe UI"/>
              </a:rPr>
              <a:t>Two devices never double-charge</a:t>
            </a:r>
          </a:p>
        </p:txBody>
      </p:sp>
      <p:sp>
        <p:nvSpPr>
          <p:cNvPr id="30" name="Rectangle 29"/>
          <p:cNvSpPr/>
          <p:nvPr/>
        </p:nvSpPr>
        <p:spPr>
          <a:xfrm>
            <a:off x="5577840" y="4663440"/>
            <a:ext cx="6080760" cy="1463040"/>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760720" y="4754880"/>
            <a:ext cx="5760720" cy="1325880"/>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Today: no replay, no idempotency key, one-worker locks.</a:t>
            </a:r>
          </a:p>
          <a:p>
            <a:pPr algn="l" marL="219456" indent="-182880">
              <a:lnSpc>
                <a:spcPct val="108000"/>
              </a:lnSpc>
              <a:spcAft>
                <a:spcPts val="400"/>
              </a:spcAft>
              <a:buFont typeface="Arial"/>
              <a:buChar char="•"/>
            </a:pPr>
            <a:r>
              <a:rPr sz="1350" b="0">
                <a:solidFill>
                  <a:srgbClr val="151714"/>
                </a:solidFill>
                <a:latin typeface="Segoe UI"/>
              </a:rPr>
              <a:t>Seamless resume is not promised without replay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OFFLINE, CACHE, SYNC AND PRIVACY RULES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Server-authoritative, cache-light, account-isolated</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§7 · docs/PROJECT-REPORT.md §6 (memory, export, deletion)</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8</a:t>
            </a:r>
          </a:p>
        </p:txBody>
      </p:sp>
      <p:sp>
        <p:nvSpPr>
          <p:cNvPr id="7" name="Rectangle 6"/>
          <p:cNvSpPr/>
          <p:nvPr/>
        </p:nvSpPr>
        <p:spPr>
          <a:xfrm>
            <a:off x="612647" y="1709928"/>
            <a:ext cx="3520440" cy="1965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3520440" cy="19659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828800"/>
            <a:ext cx="3200400" cy="45720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Read offline</a:t>
            </a:r>
          </a:p>
        </p:txBody>
      </p:sp>
      <p:sp>
        <p:nvSpPr>
          <p:cNvPr id="10" name="TextBox 9"/>
          <p:cNvSpPr txBox="1"/>
          <p:nvPr/>
        </p:nvSpPr>
        <p:spPr>
          <a:xfrm>
            <a:off x="731520" y="2423160"/>
            <a:ext cx="3200400" cy="1097280"/>
          </a:xfrm>
          <a:prstGeom prst="rect">
            <a:avLst/>
          </a:prstGeom>
          <a:noFill/>
        </p:spPr>
        <p:txBody>
          <a:bodyPr wrap="square" lIns="18288" rIns="18288" tIns="9144" bIns="9144" anchor="t">
            <a:spAutoFit/>
          </a:bodyPr>
          <a:lstStyle/>
          <a:p>
            <a:pPr algn="l">
              <a:lnSpc>
                <a:spcPct val="108000"/>
              </a:lnSpc>
              <a:spcAft>
                <a:spcPts val="400"/>
              </a:spcAft>
            </a:pPr>
            <a:r>
              <a:rPr sz="1450" b="0">
                <a:solidFill>
                  <a:srgbClr val="151714"/>
                </a:solidFill>
                <a:latin typeface="Segoe UI"/>
              </a:rPr>
              <a:t>Cached chats, marked with last sync time</a:t>
            </a:r>
          </a:p>
        </p:txBody>
      </p:sp>
      <p:sp>
        <p:nvSpPr>
          <p:cNvPr id="11" name="Rectangle 10"/>
          <p:cNvSpPr/>
          <p:nvPr/>
        </p:nvSpPr>
        <p:spPr>
          <a:xfrm>
            <a:off x="4361688" y="1709928"/>
            <a:ext cx="3520440" cy="1965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79" y="1645920"/>
            <a:ext cx="3520440" cy="196596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0559" y="1828800"/>
            <a:ext cx="3200400" cy="45720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No offline AI</a:t>
            </a:r>
          </a:p>
        </p:txBody>
      </p:sp>
      <p:sp>
        <p:nvSpPr>
          <p:cNvPr id="14" name="TextBox 13"/>
          <p:cNvSpPr txBox="1"/>
          <p:nvPr/>
        </p:nvSpPr>
        <p:spPr>
          <a:xfrm>
            <a:off x="4480559" y="2423160"/>
            <a:ext cx="3200400" cy="1097280"/>
          </a:xfrm>
          <a:prstGeom prst="rect">
            <a:avLst/>
          </a:prstGeom>
          <a:noFill/>
        </p:spPr>
        <p:txBody>
          <a:bodyPr wrap="square" lIns="18288" rIns="18288" tIns="9144" bIns="9144" anchor="t">
            <a:spAutoFit/>
          </a:bodyPr>
          <a:lstStyle/>
          <a:p>
            <a:pPr algn="l">
              <a:lnSpc>
                <a:spcPct val="108000"/>
              </a:lnSpc>
              <a:spcAft>
                <a:spcPts val="400"/>
              </a:spcAft>
            </a:pPr>
            <a:r>
              <a:rPr sz="1450" b="0">
                <a:solidFill>
                  <a:srgbClr val="151714"/>
                </a:solidFill>
                <a:latin typeface="Segoe UI"/>
              </a:rPr>
              <a:t>Sending is disabled — never queued to spend later</a:t>
            </a:r>
          </a:p>
        </p:txBody>
      </p:sp>
      <p:sp>
        <p:nvSpPr>
          <p:cNvPr id="15" name="Rectangle 14"/>
          <p:cNvSpPr/>
          <p:nvPr/>
        </p:nvSpPr>
        <p:spPr>
          <a:xfrm>
            <a:off x="8110727" y="1709928"/>
            <a:ext cx="3520440" cy="1965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19" y="1645920"/>
            <a:ext cx="3520440" cy="19659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9" y="1828800"/>
            <a:ext cx="3200400" cy="45720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Writes need the server</a:t>
            </a:r>
          </a:p>
        </p:txBody>
      </p:sp>
      <p:sp>
        <p:nvSpPr>
          <p:cNvPr id="18" name="TextBox 17"/>
          <p:cNvSpPr txBox="1"/>
          <p:nvPr/>
        </p:nvSpPr>
        <p:spPr>
          <a:xfrm>
            <a:off x="8229599" y="2423160"/>
            <a:ext cx="3200400" cy="1097280"/>
          </a:xfrm>
          <a:prstGeom prst="rect">
            <a:avLst/>
          </a:prstGeom>
          <a:noFill/>
        </p:spPr>
        <p:txBody>
          <a:bodyPr wrap="square" lIns="18288" rIns="18288" tIns="9144" bIns="9144" anchor="t">
            <a:spAutoFit/>
          </a:bodyPr>
          <a:lstStyle/>
          <a:p>
            <a:pPr algn="l">
              <a:lnSpc>
                <a:spcPct val="108000"/>
              </a:lnSpc>
              <a:spcAft>
                <a:spcPts val="400"/>
              </a:spcAft>
            </a:pPr>
            <a:r>
              <a:rPr sz="1450" b="0">
                <a:solidFill>
                  <a:srgbClr val="151714"/>
                </a:solidFill>
                <a:latin typeface="Segoe UI"/>
              </a:rPr>
              <a:t>Memory and goal edits confirm online; optimistic UI reverts</a:t>
            </a:r>
          </a:p>
        </p:txBody>
      </p:sp>
      <p:sp>
        <p:nvSpPr>
          <p:cNvPr id="19" name="Rectangle 18"/>
          <p:cNvSpPr/>
          <p:nvPr/>
        </p:nvSpPr>
        <p:spPr>
          <a:xfrm>
            <a:off x="612647" y="3950208"/>
            <a:ext cx="3520440" cy="1965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3520440" cy="196596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4069080"/>
            <a:ext cx="3200400" cy="45720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Encrypted, bounded cache</a:t>
            </a:r>
          </a:p>
        </p:txBody>
      </p:sp>
      <p:sp>
        <p:nvSpPr>
          <p:cNvPr id="22" name="TextBox 21"/>
          <p:cNvSpPr txBox="1"/>
          <p:nvPr/>
        </p:nvSpPr>
        <p:spPr>
          <a:xfrm>
            <a:off x="731520" y="4663440"/>
            <a:ext cx="3200400" cy="1097280"/>
          </a:xfrm>
          <a:prstGeom prst="rect">
            <a:avLst/>
          </a:prstGeom>
          <a:noFill/>
        </p:spPr>
        <p:txBody>
          <a:bodyPr wrap="square" lIns="18288" rIns="18288" tIns="9144" bIns="9144" anchor="t">
            <a:spAutoFit/>
          </a:bodyPr>
          <a:lstStyle/>
          <a:p>
            <a:pPr algn="l">
              <a:lnSpc>
                <a:spcPct val="108000"/>
              </a:lnSpc>
              <a:spcAft>
                <a:spcPts val="400"/>
              </a:spcAft>
            </a:pPr>
            <a:r>
              <a:rPr sz="1450" b="0">
                <a:solidFill>
                  <a:srgbClr val="151714"/>
                </a:solidFill>
                <a:latin typeface="Segoe UI"/>
              </a:rPr>
              <a:t>Size and age limits; no sensitive memories by default</a:t>
            </a:r>
          </a:p>
        </p:txBody>
      </p:sp>
      <p:sp>
        <p:nvSpPr>
          <p:cNvPr id="23" name="Rectangle 22"/>
          <p:cNvSpPr/>
          <p:nvPr/>
        </p:nvSpPr>
        <p:spPr>
          <a:xfrm>
            <a:off x="4361688" y="3950208"/>
            <a:ext cx="3520440" cy="1965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79" y="3886200"/>
            <a:ext cx="3520440" cy="19659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80559" y="4069080"/>
            <a:ext cx="3200400" cy="45720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Purge on exit</a:t>
            </a:r>
          </a:p>
        </p:txBody>
      </p:sp>
      <p:sp>
        <p:nvSpPr>
          <p:cNvPr id="26" name="TextBox 25"/>
          <p:cNvSpPr txBox="1"/>
          <p:nvPr/>
        </p:nvSpPr>
        <p:spPr>
          <a:xfrm>
            <a:off x="4480559" y="4663440"/>
            <a:ext cx="3200400" cy="1097280"/>
          </a:xfrm>
          <a:prstGeom prst="rect">
            <a:avLst/>
          </a:prstGeom>
          <a:noFill/>
        </p:spPr>
        <p:txBody>
          <a:bodyPr wrap="square" lIns="18288" rIns="18288" tIns="9144" bIns="9144" anchor="t">
            <a:spAutoFit/>
          </a:bodyPr>
          <a:lstStyle/>
          <a:p>
            <a:pPr algn="l">
              <a:lnSpc>
                <a:spcPct val="108000"/>
              </a:lnSpc>
              <a:spcAft>
                <a:spcPts val="400"/>
              </a:spcAft>
            </a:pPr>
            <a:r>
              <a:rPr sz="1450" b="0">
                <a:solidFill>
                  <a:srgbClr val="151714"/>
                </a:solidFill>
                <a:latin typeface="Segoe UI"/>
              </a:rPr>
              <a:t>Logout, deletion, account switch or revocation wipe local data</a:t>
            </a:r>
          </a:p>
        </p:txBody>
      </p:sp>
      <p:sp>
        <p:nvSpPr>
          <p:cNvPr id="27" name="Rectangle 26"/>
          <p:cNvSpPr/>
          <p:nvPr/>
        </p:nvSpPr>
        <p:spPr>
          <a:xfrm>
            <a:off x="8110727" y="3950208"/>
            <a:ext cx="3520440" cy="19659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3886200"/>
            <a:ext cx="3520440" cy="1965960"/>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599" y="4069080"/>
            <a:ext cx="3200400" cy="45720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Private telemetry</a:t>
            </a:r>
          </a:p>
        </p:txBody>
      </p:sp>
      <p:sp>
        <p:nvSpPr>
          <p:cNvPr id="30" name="TextBox 29"/>
          <p:cNvSpPr txBox="1"/>
          <p:nvPr/>
        </p:nvSpPr>
        <p:spPr>
          <a:xfrm>
            <a:off x="8229599" y="4663440"/>
            <a:ext cx="3200400" cy="1097280"/>
          </a:xfrm>
          <a:prstGeom prst="rect">
            <a:avLst/>
          </a:prstGeom>
          <a:noFill/>
        </p:spPr>
        <p:txBody>
          <a:bodyPr wrap="square" lIns="18288" rIns="18288" tIns="9144" bIns="9144" anchor="t">
            <a:spAutoFit/>
          </a:bodyPr>
          <a:lstStyle/>
          <a:p>
            <a:pPr algn="l">
              <a:lnSpc>
                <a:spcPct val="108000"/>
              </a:lnSpc>
              <a:spcAft>
                <a:spcPts val="400"/>
              </a:spcAft>
            </a:pPr>
            <a:r>
              <a:rPr sz="1450" b="0">
                <a:solidFill>
                  <a:srgbClr val="151714"/>
                </a:solidFill>
                <a:latin typeface="Segoe UI"/>
              </a:rPr>
              <a:t>No prompts, facts, tokens or codes in logs or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DESIGN ADAPTATION AND ACCESSIBILITY</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Sunshine &amp; Ink on a phone</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frontend/src/app/globals.css · docs/MOBILE-ROADMAP.md §8 · web screenshot 2026-09-15 (390px, desktop Chrome, mock model)</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9</a:t>
            </a:r>
          </a:p>
        </p:txBody>
      </p:sp>
      <p:sp>
        <p:nvSpPr>
          <p:cNvPr id="7" name="Rounded Rectangle 6"/>
          <p:cNvSpPr/>
          <p:nvPr/>
        </p:nvSpPr>
        <p:spPr>
          <a:xfrm>
            <a:off x="612647" y="1755648"/>
            <a:ext cx="2148840" cy="4206240"/>
          </a:xfrm>
          <a:prstGeom prst="round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91640"/>
            <a:ext cx="2148840" cy="4206240"/>
          </a:xfrm>
          <a:prstGeom prst="roundRect">
            <a:avLst/>
          </a:prstGeom>
          <a:solidFill>
            <a:srgbClr val="151714"/>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874520"/>
            <a:ext cx="1929384" cy="3840480"/>
          </a:xfrm>
          <a:prstGeom prst="rect">
            <a:avLst/>
          </a:prstGeom>
          <a:solidFill>
            <a:srgbClr val="FFF7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947672"/>
            <a:ext cx="1737360" cy="27432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151714"/>
                </a:solidFill>
                <a:latin typeface="Arial Black"/>
              </a:rPr>
              <a:t>Team</a:t>
            </a:r>
          </a:p>
        </p:txBody>
      </p:sp>
      <p:sp>
        <p:nvSpPr>
          <p:cNvPr id="11" name="Rectangle 10"/>
          <p:cNvSpPr/>
          <p:nvPr/>
        </p:nvSpPr>
        <p:spPr>
          <a:xfrm>
            <a:off x="768096" y="2286000"/>
            <a:ext cx="804672" cy="914400"/>
          </a:xfrm>
          <a:prstGeom prst="rect">
            <a:avLst/>
          </a:prstGeom>
          <a:solidFill>
            <a:srgbClr val="FFDA4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2926080"/>
            <a:ext cx="768096" cy="22860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151714"/>
                </a:solidFill>
                <a:latin typeface="Segoe UI Semibold"/>
              </a:rPr>
              <a:t>Study</a:t>
            </a:r>
          </a:p>
        </p:txBody>
      </p:sp>
      <p:sp>
        <p:nvSpPr>
          <p:cNvPr id="13" name="Rectangle 12"/>
          <p:cNvSpPr/>
          <p:nvPr/>
        </p:nvSpPr>
        <p:spPr>
          <a:xfrm>
            <a:off x="1664207" y="2286000"/>
            <a:ext cx="804672" cy="914400"/>
          </a:xfrm>
          <a:prstGeom prst="rect">
            <a:avLst/>
          </a:prstGeom>
          <a:solidFill>
            <a:srgbClr val="FFD6E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82495" y="2926080"/>
            <a:ext cx="768096" cy="22860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151714"/>
                </a:solidFill>
                <a:latin typeface="Segoe UI Semibold"/>
              </a:rPr>
              <a:t>Career</a:t>
            </a:r>
          </a:p>
        </p:txBody>
      </p:sp>
      <p:sp>
        <p:nvSpPr>
          <p:cNvPr id="15" name="Rectangle 14"/>
          <p:cNvSpPr/>
          <p:nvPr/>
        </p:nvSpPr>
        <p:spPr>
          <a:xfrm>
            <a:off x="768096" y="3310128"/>
            <a:ext cx="804672" cy="914400"/>
          </a:xfrm>
          <a:prstGeom prst="rect">
            <a:avLst/>
          </a:prstGeom>
          <a:solidFill>
            <a:srgbClr val="FFD6E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6384" y="3950208"/>
            <a:ext cx="768096" cy="22860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151714"/>
                </a:solidFill>
                <a:latin typeface="Segoe UI Semibold"/>
              </a:rPr>
              <a:t>Research</a:t>
            </a:r>
          </a:p>
        </p:txBody>
      </p:sp>
      <p:sp>
        <p:nvSpPr>
          <p:cNvPr id="17" name="Rectangle 16"/>
          <p:cNvSpPr/>
          <p:nvPr/>
        </p:nvSpPr>
        <p:spPr>
          <a:xfrm>
            <a:off x="1664207" y="3310128"/>
            <a:ext cx="804672" cy="914400"/>
          </a:xfrm>
          <a:prstGeom prst="rect">
            <a:avLst/>
          </a:prstGeom>
          <a:solidFill>
            <a:srgbClr val="FFDA4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682495" y="3950208"/>
            <a:ext cx="768096" cy="22860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151714"/>
                </a:solidFill>
                <a:latin typeface="Segoe UI Semibold"/>
              </a:rPr>
              <a:t>Writing</a:t>
            </a:r>
          </a:p>
        </p:txBody>
      </p:sp>
      <p:sp>
        <p:nvSpPr>
          <p:cNvPr id="19" name="Rectangle 18"/>
          <p:cNvSpPr/>
          <p:nvPr/>
        </p:nvSpPr>
        <p:spPr>
          <a:xfrm>
            <a:off x="768096" y="4334256"/>
            <a:ext cx="804672" cy="914400"/>
          </a:xfrm>
          <a:prstGeom prst="rect">
            <a:avLst/>
          </a:prstGeom>
          <a:solidFill>
            <a:srgbClr val="FFDA4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6384" y="4974336"/>
            <a:ext cx="768096" cy="22860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151714"/>
                </a:solidFill>
                <a:latin typeface="Segoe UI Semibold"/>
              </a:rPr>
              <a:t>Travel</a:t>
            </a:r>
          </a:p>
        </p:txBody>
      </p:sp>
      <p:sp>
        <p:nvSpPr>
          <p:cNvPr id="21" name="Rectangle 20"/>
          <p:cNvSpPr/>
          <p:nvPr/>
        </p:nvSpPr>
        <p:spPr>
          <a:xfrm>
            <a:off x="1664207" y="4334256"/>
            <a:ext cx="804672" cy="914400"/>
          </a:xfrm>
          <a:prstGeom prst="rect">
            <a:avLst/>
          </a:prstGeom>
          <a:solidFill>
            <a:srgbClr val="FFD6E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682495" y="4974336"/>
            <a:ext cx="768096" cy="22860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151714"/>
                </a:solidFill>
                <a:latin typeface="Segoe UI Semibold"/>
              </a:rPr>
              <a:t>Finance</a:t>
            </a:r>
          </a:p>
        </p:txBody>
      </p:sp>
      <p:sp>
        <p:nvSpPr>
          <p:cNvPr id="23" name="Rectangle 22"/>
          <p:cNvSpPr/>
          <p:nvPr/>
        </p:nvSpPr>
        <p:spPr>
          <a:xfrm>
            <a:off x="658368" y="5303520"/>
            <a:ext cx="1929384" cy="411480"/>
          </a:xfrm>
          <a:prstGeom prst="rect">
            <a:avLst/>
          </a:prstGeom>
          <a:solidFill>
            <a:srgbClr val="FFFCF2"/>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6656"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Home</a:t>
            </a:r>
          </a:p>
        </p:txBody>
      </p:sp>
      <p:sp>
        <p:nvSpPr>
          <p:cNvPr id="25" name="TextBox 24"/>
          <p:cNvSpPr txBox="1"/>
          <p:nvPr/>
        </p:nvSpPr>
        <p:spPr>
          <a:xfrm>
            <a:off x="1152144"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Team</a:t>
            </a:r>
          </a:p>
        </p:txBody>
      </p:sp>
      <p:sp>
        <p:nvSpPr>
          <p:cNvPr id="26" name="TextBox 25"/>
          <p:cNvSpPr txBox="1"/>
          <p:nvPr/>
        </p:nvSpPr>
        <p:spPr>
          <a:xfrm>
            <a:off x="1627632"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Memory</a:t>
            </a:r>
          </a:p>
        </p:txBody>
      </p:sp>
      <p:sp>
        <p:nvSpPr>
          <p:cNvPr id="27" name="TextBox 26"/>
          <p:cNvSpPr txBox="1"/>
          <p:nvPr/>
        </p:nvSpPr>
        <p:spPr>
          <a:xfrm>
            <a:off x="2103120"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Goals</a:t>
            </a:r>
          </a:p>
        </p:txBody>
      </p:sp>
      <p:sp>
        <p:nvSpPr>
          <p:cNvPr id="28" name="Rounded Rectangle 27"/>
          <p:cNvSpPr/>
          <p:nvPr/>
        </p:nvSpPr>
        <p:spPr>
          <a:xfrm>
            <a:off x="3035808" y="1755648"/>
            <a:ext cx="2148840" cy="4206240"/>
          </a:xfrm>
          <a:prstGeom prst="round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71800" y="1691640"/>
            <a:ext cx="2148840" cy="4206240"/>
          </a:xfrm>
          <a:prstGeom prst="roundRect">
            <a:avLst/>
          </a:prstGeom>
          <a:solidFill>
            <a:srgbClr val="151714"/>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081528" y="1874520"/>
            <a:ext cx="1929384" cy="3840480"/>
          </a:xfrm>
          <a:prstGeom prst="rect">
            <a:avLst/>
          </a:prstGeom>
          <a:solidFill>
            <a:srgbClr val="FFF7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154680" y="1947672"/>
            <a:ext cx="1737360" cy="27432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151714"/>
                </a:solidFill>
                <a:latin typeface="Arial Black"/>
              </a:rPr>
              <a:t>Study chat</a:t>
            </a:r>
          </a:p>
        </p:txBody>
      </p:sp>
      <p:sp>
        <p:nvSpPr>
          <p:cNvPr id="32" name="Rectangle 31"/>
          <p:cNvSpPr/>
          <p:nvPr/>
        </p:nvSpPr>
        <p:spPr>
          <a:xfrm>
            <a:off x="3767328" y="2331720"/>
            <a:ext cx="1143000" cy="411480"/>
          </a:xfrm>
          <a:prstGeom prst="rect">
            <a:avLst/>
          </a:prstGeom>
          <a:solidFill>
            <a:srgbClr val="FFEBA6"/>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172968" y="2880360"/>
            <a:ext cx="1463040" cy="1143000"/>
          </a:xfrm>
          <a:prstGeom prst="rect">
            <a:avLst/>
          </a:prstGeom>
          <a:solidFill>
            <a:srgbClr val="FFFCF2"/>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218688" y="2926080"/>
            <a:ext cx="1371600" cy="1005840"/>
          </a:xfrm>
          <a:prstGeom prst="rect">
            <a:avLst/>
          </a:prstGeom>
          <a:noFill/>
        </p:spPr>
        <p:txBody>
          <a:bodyPr wrap="square" lIns="18288" rIns="18288" tIns="9144" bIns="9144" anchor="t">
            <a:spAutoFit/>
          </a:bodyPr>
          <a:lstStyle/>
          <a:p>
            <a:pPr algn="l">
              <a:lnSpc>
                <a:spcPct val="108000"/>
              </a:lnSpc>
              <a:spcAft>
                <a:spcPts val="400"/>
              </a:spcAft>
            </a:pPr>
            <a:r>
              <a:rPr sz="800" b="0">
                <a:solidFill>
                  <a:srgbClr val="43483F"/>
                </a:solidFill>
                <a:latin typeface="Segoe UI"/>
              </a:rPr>
              <a:t>Reply streams here; outcome is announced</a:t>
            </a:r>
          </a:p>
        </p:txBody>
      </p:sp>
      <p:sp>
        <p:nvSpPr>
          <p:cNvPr id="35" name="Rectangle 34"/>
          <p:cNvSpPr/>
          <p:nvPr/>
        </p:nvSpPr>
        <p:spPr>
          <a:xfrm>
            <a:off x="3172968" y="4160520"/>
            <a:ext cx="1737360" cy="201168"/>
          </a:xfrm>
          <a:prstGeom prst="rect">
            <a:avLst/>
          </a:prstGeom>
          <a:solidFill>
            <a:srgbClr val="FFD6E5"/>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191256" y="4160520"/>
            <a:ext cx="1737360" cy="201168"/>
          </a:xfrm>
          <a:prstGeom prst="rect">
            <a:avLst/>
          </a:prstGeom>
          <a:noFill/>
        </p:spPr>
        <p:txBody>
          <a:bodyPr wrap="square" lIns="18288" rIns="18288" tIns="9144" bIns="9144" anchor="t">
            <a:spAutoFit/>
          </a:bodyPr>
          <a:lstStyle/>
          <a:p>
            <a:pPr algn="l">
              <a:lnSpc>
                <a:spcPct val="108000"/>
              </a:lnSpc>
              <a:spcAft>
                <a:spcPts val="400"/>
              </a:spcAft>
            </a:pPr>
            <a:r>
              <a:rPr sz="750" b="0">
                <a:solidFill>
                  <a:srgbClr val="151714"/>
                </a:solidFill>
                <a:latin typeface="Segoe UI Semibold"/>
              </a:rPr>
              <a:t>Interrupted · Try again</a:t>
            </a:r>
          </a:p>
        </p:txBody>
      </p:sp>
      <p:sp>
        <p:nvSpPr>
          <p:cNvPr id="37" name="Rectangle 36"/>
          <p:cNvSpPr/>
          <p:nvPr/>
        </p:nvSpPr>
        <p:spPr>
          <a:xfrm>
            <a:off x="3172968" y="4800600"/>
            <a:ext cx="1737360" cy="411480"/>
          </a:xfrm>
          <a:prstGeom prst="rect">
            <a:avLst/>
          </a:prstGeom>
          <a:solidFill>
            <a:srgbClr val="FFFCF2"/>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218688" y="4864608"/>
            <a:ext cx="1371600" cy="274320"/>
          </a:xfrm>
          <a:prstGeom prst="rect">
            <a:avLst/>
          </a:prstGeom>
          <a:noFill/>
        </p:spPr>
        <p:txBody>
          <a:bodyPr wrap="square" lIns="18288" rIns="18288" tIns="9144" bIns="9144" anchor="t">
            <a:spAutoFit/>
          </a:bodyPr>
          <a:lstStyle/>
          <a:p>
            <a:pPr algn="l">
              <a:lnSpc>
                <a:spcPct val="108000"/>
              </a:lnSpc>
              <a:spcAft>
                <a:spcPts val="400"/>
              </a:spcAft>
            </a:pPr>
            <a:r>
              <a:rPr sz="750" b="0">
                <a:solidFill>
                  <a:srgbClr val="43483F"/>
                </a:solidFill>
                <a:latin typeface="Segoe UI"/>
              </a:rPr>
              <a:t>Composer above keyboard</a:t>
            </a:r>
          </a:p>
        </p:txBody>
      </p:sp>
      <p:sp>
        <p:nvSpPr>
          <p:cNvPr id="39" name="Rectangle 38"/>
          <p:cNvSpPr/>
          <p:nvPr/>
        </p:nvSpPr>
        <p:spPr>
          <a:xfrm>
            <a:off x="3081528" y="5303520"/>
            <a:ext cx="1929384" cy="411480"/>
          </a:xfrm>
          <a:prstGeom prst="rect">
            <a:avLst/>
          </a:prstGeom>
          <a:solidFill>
            <a:srgbClr val="FFFCF2"/>
          </a:solidFill>
          <a:ln w="127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099816"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Home</a:t>
            </a:r>
          </a:p>
        </p:txBody>
      </p:sp>
      <p:sp>
        <p:nvSpPr>
          <p:cNvPr id="41" name="TextBox 40"/>
          <p:cNvSpPr txBox="1"/>
          <p:nvPr/>
        </p:nvSpPr>
        <p:spPr>
          <a:xfrm>
            <a:off x="3575304"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Team</a:t>
            </a:r>
          </a:p>
        </p:txBody>
      </p:sp>
      <p:sp>
        <p:nvSpPr>
          <p:cNvPr id="42" name="TextBox 41"/>
          <p:cNvSpPr txBox="1"/>
          <p:nvPr/>
        </p:nvSpPr>
        <p:spPr>
          <a:xfrm>
            <a:off x="4050791"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Memory</a:t>
            </a:r>
          </a:p>
        </p:txBody>
      </p:sp>
      <p:sp>
        <p:nvSpPr>
          <p:cNvPr id="43" name="TextBox 42"/>
          <p:cNvSpPr txBox="1"/>
          <p:nvPr/>
        </p:nvSpPr>
        <p:spPr>
          <a:xfrm>
            <a:off x="4526280" y="5376672"/>
            <a:ext cx="475488" cy="274320"/>
          </a:xfrm>
          <a:prstGeom prst="rect">
            <a:avLst/>
          </a:prstGeom>
          <a:noFill/>
        </p:spPr>
        <p:txBody>
          <a:bodyPr wrap="square" lIns="18288" rIns="18288" tIns="9144" bIns="9144" anchor="t">
            <a:spAutoFit/>
          </a:bodyPr>
          <a:lstStyle/>
          <a:p>
            <a:pPr algn="ctr">
              <a:lnSpc>
                <a:spcPct val="108000"/>
              </a:lnSpc>
              <a:spcAft>
                <a:spcPts val="400"/>
              </a:spcAft>
            </a:pPr>
            <a:r>
              <a:rPr sz="800" b="0">
                <a:solidFill>
                  <a:srgbClr val="151714"/>
                </a:solidFill>
                <a:latin typeface="Segoe UI Semibold"/>
              </a:rPr>
              <a:t>Goals</a:t>
            </a:r>
          </a:p>
        </p:txBody>
      </p:sp>
      <p:sp>
        <p:nvSpPr>
          <p:cNvPr id="44" name="Rectangle 43"/>
          <p:cNvSpPr/>
          <p:nvPr/>
        </p:nvSpPr>
        <p:spPr>
          <a:xfrm>
            <a:off x="548640" y="6035040"/>
            <a:ext cx="2651760" cy="274320"/>
          </a:xfrm>
          <a:prstGeom prst="rect">
            <a:avLst/>
          </a:prstGeom>
          <a:solidFill>
            <a:srgbClr val="FFD6E5"/>
          </a:solidFill>
          <a:ln w="15875">
            <a:solidFill>
              <a:srgbClr val="CC1757"/>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CONCEPT · NOT A SCREENSHOT</a:t>
            </a:r>
          </a:p>
        </p:txBody>
      </p:sp>
      <p:sp>
        <p:nvSpPr>
          <p:cNvPr id="45" name="Rectangle 44"/>
          <p:cNvSpPr/>
          <p:nvPr/>
        </p:nvSpPr>
        <p:spPr>
          <a:xfrm>
            <a:off x="5641848" y="1709928"/>
            <a:ext cx="1985894" cy="42976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shot-phone-chat.jpg"/>
          <p:cNvPicPr>
            <a:picLocks noChangeAspect="1"/>
          </p:cNvPicPr>
          <p:nvPr/>
        </p:nvPicPr>
        <p:blipFill>
          <a:blip r:embed="rId3"/>
          <a:stretch>
            <a:fillRect/>
          </a:stretch>
        </p:blipFill>
        <p:spPr>
          <a:xfrm>
            <a:off x="5577840" y="1645920"/>
            <a:ext cx="1985894" cy="4297680"/>
          </a:xfrm>
          <a:prstGeom prst="rect">
            <a:avLst/>
          </a:prstGeom>
          <a:ln w="25400">
            <a:solidFill>
              <a:srgbClr val="151714"/>
            </a:solidFill>
          </a:ln>
        </p:spPr>
      </p:pic>
      <p:sp>
        <p:nvSpPr>
          <p:cNvPr id="47" name="TextBox 46"/>
          <p:cNvSpPr txBox="1"/>
          <p:nvPr/>
        </p:nvSpPr>
        <p:spPr>
          <a:xfrm>
            <a:off x="5577840" y="5989320"/>
            <a:ext cx="2377440" cy="274320"/>
          </a:xfrm>
          <a:prstGeom prst="rect">
            <a:avLst/>
          </a:prstGeom>
          <a:noFill/>
        </p:spPr>
        <p:txBody>
          <a:bodyPr wrap="square" lIns="18288" rIns="18288" tIns="9144" bIns="9144" anchor="t">
            <a:spAutoFit/>
          </a:bodyPr>
          <a:lstStyle/>
          <a:p>
            <a:pPr algn="l">
              <a:lnSpc>
                <a:spcPct val="108000"/>
              </a:lnSpc>
              <a:spcAft>
                <a:spcPts val="400"/>
              </a:spcAft>
            </a:pPr>
            <a:r>
              <a:rPr sz="1100" b="0">
                <a:solidFill>
                  <a:srgbClr val="151714"/>
                </a:solidFill>
                <a:latin typeface="Segoe UI Semibold"/>
              </a:rPr>
              <a:t>Web today · 390px · mock model</a:t>
            </a:r>
          </a:p>
        </p:txBody>
      </p:sp>
      <p:sp>
        <p:nvSpPr>
          <p:cNvPr id="48" name="Rectangle 47"/>
          <p:cNvSpPr/>
          <p:nvPr/>
        </p:nvSpPr>
        <p:spPr>
          <a:xfrm>
            <a:off x="7882128" y="1709928"/>
            <a:ext cx="3840480" cy="44805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18120" y="1645920"/>
            <a:ext cx="3840480" cy="44805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7818120" y="1645920"/>
            <a:ext cx="38404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946136" y="1700784"/>
            <a:ext cx="35844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Must hold on phones</a:t>
            </a:r>
          </a:p>
        </p:txBody>
      </p:sp>
      <p:sp>
        <p:nvSpPr>
          <p:cNvPr id="52" name="TextBox 51"/>
          <p:cNvSpPr txBox="1"/>
          <p:nvPr/>
        </p:nvSpPr>
        <p:spPr>
          <a:xfrm>
            <a:off x="7964424" y="2176272"/>
            <a:ext cx="3547872" cy="385876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Ink on pink; deep pink text</a:t>
            </a:r>
          </a:p>
          <a:p>
            <a:pPr algn="l" marL="219456" indent="-182880">
              <a:lnSpc>
                <a:spcPct val="108000"/>
              </a:lnSpc>
              <a:spcAft>
                <a:spcPts val="400"/>
              </a:spcAft>
              <a:buFont typeface="Arial"/>
              <a:buChar char="•"/>
            </a:pPr>
            <a:r>
              <a:rPr sz="1350" b="0">
                <a:solidFill>
                  <a:srgbClr val="151714"/>
                </a:solidFill>
                <a:latin typeface="Segoe UI"/>
              </a:rPr>
              <a:t>Bottom tabs + stack chat</a:t>
            </a:r>
          </a:p>
          <a:p>
            <a:pPr algn="l" marL="219456" indent="-182880">
              <a:lnSpc>
                <a:spcPct val="108000"/>
              </a:lnSpc>
              <a:spcAft>
                <a:spcPts val="400"/>
              </a:spcAft>
              <a:buFont typeface="Arial"/>
              <a:buChar char="•"/>
            </a:pPr>
            <a:r>
              <a:rPr sz="1350" b="0">
                <a:solidFill>
                  <a:srgbClr val="151714"/>
                </a:solidFill>
                <a:latin typeface="Segoe UI"/>
              </a:rPr>
              <a:t>Keyboard-safe composer</a:t>
            </a:r>
          </a:p>
          <a:p>
            <a:pPr algn="l" marL="219456" indent="-182880">
              <a:lnSpc>
                <a:spcPct val="108000"/>
              </a:lnSpc>
              <a:spcAft>
                <a:spcPts val="400"/>
              </a:spcAft>
              <a:buFont typeface="Arial"/>
              <a:buChar char="•"/>
            </a:pPr>
            <a:r>
              <a:rPr sz="1350" b="0">
                <a:solidFill>
                  <a:srgbClr val="151714"/>
                </a:solidFill>
                <a:latin typeface="Segoe UI"/>
              </a:rPr>
              <a:t>Announce outcomes, not tokens</a:t>
            </a:r>
          </a:p>
          <a:p>
            <a:pPr algn="l" marL="219456" indent="-182880">
              <a:lnSpc>
                <a:spcPct val="108000"/>
              </a:lnSpc>
              <a:spcAft>
                <a:spcPts val="400"/>
              </a:spcAft>
              <a:buFont typeface="Arial"/>
              <a:buChar char="•"/>
            </a:pPr>
            <a:r>
              <a:rPr sz="1350" b="0">
                <a:solidFill>
                  <a:srgbClr val="151714"/>
                </a:solidFill>
                <a:latin typeface="Segoe UI"/>
              </a:rPr>
              <a:t>Text scaling, reduced motion</a:t>
            </a:r>
          </a:p>
          <a:p>
            <a:pPr algn="l" marL="219456" indent="-182880">
              <a:lnSpc>
                <a:spcPct val="108000"/>
              </a:lnSpc>
              <a:spcAft>
                <a:spcPts val="400"/>
              </a:spcAft>
              <a:buFont typeface="Arial"/>
              <a:buChar char="•"/>
            </a:pPr>
            <a:r>
              <a:rPr sz="1350" b="0">
                <a:solidFill>
                  <a:srgbClr val="151714"/>
                </a:solidFill>
                <a:latin typeface="Segoe UI"/>
              </a:rPr>
              <a:t>VoiceOver + TalkBack by people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NOTIFICATIONS, SAFETY, QUOTAS AND OBSERVABILITY</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Push, AI safety and shared capacity</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§9 · Google Play AI-generated content policy (checked 2026-09-15) · docs/usage-limits.md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10</a:t>
            </a:r>
          </a:p>
        </p:txBody>
      </p:sp>
      <p:sp>
        <p:nvSpPr>
          <p:cNvPr id="7" name="Rectangle 6"/>
          <p:cNvSpPr/>
          <p:nvPr/>
        </p:nvSpPr>
        <p:spPr>
          <a:xfrm>
            <a:off x="612647" y="1664208"/>
            <a:ext cx="361188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61188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361188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3355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Push — optional</a:t>
            </a:r>
          </a:p>
        </p:txBody>
      </p:sp>
      <p:sp>
        <p:nvSpPr>
          <p:cNvPr id="11" name="TextBox 10"/>
          <p:cNvSpPr txBox="1"/>
          <p:nvPr/>
        </p:nvSpPr>
        <p:spPr>
          <a:xfrm>
            <a:off x="694944" y="2130552"/>
            <a:ext cx="331927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Only for a chosen use case</a:t>
            </a:r>
          </a:p>
          <a:p>
            <a:pPr algn="l" marL="219456" indent="-182880">
              <a:lnSpc>
                <a:spcPct val="108000"/>
              </a:lnSpc>
              <a:spcAft>
                <a:spcPts val="400"/>
              </a:spcAft>
              <a:buFont typeface="Arial"/>
              <a:buChar char="•"/>
            </a:pPr>
            <a:r>
              <a:rPr sz="1400" b="0">
                <a:solidFill>
                  <a:srgbClr val="151714"/>
                </a:solidFill>
                <a:latin typeface="Segoe UI"/>
              </a:rPr>
              <a:t>Needs a server job system</a:t>
            </a:r>
          </a:p>
          <a:p>
            <a:pPr algn="l" marL="219456" indent="-182880">
              <a:lnSpc>
                <a:spcPct val="108000"/>
              </a:lnSpc>
              <a:spcAft>
                <a:spcPts val="400"/>
              </a:spcAft>
              <a:buFont typeface="Arial"/>
              <a:buChar char="•"/>
            </a:pPr>
            <a:r>
              <a:rPr sz="1400" b="0">
                <a:solidFill>
                  <a:srgbClr val="151714"/>
                </a:solidFill>
                <a:latin typeface="Segoe UI"/>
              </a:rPr>
              <a:t>Generic payloads, no personal text</a:t>
            </a:r>
          </a:p>
          <a:p>
            <a:pPr algn="l" marL="219456" indent="-182880">
              <a:lnSpc>
                <a:spcPct val="108000"/>
              </a:lnSpc>
              <a:spcAft>
                <a:spcPts val="400"/>
              </a:spcAft>
              <a:buFont typeface="Arial"/>
              <a:buChar char="•"/>
            </a:pPr>
            <a:r>
              <a:rPr sz="1400" b="0">
                <a:solidFill>
                  <a:srgbClr val="151714"/>
                </a:solidFill>
                <a:latin typeface="Segoe UI"/>
              </a:rPr>
              <a:t>Unregister on logout</a:t>
            </a:r>
          </a:p>
        </p:txBody>
      </p:sp>
      <p:sp>
        <p:nvSpPr>
          <p:cNvPr id="12" name="Rectangle 11"/>
          <p:cNvSpPr/>
          <p:nvPr/>
        </p:nvSpPr>
        <p:spPr>
          <a:xfrm>
            <a:off x="731520" y="5669280"/>
            <a:ext cx="109728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AFTER MVP</a:t>
            </a:r>
          </a:p>
        </p:txBody>
      </p:sp>
      <p:sp>
        <p:nvSpPr>
          <p:cNvPr id="13" name="Rectangle 12"/>
          <p:cNvSpPr/>
          <p:nvPr/>
        </p:nvSpPr>
        <p:spPr>
          <a:xfrm>
            <a:off x="4379976" y="1664208"/>
            <a:ext cx="361188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00200"/>
            <a:ext cx="361188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15968" y="1600200"/>
            <a:ext cx="361188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43983" y="1655064"/>
            <a:ext cx="33558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AI safety — required</a:t>
            </a:r>
          </a:p>
        </p:txBody>
      </p:sp>
      <p:sp>
        <p:nvSpPr>
          <p:cNvPr id="17" name="TextBox 16"/>
          <p:cNvSpPr txBox="1"/>
          <p:nvPr/>
        </p:nvSpPr>
        <p:spPr>
          <a:xfrm>
            <a:off x="4462272" y="2130552"/>
            <a:ext cx="331927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In-app report / flag on replies</a:t>
            </a:r>
          </a:p>
          <a:p>
            <a:pPr algn="l" marL="219456" indent="-182880">
              <a:lnSpc>
                <a:spcPct val="108000"/>
              </a:lnSpc>
              <a:spcAft>
                <a:spcPts val="400"/>
              </a:spcAft>
              <a:buFont typeface="Arial"/>
              <a:buChar char="•"/>
            </a:pPr>
            <a:r>
              <a:rPr sz="1400" b="0">
                <a:solidFill>
                  <a:srgbClr val="151714"/>
                </a:solidFill>
                <a:latin typeface="Segoe UI"/>
              </a:rPr>
              <a:t>Rate-limited intake</a:t>
            </a:r>
          </a:p>
          <a:p>
            <a:pPr algn="l" marL="219456" indent="-182880">
              <a:lnSpc>
                <a:spcPct val="108000"/>
              </a:lnSpc>
              <a:spcAft>
                <a:spcPts val="400"/>
              </a:spcAft>
              <a:buFont typeface="Arial"/>
              <a:buChar char="•"/>
            </a:pPr>
            <a:r>
              <a:rPr sz="1400" b="0">
                <a:solidFill>
                  <a:srgbClr val="151714"/>
                </a:solidFill>
                <a:latin typeface="Segoe UI"/>
              </a:rPr>
              <a:t>Reviewer queue and response policy</a:t>
            </a:r>
          </a:p>
          <a:p>
            <a:pPr algn="l" marL="219456" indent="-182880">
              <a:lnSpc>
                <a:spcPct val="108000"/>
              </a:lnSpc>
              <a:spcAft>
                <a:spcPts val="400"/>
              </a:spcAft>
              <a:buFont typeface="Arial"/>
              <a:buChar char="•"/>
            </a:pPr>
            <a:r>
              <a:rPr sz="1400" b="0">
                <a:solidFill>
                  <a:srgbClr val="151714"/>
                </a:solidFill>
                <a:latin typeface="Segoe UI"/>
              </a:rPr>
              <a:t>Google Play policy, checked 2026-09-15</a:t>
            </a:r>
          </a:p>
        </p:txBody>
      </p:sp>
      <p:sp>
        <p:nvSpPr>
          <p:cNvPr id="18" name="Rectangle 17"/>
          <p:cNvSpPr/>
          <p:nvPr/>
        </p:nvSpPr>
        <p:spPr>
          <a:xfrm>
            <a:off x="8147304" y="1664208"/>
            <a:ext cx="356616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600200"/>
            <a:ext cx="356616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83296" y="1600200"/>
            <a:ext cx="356616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11312" y="1655064"/>
            <a:ext cx="33101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Load &amp; quotas</a:t>
            </a:r>
          </a:p>
        </p:txBody>
      </p:sp>
      <p:sp>
        <p:nvSpPr>
          <p:cNvPr id="22" name="TextBox 21"/>
          <p:cNvSpPr txBox="1"/>
          <p:nvPr/>
        </p:nvSpPr>
        <p:spPr>
          <a:xfrm>
            <a:off x="8229600" y="2130552"/>
            <a:ext cx="327355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a:rPr>
              <a:t>One shared free-tier model quota</a:t>
            </a:r>
          </a:p>
          <a:p>
            <a:pPr algn="l" marL="219456" indent="-182880">
              <a:lnSpc>
                <a:spcPct val="108000"/>
              </a:lnSpc>
              <a:spcAft>
                <a:spcPts val="400"/>
              </a:spcAft>
              <a:buFont typeface="Arial"/>
              <a:buChar char="•"/>
            </a:pPr>
            <a:r>
              <a:rPr sz="1400" b="0">
                <a:solidFill>
                  <a:srgbClr val="151714"/>
                </a:solidFill>
                <a:latin typeface="Segoe UI"/>
              </a:rPr>
              <a:t>Measure before promising users</a:t>
            </a:r>
          </a:p>
          <a:p>
            <a:pPr algn="l" marL="219456" indent="-182880">
              <a:lnSpc>
                <a:spcPct val="108000"/>
              </a:lnSpc>
              <a:spcAft>
                <a:spcPts val="400"/>
              </a:spcAft>
              <a:buFont typeface="Arial"/>
              <a:buChar char="•"/>
            </a:pPr>
            <a:r>
              <a:rPr sz="1400" b="0">
                <a:solidFill>
                  <a:srgbClr val="151714"/>
                </a:solidFill>
                <a:latin typeface="Segoe UI"/>
              </a:rPr>
              <a:t>Keep one backend worker for now</a:t>
            </a:r>
          </a:p>
          <a:p>
            <a:pPr algn="l" marL="219456" indent="-182880">
              <a:lnSpc>
                <a:spcPct val="108000"/>
              </a:lnSpc>
              <a:spcAft>
                <a:spcPts val="400"/>
              </a:spcAft>
              <a:buFont typeface="Arial"/>
              <a:buChar char="•"/>
            </a:pPr>
            <a:r>
              <a:rPr sz="1400" b="0">
                <a:solidFill>
                  <a:srgbClr val="151714"/>
                </a:solidFill>
                <a:latin typeface="Segoe UI"/>
              </a:rPr>
              <a:t>Log versions and operation IDs, never 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DEVICE, NETWORK AND SECURITY TEST MATRIX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Test on real devices and bad networks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§10</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11</a:t>
            </a:r>
          </a:p>
        </p:txBody>
      </p:sp>
      <p:graphicFrame>
        <p:nvGraphicFramePr>
          <p:cNvPr id="7" name="Table 6"/>
          <p:cNvGraphicFramePr>
            <a:graphicFrameLocks noGrp="1"/>
          </p:cNvGraphicFramePr>
          <p:nvPr/>
        </p:nvGraphicFramePr>
        <p:xfrm>
          <a:off x="548640" y="1572768"/>
          <a:ext cx="11100815" cy="3950208"/>
        </p:xfrm>
        <a:graphic>
          <a:graphicData uri="http://schemas.openxmlformats.org/drawingml/2006/table">
            <a:tbl>
              <a:tblPr firstRow="1" bandRow="1">
                <a:tableStyleId>{5940675A-B579-460E-94D1-54222C63F5DA}</a:tableStyleId>
              </a:tblPr>
              <a:tblGrid>
                <a:gridCol w="1651361"/>
                <a:gridCol w="9449454"/>
              </a:tblGrid>
              <a:tr h="493776">
                <a:tc>
                  <a:txBody>
                    <a:bodyPr wrap="square"/>
                    <a:lstStyle/>
                    <a:p>
                      <a:r>
                        <a:rPr sz="1350">
                          <a:solidFill>
                            <a:srgbClr val="151714"/>
                          </a:solidFill>
                          <a:latin typeface="Segoe UI Semibold"/>
                        </a:rPr>
                        <a:t>Area</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350">
                          <a:solidFill>
                            <a:srgbClr val="151714"/>
                          </a:solidFill>
                          <a:latin typeface="Segoe UI Semibold"/>
                        </a:rPr>
                        <a:t>Must pass before release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493776">
                <a:tc>
                  <a:txBody>
                    <a:bodyPr wrap="square"/>
                    <a:lstStyle/>
                    <a:p>
                      <a:r>
                        <a:rPr sz="1350">
                          <a:solidFill>
                            <a:srgbClr val="151714"/>
                          </a:solidFill>
                          <a:latin typeface="Segoe UI Semibold"/>
                        </a:rPr>
                        <a:t>Devices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350">
                          <a:solidFill>
                            <a:srgbClr val="151714"/>
                          </a:solidFill>
                          <a:latin typeface="Segoe UI"/>
                        </a:rPr>
                        <a:t>Physical iPhone + Android · oldest supported OS · small screen · large text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93776">
                <a:tc>
                  <a:txBody>
                    <a:bodyPr wrap="square"/>
                    <a:lstStyle/>
                    <a:p>
                      <a:r>
                        <a:rPr sz="1350">
                          <a:solidFill>
                            <a:srgbClr val="151714"/>
                          </a:solidFill>
                          <a:latin typeface="Segoe UI Semibold"/>
                        </a:rPr>
                        <a:t>Accounts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350">
                          <a:solidFill>
                            <a:srgbClr val="151714"/>
                          </a:solidFill>
                          <a:latin typeface="Segoe UI"/>
                        </a:rPr>
                        <a:t>A→B switch · expired and deleted sessions · refresh replay · simultaneous recovery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93776">
                <a:tc>
                  <a:txBody>
                    <a:bodyPr wrap="square"/>
                    <a:lstStyle/>
                    <a:p>
                      <a:r>
                        <a:rPr sz="1350">
                          <a:solidFill>
                            <a:srgbClr val="151714"/>
                          </a:solidFill>
                          <a:latin typeface="Segoe UI Semibold"/>
                        </a:rPr>
                        <a:t>Streaming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350">
                          <a:solidFill>
                            <a:srgbClr val="151714"/>
                          </a:solidFill>
                          <a:latin typeface="Segoe UI"/>
                        </a:rPr>
                        <a:t>Wi-Fi→cellular · airplane mode · background · OS kill · duplicate taps · two devices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93776">
                <a:tc>
                  <a:txBody>
                    <a:bodyPr wrap="square"/>
                    <a:lstStyle/>
                    <a:p>
                      <a:r>
                        <a:rPr sz="1350">
                          <a:solidFill>
                            <a:srgbClr val="151714"/>
                          </a:solidFill>
                          <a:latin typeface="Segoe UI Semibold"/>
                        </a:rPr>
                        <a:t>Data</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350">
                          <a:solidFill>
                            <a:srgbClr val="151714"/>
                          </a:solidFill>
                          <a:latin typeface="Segoe UI"/>
                        </a:rPr>
                        <a:t>Memory on/off · private isolation at provider input · export and deletion cleanup</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93776">
                <a:tc>
                  <a:txBody>
                    <a:bodyPr wrap="square"/>
                    <a:lstStyle/>
                    <a:p>
                      <a:r>
                        <a:rPr sz="1350">
                          <a:solidFill>
                            <a:srgbClr val="151714"/>
                          </a:solidFill>
                          <a:latin typeface="Segoe UI Semibold"/>
                        </a:rPr>
                        <a:t>Accessibility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350">
                          <a:solidFill>
                            <a:srgbClr val="151714"/>
                          </a:solidFill>
                          <a:latin typeface="Segoe UI"/>
                        </a:rPr>
                        <a:t>VoiceOver and TalkBack by people · text scaling · reduced motion · focus after errors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93776">
                <a:tc>
                  <a:txBody>
                    <a:bodyPr wrap="square"/>
                    <a:lstStyle/>
                    <a:p>
                      <a:r>
                        <a:rPr sz="1350">
                          <a:solidFill>
                            <a:srgbClr val="151714"/>
                          </a:solidFill>
                          <a:latin typeface="Segoe UI Semibold"/>
                        </a:rPr>
                        <a:t>Security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350">
                          <a:solidFill>
                            <a:srgbClr val="151714"/>
                          </a:solidFill>
                          <a:latin typeface="Segoe UI"/>
                        </a:rPr>
                        <a:t>No secrets in logs, links or backups · token lifecycle · TLS · signed config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93776">
                <a:tc>
                  <a:txBody>
                    <a:bodyPr wrap="square"/>
                    <a:lstStyle/>
                    <a:p>
                      <a:r>
                        <a:rPr sz="1350">
                          <a:solidFill>
                            <a:srgbClr val="151714"/>
                          </a:solidFill>
                          <a:latin typeface="Segoe UI Semibold"/>
                        </a:rPr>
                        <a:t>Quality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350">
                          <a:solidFill>
                            <a:srgbClr val="151714"/>
                          </a:solidFill>
                          <a:latin typeface="Segoe UI"/>
                        </a:rPr>
                        <a:t>Full agent evaluation + real journeys · fingerprints · human adjudication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bl>
          </a:graphicData>
        </a:graphic>
      </p:graphicFrame>
      <p:sp>
        <p:nvSpPr>
          <p:cNvPr id="8" name="TextBox 7"/>
          <p:cNvSpPr txBox="1"/>
          <p:nvPr/>
        </p:nvSpPr>
        <p:spPr>
          <a:xfrm>
            <a:off x="548640" y="5943600"/>
            <a:ext cx="11064240" cy="36576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43483F"/>
                </a:solidFill>
                <a:latin typeface="Segoe UI"/>
              </a:rPr>
              <a:t>Evidence counts only against a named signed build and backend revision. Emulators and 390px web checks do not replace devices.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SIGNING, BETA, SUBMISSION AND PRIVACY · STORE AND PLATFORM PAGES RECHECKED 2026-09-15</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Store rules that shape the plan</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developer.apple.com · developer.android.com · support.google.com (URLs in notes and appendix) — rechecked 2026-09-15</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12</a:t>
            </a:r>
          </a:p>
        </p:txBody>
      </p:sp>
      <p:sp>
        <p:nvSpPr>
          <p:cNvPr id="7" name="Rectangle 6"/>
          <p:cNvSpPr/>
          <p:nvPr/>
        </p:nvSpPr>
        <p:spPr>
          <a:xfrm>
            <a:off x="612647" y="1664208"/>
            <a:ext cx="5440680" cy="41148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5440680" cy="41148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544068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51846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Apple</a:t>
            </a:r>
          </a:p>
        </p:txBody>
      </p:sp>
      <p:sp>
        <p:nvSpPr>
          <p:cNvPr id="11" name="TextBox 10"/>
          <p:cNvSpPr txBox="1"/>
          <p:nvPr/>
        </p:nvSpPr>
        <p:spPr>
          <a:xfrm>
            <a:off x="694944" y="2130552"/>
            <a:ext cx="5148072" cy="34930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Semibold"/>
              </a:rPr>
              <a:t>Build: </a:t>
            </a:r>
            <a:r>
              <a:rPr sz="1400" b="0">
                <a:solidFill>
                  <a:srgbClr val="151714"/>
                </a:solidFill>
                <a:latin typeface="Segoe UI"/>
              </a:rPr>
              <a:t>Xcode 26+ with the iOS 26 SDK (since Apr 28, 2026)</a:t>
            </a:r>
          </a:p>
          <a:p>
            <a:pPr algn="l" marL="219456" indent="-182880">
              <a:lnSpc>
                <a:spcPct val="108000"/>
              </a:lnSpc>
              <a:spcAft>
                <a:spcPts val="400"/>
              </a:spcAft>
              <a:buFont typeface="Arial"/>
              <a:buChar char="•"/>
            </a:pPr>
            <a:r>
              <a:rPr sz="1400" b="0">
                <a:solidFill>
                  <a:srgbClr val="151714"/>
                </a:solidFill>
                <a:latin typeface="Segoe UI Semibold"/>
              </a:rPr>
              <a:t>AI sharing: </a:t>
            </a:r>
            <a:r>
              <a:rPr sz="1400" b="0">
                <a:solidFill>
                  <a:srgbClr val="151714"/>
                </a:solidFill>
                <a:latin typeface="Segoe UI"/>
              </a:rPr>
              <a:t>disclose third-party AI and get explicit permission (5.1.2(i))</a:t>
            </a:r>
          </a:p>
          <a:p>
            <a:pPr algn="l" marL="219456" indent="-182880">
              <a:lnSpc>
                <a:spcPct val="108000"/>
              </a:lnSpc>
              <a:spcAft>
                <a:spcPts val="400"/>
              </a:spcAft>
              <a:buFont typeface="Arial"/>
              <a:buChar char="•"/>
            </a:pPr>
            <a:r>
              <a:rPr sz="1400" b="0">
                <a:solidFill>
                  <a:srgbClr val="151714"/>
                </a:solidFill>
                <a:latin typeface="Segoe UI Semibold"/>
              </a:rPr>
              <a:t>Deletion: </a:t>
            </a:r>
            <a:r>
              <a:rPr sz="1400" b="0">
                <a:solidFill>
                  <a:srgbClr val="151714"/>
                </a:solidFill>
                <a:latin typeface="Segoe UI"/>
              </a:rPr>
              <a:t>account deletion inside the app (5.1.1(v))</a:t>
            </a:r>
          </a:p>
          <a:p>
            <a:pPr algn="l" marL="219456" indent="-182880">
              <a:lnSpc>
                <a:spcPct val="108000"/>
              </a:lnSpc>
              <a:spcAft>
                <a:spcPts val="400"/>
              </a:spcAft>
              <a:buFont typeface="Arial"/>
              <a:buChar char="•"/>
            </a:pPr>
            <a:r>
              <a:rPr sz="1400" b="0">
                <a:solidFill>
                  <a:srgbClr val="151714"/>
                </a:solidFill>
                <a:latin typeface="Segoe UI Semibold"/>
              </a:rPr>
              <a:t>Beta: </a:t>
            </a:r>
            <a:r>
              <a:rPr sz="1400" b="0">
                <a:solidFill>
                  <a:srgbClr val="151714"/>
                </a:solidFill>
                <a:latin typeface="Segoe UI"/>
              </a:rPr>
              <a:t>external TestFlight builds need beta review</a:t>
            </a:r>
          </a:p>
          <a:p>
            <a:pPr algn="l" marL="219456" indent="-182880">
              <a:lnSpc>
                <a:spcPct val="108000"/>
              </a:lnSpc>
              <a:spcAft>
                <a:spcPts val="400"/>
              </a:spcAft>
              <a:buFont typeface="Arial"/>
              <a:buChar char="•"/>
            </a:pPr>
            <a:r>
              <a:rPr sz="1400" b="0">
                <a:solidFill>
                  <a:srgbClr val="151714"/>
                </a:solidFill>
                <a:latin typeface="Segoe UI Semibold"/>
              </a:rPr>
              <a:t>Privacy: </a:t>
            </a:r>
            <a:r>
              <a:rPr sz="1400" b="0">
                <a:solidFill>
                  <a:srgbClr val="151714"/>
                </a:solidFill>
                <a:latin typeface="Segoe UI"/>
              </a:rPr>
              <a:t>App Privacy details from real data flows</a:t>
            </a:r>
          </a:p>
        </p:txBody>
      </p:sp>
      <p:sp>
        <p:nvSpPr>
          <p:cNvPr id="12" name="Rectangle 11"/>
          <p:cNvSpPr/>
          <p:nvPr/>
        </p:nvSpPr>
        <p:spPr>
          <a:xfrm>
            <a:off x="6281928" y="1664208"/>
            <a:ext cx="5440680" cy="411480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00200"/>
            <a:ext cx="5440680" cy="411480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17920" y="1600200"/>
            <a:ext cx="544068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45936" y="1655064"/>
            <a:ext cx="518464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Google Play</a:t>
            </a:r>
          </a:p>
        </p:txBody>
      </p:sp>
      <p:sp>
        <p:nvSpPr>
          <p:cNvPr id="16" name="TextBox 15"/>
          <p:cNvSpPr txBox="1"/>
          <p:nvPr/>
        </p:nvSpPr>
        <p:spPr>
          <a:xfrm>
            <a:off x="6364224" y="2130552"/>
            <a:ext cx="5148072" cy="349300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400" b="0">
                <a:solidFill>
                  <a:srgbClr val="151714"/>
                </a:solidFill>
                <a:latin typeface="Segoe UI Semibold"/>
              </a:rPr>
              <a:t>Target: </a:t>
            </a:r>
            <a:r>
              <a:rPr sz="1400" b="0">
                <a:solidFill>
                  <a:srgbClr val="151714"/>
                </a:solidFill>
                <a:latin typeface="Segoe UI"/>
              </a:rPr>
              <a:t>Android 16 / API 36 from Aug 31, 2026</a:t>
            </a:r>
          </a:p>
          <a:p>
            <a:pPr algn="l" marL="219456" indent="-182880">
              <a:lnSpc>
                <a:spcPct val="108000"/>
              </a:lnSpc>
              <a:spcAft>
                <a:spcPts val="400"/>
              </a:spcAft>
              <a:buFont typeface="Arial"/>
              <a:buChar char="•"/>
            </a:pPr>
            <a:r>
              <a:rPr sz="1400" b="0">
                <a:solidFill>
                  <a:srgbClr val="151714"/>
                </a:solidFill>
                <a:latin typeface="Segoe UI Semibold"/>
              </a:rPr>
              <a:t>Deletion: </a:t>
            </a:r>
            <a:r>
              <a:rPr sz="1400" b="0">
                <a:solidFill>
                  <a:srgbClr val="151714"/>
                </a:solidFill>
                <a:latin typeface="Segoe UI"/>
              </a:rPr>
              <a:t>in-app path and a working web page</a:t>
            </a:r>
          </a:p>
          <a:p>
            <a:pPr algn="l" marL="219456" indent="-182880">
              <a:lnSpc>
                <a:spcPct val="108000"/>
              </a:lnSpc>
              <a:spcAft>
                <a:spcPts val="400"/>
              </a:spcAft>
              <a:buFont typeface="Arial"/>
              <a:buChar char="•"/>
            </a:pPr>
            <a:r>
              <a:rPr sz="1400" b="0">
                <a:solidFill>
                  <a:srgbClr val="151714"/>
                </a:solidFill>
                <a:latin typeface="Segoe UI Semibold"/>
              </a:rPr>
              <a:t>AI content: </a:t>
            </a:r>
            <a:r>
              <a:rPr sz="1400" b="0">
                <a:solidFill>
                  <a:srgbClr val="151714"/>
                </a:solidFill>
                <a:latin typeface="Segoe UI"/>
              </a:rPr>
              <a:t>in-app report or flag feature</a:t>
            </a:r>
          </a:p>
          <a:p>
            <a:pPr algn="l" marL="219456" indent="-182880">
              <a:lnSpc>
                <a:spcPct val="108000"/>
              </a:lnSpc>
              <a:spcAft>
                <a:spcPts val="400"/>
              </a:spcAft>
              <a:buFont typeface="Arial"/>
              <a:buChar char="•"/>
            </a:pPr>
            <a:r>
              <a:rPr sz="1400" b="0">
                <a:solidFill>
                  <a:srgbClr val="151714"/>
                </a:solidFill>
                <a:latin typeface="Segoe UI Semibold"/>
              </a:rPr>
              <a:t>Testing: </a:t>
            </a:r>
            <a:r>
              <a:rPr sz="1400" b="0">
                <a:solidFill>
                  <a:srgbClr val="151714"/>
                </a:solidFill>
                <a:latin typeface="Segoe UI"/>
              </a:rPr>
              <a:t>12 testers for 14 days on newer personal accounts</a:t>
            </a:r>
          </a:p>
          <a:p>
            <a:pPr algn="l" marL="219456" indent="-182880">
              <a:lnSpc>
                <a:spcPct val="108000"/>
              </a:lnSpc>
              <a:spcAft>
                <a:spcPts val="400"/>
              </a:spcAft>
              <a:buFont typeface="Arial"/>
              <a:buChar char="•"/>
            </a:pPr>
            <a:r>
              <a:rPr sz="1400" b="0">
                <a:solidFill>
                  <a:srgbClr val="151714"/>
                </a:solidFill>
                <a:latin typeface="Segoe UI Semibold"/>
              </a:rPr>
              <a:t>Privacy: </a:t>
            </a:r>
            <a:r>
              <a:rPr sz="1400" b="0">
                <a:solidFill>
                  <a:srgbClr val="151714"/>
                </a:solidFill>
                <a:latin typeface="Segoe UI"/>
              </a:rPr>
              <a:t>Data safety form from real flows and SDKs</a:t>
            </a:r>
          </a:p>
        </p:txBody>
      </p:sp>
      <p:sp>
        <p:nvSpPr>
          <p:cNvPr id="17" name="TextBox 16"/>
          <p:cNvSpPr txBox="1"/>
          <p:nvPr/>
        </p:nvSpPr>
        <p:spPr>
          <a:xfrm>
            <a:off x="548640" y="5943600"/>
            <a:ext cx="11064240" cy="365760"/>
          </a:xfrm>
          <a:prstGeom prst="rect">
            <a:avLst/>
          </a:prstGeom>
          <a:noFill/>
        </p:spPr>
        <p:txBody>
          <a:bodyPr wrap="square" lIns="18288" rIns="18288" tIns="9144" bIns="9144" anchor="t">
            <a:spAutoFit/>
          </a:bodyPr>
          <a:lstStyle/>
          <a:p>
            <a:pPr algn="l">
              <a:lnSpc>
                <a:spcPct val="108000"/>
              </a:lnSpc>
              <a:spcAft>
                <a:spcPts val="400"/>
              </a:spcAft>
            </a:pPr>
            <a:r>
              <a:rPr sz="1300" b="0">
                <a:solidFill>
                  <a:srgbClr val="CC1757"/>
                </a:solidFill>
                <a:latin typeface="Segoe UI Semibold"/>
              </a:rPr>
              <a:t>Owner holds developer accounts, app IDs and signing keys. Recheck every rule at submission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PHASES, DEPENDENCIES AND EFFORT RANGES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Six phases, each with a gate to pass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§12 · effort ranges are planning ranges under stated assumptions, not dates or quotes</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13</a:t>
            </a:r>
          </a:p>
        </p:txBody>
      </p:sp>
      <p:sp>
        <p:nvSpPr>
          <p:cNvPr id="7" name="Rectangle 6"/>
          <p:cNvSpPr/>
          <p:nvPr/>
        </p:nvSpPr>
        <p:spPr>
          <a:xfrm>
            <a:off x="612647" y="1709928"/>
            <a:ext cx="1691640" cy="30632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1691640" cy="30632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1691640"/>
            <a:ext cx="914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0</a:t>
            </a:r>
          </a:p>
        </p:txBody>
      </p:sp>
      <p:sp>
        <p:nvSpPr>
          <p:cNvPr id="10" name="TextBox 9"/>
          <p:cNvSpPr txBox="1"/>
          <p:nvPr/>
        </p:nvSpPr>
        <p:spPr>
          <a:xfrm>
            <a:off x="658368" y="2331720"/>
            <a:ext cx="1508760" cy="68580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Backend release closure</a:t>
            </a:r>
          </a:p>
        </p:txBody>
      </p:sp>
      <p:sp>
        <p:nvSpPr>
          <p:cNvPr id="11" name="TextBox 10"/>
          <p:cNvSpPr txBox="1"/>
          <p:nvPr/>
        </p:nvSpPr>
        <p:spPr>
          <a:xfrm>
            <a:off x="658368" y="3017520"/>
            <a:ext cx="150876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1–3 wk</a:t>
            </a:r>
          </a:p>
        </p:txBody>
      </p:sp>
      <p:sp>
        <p:nvSpPr>
          <p:cNvPr id="12" name="TextBox 11"/>
          <p:cNvSpPr txBox="1"/>
          <p:nvPr/>
        </p:nvSpPr>
        <p:spPr>
          <a:xfrm>
            <a:off x="658368" y="3474720"/>
            <a:ext cx="1536192" cy="11887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Gates closed; staging + restore ready</a:t>
            </a:r>
          </a:p>
        </p:txBody>
      </p:sp>
      <p:cxnSp>
        <p:nvCxnSpPr>
          <p:cNvPr id="13" name="Connector 12"/>
          <p:cNvCxnSpPr/>
          <p:nvPr/>
        </p:nvCxnSpPr>
        <p:spPr>
          <a:xfrm>
            <a:off x="2240280" y="3154680"/>
            <a:ext cx="18288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487168" y="1709928"/>
            <a:ext cx="1691640" cy="30632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23160" y="1645920"/>
            <a:ext cx="1691640" cy="306324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32888" y="1691640"/>
            <a:ext cx="914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1</a:t>
            </a:r>
          </a:p>
        </p:txBody>
      </p:sp>
      <p:sp>
        <p:nvSpPr>
          <p:cNvPr id="17" name="TextBox 16"/>
          <p:cNvSpPr txBox="1"/>
          <p:nvPr/>
        </p:nvSpPr>
        <p:spPr>
          <a:xfrm>
            <a:off x="2532888" y="2331720"/>
            <a:ext cx="1508760" cy="68580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Native feasibility</a:t>
            </a:r>
          </a:p>
        </p:txBody>
      </p:sp>
      <p:sp>
        <p:nvSpPr>
          <p:cNvPr id="18" name="TextBox 17"/>
          <p:cNvSpPr txBox="1"/>
          <p:nvPr/>
        </p:nvSpPr>
        <p:spPr>
          <a:xfrm>
            <a:off x="2532888" y="3017520"/>
            <a:ext cx="150876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1–2 wk</a:t>
            </a:r>
          </a:p>
        </p:txBody>
      </p:sp>
      <p:sp>
        <p:nvSpPr>
          <p:cNvPr id="19" name="TextBox 18"/>
          <p:cNvSpPr txBox="1"/>
          <p:nvPr/>
        </p:nvSpPr>
        <p:spPr>
          <a:xfrm>
            <a:off x="2532888" y="3474720"/>
            <a:ext cx="1536192" cy="11887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Auth + stream + revoke on 2 devices</a:t>
            </a:r>
          </a:p>
        </p:txBody>
      </p:sp>
      <p:cxnSp>
        <p:nvCxnSpPr>
          <p:cNvPr id="20" name="Connector 19"/>
          <p:cNvCxnSpPr/>
          <p:nvPr/>
        </p:nvCxnSpPr>
        <p:spPr>
          <a:xfrm>
            <a:off x="4114800" y="3154680"/>
            <a:ext cx="182879"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361688" y="1709928"/>
            <a:ext cx="1691640" cy="30632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79" y="1645920"/>
            <a:ext cx="1691640" cy="30632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07407" y="1691640"/>
            <a:ext cx="914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2</a:t>
            </a:r>
          </a:p>
        </p:txBody>
      </p:sp>
      <p:sp>
        <p:nvSpPr>
          <p:cNvPr id="24" name="TextBox 23"/>
          <p:cNvSpPr txBox="1"/>
          <p:nvPr/>
        </p:nvSpPr>
        <p:spPr>
          <a:xfrm>
            <a:off x="4407407" y="2331720"/>
            <a:ext cx="1508760" cy="68580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API &amp; auth foundation</a:t>
            </a:r>
          </a:p>
        </p:txBody>
      </p:sp>
      <p:sp>
        <p:nvSpPr>
          <p:cNvPr id="25" name="TextBox 24"/>
          <p:cNvSpPr txBox="1"/>
          <p:nvPr/>
        </p:nvSpPr>
        <p:spPr>
          <a:xfrm>
            <a:off x="4407407" y="3017520"/>
            <a:ext cx="150876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2–4 wk</a:t>
            </a:r>
          </a:p>
        </p:txBody>
      </p:sp>
      <p:sp>
        <p:nvSpPr>
          <p:cNvPr id="26" name="TextBox 25"/>
          <p:cNvSpPr txBox="1"/>
          <p:nvPr/>
        </p:nvSpPr>
        <p:spPr>
          <a:xfrm>
            <a:off x="4407407" y="3474720"/>
            <a:ext cx="1536192" cy="11887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Security &amp; concurrency tests pass</a:t>
            </a:r>
          </a:p>
        </p:txBody>
      </p:sp>
      <p:cxnSp>
        <p:nvCxnSpPr>
          <p:cNvPr id="27" name="Connector 26"/>
          <p:cNvCxnSpPr/>
          <p:nvPr/>
        </p:nvCxnSpPr>
        <p:spPr>
          <a:xfrm>
            <a:off x="5989319" y="3154680"/>
            <a:ext cx="18288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236207" y="1709928"/>
            <a:ext cx="1691640" cy="30632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199" y="1645920"/>
            <a:ext cx="1691640" cy="30632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81927" y="1691640"/>
            <a:ext cx="914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3</a:t>
            </a:r>
          </a:p>
        </p:txBody>
      </p:sp>
      <p:sp>
        <p:nvSpPr>
          <p:cNvPr id="31" name="TextBox 30"/>
          <p:cNvSpPr txBox="1"/>
          <p:nvPr/>
        </p:nvSpPr>
        <p:spPr>
          <a:xfrm>
            <a:off x="6281927" y="2331720"/>
            <a:ext cx="1508760" cy="68580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Product MVP</a:t>
            </a:r>
          </a:p>
        </p:txBody>
      </p:sp>
      <p:sp>
        <p:nvSpPr>
          <p:cNvPr id="32" name="TextBox 31"/>
          <p:cNvSpPr txBox="1"/>
          <p:nvPr/>
        </p:nvSpPr>
        <p:spPr>
          <a:xfrm>
            <a:off x="6281927" y="3017520"/>
            <a:ext cx="150876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3–5 wk</a:t>
            </a:r>
          </a:p>
        </p:txBody>
      </p:sp>
      <p:sp>
        <p:nvSpPr>
          <p:cNvPr id="33" name="TextBox 32"/>
          <p:cNvSpPr txBox="1"/>
          <p:nvPr/>
        </p:nvSpPr>
        <p:spPr>
          <a:xfrm>
            <a:off x="6281927" y="3474720"/>
            <a:ext cx="1536192" cy="11887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All journeys on staging</a:t>
            </a:r>
          </a:p>
        </p:txBody>
      </p:sp>
      <p:cxnSp>
        <p:nvCxnSpPr>
          <p:cNvPr id="34" name="Connector 33"/>
          <p:cNvCxnSpPr/>
          <p:nvPr/>
        </p:nvCxnSpPr>
        <p:spPr>
          <a:xfrm>
            <a:off x="7863840" y="3154680"/>
            <a:ext cx="182879"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110727" y="1709928"/>
            <a:ext cx="1691640" cy="30632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19" y="1645920"/>
            <a:ext cx="1691640" cy="30632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156447" y="1691640"/>
            <a:ext cx="914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4</a:t>
            </a:r>
          </a:p>
        </p:txBody>
      </p:sp>
      <p:sp>
        <p:nvSpPr>
          <p:cNvPr id="38" name="TextBox 37"/>
          <p:cNvSpPr txBox="1"/>
          <p:nvPr/>
        </p:nvSpPr>
        <p:spPr>
          <a:xfrm>
            <a:off x="8156447" y="2331720"/>
            <a:ext cx="1508760" cy="68580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Release hardening</a:t>
            </a:r>
          </a:p>
        </p:txBody>
      </p:sp>
      <p:sp>
        <p:nvSpPr>
          <p:cNvPr id="39" name="TextBox 38"/>
          <p:cNvSpPr txBox="1"/>
          <p:nvPr/>
        </p:nvSpPr>
        <p:spPr>
          <a:xfrm>
            <a:off x="8156447" y="3017520"/>
            <a:ext cx="150876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2–3 wk</a:t>
            </a:r>
          </a:p>
        </p:txBody>
      </p:sp>
      <p:sp>
        <p:nvSpPr>
          <p:cNvPr id="40" name="TextBox 39"/>
          <p:cNvSpPr txBox="1"/>
          <p:nvPr/>
        </p:nvSpPr>
        <p:spPr>
          <a:xfrm>
            <a:off x="8156447" y="3474720"/>
            <a:ext cx="1536192" cy="11887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No high-severity defects; signed build</a:t>
            </a:r>
          </a:p>
        </p:txBody>
      </p:sp>
      <p:cxnSp>
        <p:nvCxnSpPr>
          <p:cNvPr id="41" name="Connector 40"/>
          <p:cNvCxnSpPr/>
          <p:nvPr/>
        </p:nvCxnSpPr>
        <p:spPr>
          <a:xfrm>
            <a:off x="9738359" y="3154680"/>
            <a:ext cx="182880" cy="0"/>
          </a:xfrm>
          <a:prstGeom prst="line">
            <a:avLst/>
          </a:prstGeom>
          <a:ln w="25400">
            <a:solidFill>
              <a:srgbClr val="1517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9985248" y="1709928"/>
            <a:ext cx="1691640" cy="306324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21240" y="1645920"/>
            <a:ext cx="1691640" cy="306324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30967" y="1691640"/>
            <a:ext cx="914400" cy="6400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CC1757"/>
                </a:solidFill>
                <a:latin typeface="Arial Black"/>
              </a:rPr>
              <a:t>5</a:t>
            </a:r>
          </a:p>
        </p:txBody>
      </p:sp>
      <p:sp>
        <p:nvSpPr>
          <p:cNvPr id="45" name="TextBox 44"/>
          <p:cNvSpPr txBox="1"/>
          <p:nvPr/>
        </p:nvSpPr>
        <p:spPr>
          <a:xfrm>
            <a:off x="10030967" y="2331720"/>
            <a:ext cx="1508760" cy="68580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Beta &amp; stores</a:t>
            </a:r>
          </a:p>
        </p:txBody>
      </p:sp>
      <p:sp>
        <p:nvSpPr>
          <p:cNvPr id="46" name="TextBox 45"/>
          <p:cNvSpPr txBox="1"/>
          <p:nvPr/>
        </p:nvSpPr>
        <p:spPr>
          <a:xfrm>
            <a:off x="10030967" y="3017520"/>
            <a:ext cx="1508760" cy="365760"/>
          </a:xfrm>
          <a:prstGeom prst="rect">
            <a:avLst/>
          </a:prstGeom>
          <a:noFill/>
        </p:spPr>
        <p:txBody>
          <a:bodyPr wrap="square" lIns="18288" rIns="18288" tIns="9144" bIns="9144" anchor="t">
            <a:spAutoFit/>
          </a:bodyPr>
          <a:lstStyle/>
          <a:p>
            <a:pPr algn="l">
              <a:lnSpc>
                <a:spcPct val="108000"/>
              </a:lnSpc>
              <a:spcAft>
                <a:spcPts val="400"/>
              </a:spcAft>
            </a:pPr>
            <a:r>
              <a:rPr sz="1700" b="0">
                <a:solidFill>
                  <a:srgbClr val="151714"/>
                </a:solidFill>
                <a:latin typeface="Arial Black"/>
              </a:rPr>
              <a:t>2–4+ wk</a:t>
            </a:r>
          </a:p>
        </p:txBody>
      </p:sp>
      <p:sp>
        <p:nvSpPr>
          <p:cNvPr id="47" name="TextBox 46"/>
          <p:cNvSpPr txBox="1"/>
          <p:nvPr/>
        </p:nvSpPr>
        <p:spPr>
          <a:xfrm>
            <a:off x="10030967" y="3474720"/>
            <a:ext cx="1536192" cy="1188720"/>
          </a:xfrm>
          <a:prstGeom prst="rect">
            <a:avLst/>
          </a:prstGeom>
          <a:noFill/>
        </p:spPr>
        <p:txBody>
          <a:bodyPr wrap="square" lIns="18288" rIns="18288" tIns="9144" bIns="9144" anchor="t">
            <a:spAutoFit/>
          </a:bodyPr>
          <a:lstStyle/>
          <a:p>
            <a:pPr algn="l">
              <a:lnSpc>
                <a:spcPct val="108000"/>
              </a:lnSpc>
              <a:spcAft>
                <a:spcPts val="400"/>
              </a:spcAft>
            </a:pPr>
            <a:r>
              <a:rPr sz="1200" b="0">
                <a:solidFill>
                  <a:srgbClr val="43483F"/>
                </a:solidFill>
                <a:latin typeface="Segoe UI"/>
              </a:rPr>
              <a:t>Store rules met; owner decides</a:t>
            </a:r>
          </a:p>
        </p:txBody>
      </p:sp>
      <p:sp>
        <p:nvSpPr>
          <p:cNvPr id="48" name="Rectangle 47"/>
          <p:cNvSpPr/>
          <p:nvPr/>
        </p:nvSpPr>
        <p:spPr>
          <a:xfrm>
            <a:off x="548640" y="4937760"/>
            <a:ext cx="11100816" cy="1188720"/>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31520" y="5001768"/>
            <a:ext cx="10789920" cy="1097280"/>
          </a:xfrm>
          <a:prstGeom prst="rect">
            <a:avLst/>
          </a:prstGeom>
          <a:noFill/>
        </p:spPr>
        <p:txBody>
          <a:bodyPr wrap="square" lIns="18288" rIns="18288" tIns="9144" bIns="9144" anchor="t">
            <a:spAutoFit/>
          </a:bodyPr>
          <a:lstStyle/>
          <a:p>
            <a:pPr algn="l">
              <a:lnSpc>
                <a:spcPct val="108000"/>
              </a:lnSpc>
              <a:spcAft>
                <a:spcPts val="400"/>
              </a:spcAft>
            </a:pPr>
            <a:r>
              <a:rPr sz="1350" b="0">
                <a:solidFill>
                  <a:srgbClr val="151714"/>
                </a:solidFill>
                <a:latin typeface="Segoe UI Semibold"/>
              </a:rPr>
              <a:t>Roughly 12–18 calendar weeks </a:t>
            </a:r>
            <a:r>
              <a:rPr sz="1350" b="0">
                <a:solidFill>
                  <a:srgbClr val="151714"/>
                </a:solidFill>
                <a:latin typeface="Segoe UI"/>
              </a:rPr>
              <a:t>with one full-time React Native engineer, half-time backend, part-time design and QA; </a:t>
            </a:r>
            <a:r>
              <a:rPr sz="1350" b="0">
                <a:solidFill>
                  <a:srgbClr val="151714"/>
                </a:solidFill>
                <a:latin typeface="Segoe UI Semibold"/>
              </a:rPr>
              <a:t>16–24+ weeks </a:t>
            </a:r>
            <a:r>
              <a:rPr sz="1350" b="0">
                <a:solidFill>
                  <a:srgbClr val="151714"/>
                </a:solidFill>
                <a:latin typeface="Segoe UI"/>
              </a:rPr>
              <a:t>if one engineer does everything.</a:t>
            </a:r>
          </a:p>
          <a:p>
            <a:pPr algn="l">
              <a:lnSpc>
                <a:spcPct val="108000"/>
              </a:lnSpc>
              <a:spcAft>
                <a:spcPts val="400"/>
              </a:spcAft>
            </a:pPr>
            <a:r>
              <a:rPr sz="1350" b="0">
                <a:solidFill>
                  <a:srgbClr val="151714"/>
                </a:solidFill>
                <a:latin typeface="Segoe UI"/>
              </a:rPr>
              <a:t>Assumptions, not a schedule: English phone UI, no payments, push, voice or integrations. Re-estimate after Phase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RISKS AND RELEASE GATES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Biggest risks and the gates that contain them</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§12–14 · docs/launch-rehearsal-2026-09-14.md · docs/quality-evidence-2026-09-15.md</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14</a:t>
            </a:r>
          </a:p>
        </p:txBody>
      </p:sp>
      <p:graphicFrame>
        <p:nvGraphicFramePr>
          <p:cNvPr id="7" name="Table 6"/>
          <p:cNvGraphicFramePr>
            <a:graphicFrameLocks noGrp="1"/>
          </p:cNvGraphicFramePr>
          <p:nvPr/>
        </p:nvGraphicFramePr>
        <p:xfrm>
          <a:off x="548640" y="1600200"/>
          <a:ext cx="6949440" cy="3968496"/>
        </p:xfrm>
        <a:graphic>
          <a:graphicData uri="http://schemas.openxmlformats.org/drawingml/2006/table">
            <a:tbl>
              <a:tblPr firstRow="1" bandRow="1">
                <a:tableStyleId>{5940675A-B579-460E-94D1-54222C63F5DA}</a:tableStyleId>
              </a:tblPr>
              <a:tblGrid>
                <a:gridCol w="1737360"/>
                <a:gridCol w="2286000"/>
                <a:gridCol w="2926080"/>
              </a:tblGrid>
              <a:tr h="566928">
                <a:tc>
                  <a:txBody>
                    <a:bodyPr wrap="square"/>
                    <a:lstStyle/>
                    <a:p>
                      <a:r>
                        <a:rPr sz="1250">
                          <a:solidFill>
                            <a:srgbClr val="151714"/>
                          </a:solidFill>
                          <a:latin typeface="Segoe UI Semibold"/>
                        </a:rPr>
                        <a:t>Risk</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What could go wrong</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Containment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566928">
                <a:tc>
                  <a:txBody>
                    <a:bodyPr wrap="square"/>
                    <a:lstStyle/>
                    <a:p>
                      <a:r>
                        <a:rPr sz="1250">
                          <a:solidFill>
                            <a:srgbClr val="151714"/>
                          </a:solidFill>
                          <a:latin typeface="Segoe UI Semibold"/>
                        </a:rPr>
                        <a:t>Auth concurrency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Token rotation races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Same DB locking + PostgreSQL race tests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66928">
                <a:tc>
                  <a:txBody>
                    <a:bodyPr wrap="square"/>
                    <a:lstStyle/>
                    <a:p>
                      <a:r>
                        <a:rPr sz="1250">
                          <a:solidFill>
                            <a:srgbClr val="151714"/>
                          </a:solidFill>
                          <a:latin typeface="Segoe UI Semibold"/>
                        </a:rPr>
                        <a:t>Suspended streams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Lost or doubled turns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Device prototype · reconcile · never resend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66928">
                <a:tc>
                  <a:txBody>
                    <a:bodyPr wrap="square"/>
                    <a:lstStyle/>
                    <a:p>
                      <a:r>
                        <a:rPr sz="1250">
                          <a:solidFill>
                            <a:srgbClr val="151714"/>
                          </a:solidFill>
                          <a:latin typeface="Segoe UI Semibold"/>
                        </a:rPr>
                        <a:t>Memory boundaries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Leaks across devices or accounts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Provider-input test in milestone 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66928">
                <a:tc>
                  <a:txBody>
                    <a:bodyPr wrap="square"/>
                    <a:lstStyle/>
                    <a:p>
                      <a:r>
                        <a:rPr sz="1250">
                          <a:solidFill>
                            <a:srgbClr val="151714"/>
                          </a:solidFill>
                          <a:latin typeface="Segoe UI Semibold"/>
                        </a:rPr>
                        <a:t>Shared quota</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Free tier exhausted by phones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Measure demand before promising users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66928">
                <a:tc>
                  <a:txBody>
                    <a:bodyPr wrap="square"/>
                    <a:lstStyle/>
                    <a:p>
                      <a:r>
                        <a:rPr sz="1250">
                          <a:solidFill>
                            <a:srgbClr val="151714"/>
                          </a:solidFill>
                          <a:latin typeface="Segoe UI Semibold"/>
                        </a:rPr>
                        <a:t>Store rules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AI consent, reporting, deletion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Built into MVP scope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66928">
                <a:tc>
                  <a:txBody>
                    <a:bodyPr wrap="square"/>
                    <a:lstStyle/>
                    <a:p>
                      <a:r>
                        <a:rPr sz="1250">
                          <a:solidFill>
                            <a:srgbClr val="151714"/>
                          </a:solidFill>
                          <a:latin typeface="Segoe UI Semibold"/>
                        </a:rPr>
                        <a:t>Asset rights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No licence inventory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Owner assembles before submission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
        <p:nvSpPr>
          <p:cNvPr id="8" name="Rectangle 7"/>
          <p:cNvSpPr/>
          <p:nvPr/>
        </p:nvSpPr>
        <p:spPr>
          <a:xfrm>
            <a:off x="7836408" y="1664208"/>
            <a:ext cx="388620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600200"/>
            <a:ext cx="388620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772400" y="1600200"/>
            <a:ext cx="3886200" cy="420624"/>
          </a:xfrm>
          <a:prstGeom prst="rect">
            <a:avLst/>
          </a:prstGeom>
          <a:solidFill>
            <a:srgbClr val="FFD6E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00416" y="1655064"/>
            <a:ext cx="363016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Release gates</a:t>
            </a:r>
          </a:p>
        </p:txBody>
      </p:sp>
      <p:sp>
        <p:nvSpPr>
          <p:cNvPr id="12" name="TextBox 11"/>
          <p:cNvSpPr txBox="1"/>
          <p:nvPr/>
        </p:nvSpPr>
        <p:spPr>
          <a:xfrm>
            <a:off x="7918704" y="2130552"/>
            <a:ext cx="359359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Web gates closed and fixes committed</a:t>
            </a:r>
          </a:p>
          <a:p>
            <a:pPr algn="l" marL="219456" indent="-182880">
              <a:lnSpc>
                <a:spcPct val="108000"/>
              </a:lnSpc>
              <a:spcAft>
                <a:spcPts val="400"/>
              </a:spcAft>
              <a:buFont typeface="Arial"/>
              <a:buChar char="•"/>
            </a:pPr>
            <a:r>
              <a:rPr sz="1350" b="0">
                <a:solidFill>
                  <a:srgbClr val="151714"/>
                </a:solidFill>
                <a:latin typeface="Segoe UI"/>
              </a:rPr>
              <a:t>Feasibility passed on 2 platforms</a:t>
            </a:r>
          </a:p>
          <a:p>
            <a:pPr algn="l" marL="219456" indent="-182880">
              <a:lnSpc>
                <a:spcPct val="108000"/>
              </a:lnSpc>
              <a:spcAft>
                <a:spcPts val="400"/>
              </a:spcAft>
              <a:buFont typeface="Arial"/>
              <a:buChar char="•"/>
            </a:pPr>
            <a:r>
              <a:rPr sz="1350" b="0">
                <a:solidFill>
                  <a:srgbClr val="151714"/>
                </a:solidFill>
                <a:latin typeface="Segoe UI"/>
              </a:rPr>
              <a:t>Auth + operation contracts reviewed</a:t>
            </a:r>
          </a:p>
          <a:p>
            <a:pPr algn="l" marL="219456" indent="-182880">
              <a:lnSpc>
                <a:spcPct val="108000"/>
              </a:lnSpc>
              <a:spcAft>
                <a:spcPts val="400"/>
              </a:spcAft>
              <a:buFont typeface="Arial"/>
              <a:buChar char="•"/>
            </a:pPr>
            <a:r>
              <a:rPr sz="1350" b="0">
                <a:solidFill>
                  <a:srgbClr val="151714"/>
                </a:solidFill>
                <a:latin typeface="Segoe UI"/>
              </a:rPr>
              <a:t>Device, accessibility and security matrix on a signed build</a:t>
            </a:r>
          </a:p>
          <a:p>
            <a:pPr algn="l" marL="219456" indent="-182880">
              <a:lnSpc>
                <a:spcPct val="108000"/>
              </a:lnSpc>
              <a:spcAft>
                <a:spcPts val="400"/>
              </a:spcAft>
              <a:buFont typeface="Arial"/>
              <a:buChar char="•"/>
            </a:pPr>
            <a:r>
              <a:rPr sz="1350" b="0">
                <a:solidFill>
                  <a:srgbClr val="151714"/>
                </a:solidFill>
                <a:latin typeface="Segoe UI"/>
              </a:rPr>
              <a:t>Store forms, reports, deletion page live</a:t>
            </a:r>
          </a:p>
          <a:p>
            <a:pPr algn="l" marL="219456" indent="-182880">
              <a:lnSpc>
                <a:spcPct val="108000"/>
              </a:lnSpc>
              <a:spcAft>
                <a:spcPts val="400"/>
              </a:spcAft>
              <a:buFont typeface="Arial"/>
              <a:buChar char="•"/>
            </a:pPr>
            <a:r>
              <a:rPr sz="1350" b="0">
                <a:solidFill>
                  <a:srgbClr val="151714"/>
                </a:solidFill>
                <a:latin typeface="Segoe UI"/>
              </a:rPr>
              <a:t>Owner release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P0 · P1 · P2</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Prioritised backlog</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§13</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15</a:t>
            </a:r>
          </a:p>
        </p:txBody>
      </p:sp>
      <p:sp>
        <p:nvSpPr>
          <p:cNvPr id="7" name="Rectangle 6"/>
          <p:cNvSpPr/>
          <p:nvPr/>
        </p:nvSpPr>
        <p:spPr>
          <a:xfrm>
            <a:off x="612647" y="1664208"/>
            <a:ext cx="352044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52044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00200"/>
            <a:ext cx="3520440" cy="420624"/>
          </a:xfrm>
          <a:prstGeom prst="rect">
            <a:avLst/>
          </a:prstGeom>
          <a:solidFill>
            <a:srgbClr val="FF438A"/>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6656" y="1655064"/>
            <a:ext cx="3264408" cy="3291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P0 · before native accounts</a:t>
            </a:r>
          </a:p>
        </p:txBody>
      </p:sp>
      <p:sp>
        <p:nvSpPr>
          <p:cNvPr id="11" name="TextBox 10"/>
          <p:cNvSpPr txBox="1"/>
          <p:nvPr/>
        </p:nvSpPr>
        <p:spPr>
          <a:xfrm>
            <a:off x="694944" y="2130552"/>
            <a:ext cx="322783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Staging proof of recovery and session fixes</a:t>
            </a:r>
          </a:p>
          <a:p>
            <a:pPr algn="l" marL="219456" indent="-182880">
              <a:lnSpc>
                <a:spcPct val="108000"/>
              </a:lnSpc>
              <a:spcAft>
                <a:spcPts val="400"/>
              </a:spcAft>
              <a:buFont typeface="Arial"/>
              <a:buChar char="•"/>
            </a:pPr>
            <a:r>
              <a:rPr sz="1350" b="0">
                <a:solidFill>
                  <a:srgbClr val="151714"/>
                </a:solidFill>
                <a:latin typeface="Segoe UI"/>
              </a:rPr>
              <a:t>Staging proof of memory-error and context bounds</a:t>
            </a:r>
          </a:p>
          <a:p>
            <a:pPr algn="l" marL="219456" indent="-182880">
              <a:lnSpc>
                <a:spcPct val="108000"/>
              </a:lnSpc>
              <a:spcAft>
                <a:spcPts val="400"/>
              </a:spcAft>
              <a:buFont typeface="Arial"/>
              <a:buChar char="•"/>
            </a:pPr>
            <a:r>
              <a:rPr sz="1350" b="0">
                <a:solidFill>
                  <a:srgbClr val="151714"/>
                </a:solidFill>
                <a:latin typeface="Segoe UI"/>
              </a:rPr>
              <a:t>API versioning + token threat model</a:t>
            </a:r>
          </a:p>
          <a:p>
            <a:pPr algn="l" marL="219456" indent="-182880">
              <a:lnSpc>
                <a:spcPct val="108000"/>
              </a:lnSpc>
              <a:spcAft>
                <a:spcPts val="400"/>
              </a:spcAft>
              <a:buFont typeface="Arial"/>
              <a:buChar char="•"/>
            </a:pPr>
            <a:r>
              <a:rPr sz="1350" b="0">
                <a:solidFill>
                  <a:srgbClr val="151714"/>
                </a:solidFill>
                <a:latin typeface="Segoe UI"/>
              </a:rPr>
              <a:t>Idempotency and durable turns</a:t>
            </a:r>
          </a:p>
          <a:p>
            <a:pPr algn="l" marL="219456" indent="-182880">
              <a:lnSpc>
                <a:spcPct val="108000"/>
              </a:lnSpc>
              <a:spcAft>
                <a:spcPts val="400"/>
              </a:spcAft>
              <a:buFont typeface="Arial"/>
              <a:buChar char="•"/>
            </a:pPr>
            <a:r>
              <a:rPr sz="1350" b="0">
                <a:solidFill>
                  <a:srgbClr val="151714"/>
                </a:solidFill>
                <a:latin typeface="Segoe UI"/>
              </a:rPr>
              <a:t>Device spike: auth, stream, revoke</a:t>
            </a:r>
          </a:p>
        </p:txBody>
      </p:sp>
      <p:sp>
        <p:nvSpPr>
          <p:cNvPr id="12" name="Rectangle 11"/>
          <p:cNvSpPr/>
          <p:nvPr/>
        </p:nvSpPr>
        <p:spPr>
          <a:xfrm>
            <a:off x="4361688" y="1664208"/>
            <a:ext cx="352044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600200"/>
            <a:ext cx="352044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297679" y="1600200"/>
            <a:ext cx="3520440" cy="420624"/>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25695" y="1655064"/>
            <a:ext cx="3264408" cy="3291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P1 · MVP and stores</a:t>
            </a:r>
          </a:p>
        </p:txBody>
      </p:sp>
      <p:sp>
        <p:nvSpPr>
          <p:cNvPr id="16" name="TextBox 15"/>
          <p:cNvSpPr txBox="1"/>
          <p:nvPr/>
        </p:nvSpPr>
        <p:spPr>
          <a:xfrm>
            <a:off x="4443983" y="2130552"/>
            <a:ext cx="322783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Native shell, chat, history</a:t>
            </a:r>
          </a:p>
          <a:p>
            <a:pPr algn="l" marL="219456" indent="-182880">
              <a:lnSpc>
                <a:spcPct val="108000"/>
              </a:lnSpc>
              <a:spcAft>
                <a:spcPts val="400"/>
              </a:spcAft>
              <a:buFont typeface="Arial"/>
              <a:buChar char="•"/>
            </a:pPr>
            <a:r>
              <a:rPr sz="1350" b="0">
                <a:solidFill>
                  <a:srgbClr val="151714"/>
                </a:solidFill>
                <a:latin typeface="Segoe UI"/>
              </a:rPr>
              <a:t>Memory, goals, Today, account</a:t>
            </a:r>
          </a:p>
          <a:p>
            <a:pPr algn="l" marL="219456" indent="-182880">
              <a:lnSpc>
                <a:spcPct val="108000"/>
              </a:lnSpc>
              <a:spcAft>
                <a:spcPts val="400"/>
              </a:spcAft>
              <a:buFont typeface="Arial"/>
              <a:buChar char="•"/>
            </a:pPr>
            <a:r>
              <a:rPr sz="1350" b="0">
                <a:solidFill>
                  <a:srgbClr val="151714"/>
                </a:solidFill>
                <a:latin typeface="Segoe UI"/>
              </a:rPr>
              <a:t>AI-sharing consent; export, deletion, purge</a:t>
            </a:r>
          </a:p>
          <a:p>
            <a:pPr algn="l" marL="219456" indent="-182880">
              <a:lnSpc>
                <a:spcPct val="108000"/>
              </a:lnSpc>
              <a:spcAft>
                <a:spcPts val="400"/>
              </a:spcAft>
              <a:buFont typeface="Arial"/>
              <a:buChar char="•"/>
            </a:pPr>
            <a:r>
              <a:rPr sz="1350" b="0">
                <a:solidFill>
                  <a:srgbClr val="151714"/>
                </a:solidFill>
                <a:latin typeface="Segoe UI"/>
              </a:rPr>
              <a:t>AI reports + triage; web deletion page</a:t>
            </a:r>
          </a:p>
          <a:p>
            <a:pPr algn="l" marL="219456" indent="-182880">
              <a:lnSpc>
                <a:spcPct val="108000"/>
              </a:lnSpc>
              <a:spcAft>
                <a:spcPts val="400"/>
              </a:spcAft>
              <a:buFont typeface="Arial"/>
              <a:buChar char="•"/>
            </a:pPr>
            <a:r>
              <a:rPr sz="1350" b="0">
                <a:solidFill>
                  <a:srgbClr val="151714"/>
                </a:solidFill>
                <a:latin typeface="Segoe UI"/>
              </a:rPr>
              <a:t>Device/security tests; signed builds</a:t>
            </a:r>
          </a:p>
          <a:p>
            <a:pPr algn="l" marL="219456" indent="-182880">
              <a:lnSpc>
                <a:spcPct val="108000"/>
              </a:lnSpc>
              <a:spcAft>
                <a:spcPts val="400"/>
              </a:spcAft>
              <a:buFont typeface="Arial"/>
              <a:buChar char="•"/>
            </a:pPr>
            <a:r>
              <a:rPr sz="1350" b="0">
                <a:solidFill>
                  <a:srgbClr val="151714"/>
                </a:solidFill>
                <a:latin typeface="Segoe UI"/>
              </a:rPr>
              <a:t>Store forms, beta, rollout</a:t>
            </a:r>
          </a:p>
        </p:txBody>
      </p:sp>
      <p:sp>
        <p:nvSpPr>
          <p:cNvPr id="17" name="Rectangle 16"/>
          <p:cNvSpPr/>
          <p:nvPr/>
        </p:nvSpPr>
        <p:spPr>
          <a:xfrm>
            <a:off x="8110727" y="1664208"/>
            <a:ext cx="3520440" cy="452628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19" y="1600200"/>
            <a:ext cx="3520440" cy="452628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6719" y="1600200"/>
            <a:ext cx="3520440" cy="420624"/>
          </a:xfrm>
          <a:prstGeom prst="rect">
            <a:avLst/>
          </a:prstGeom>
          <a:solidFill>
            <a:srgbClr val="FDF0CD"/>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74736" y="1655064"/>
            <a:ext cx="3264408" cy="329184"/>
          </a:xfrm>
          <a:prstGeom prst="rect">
            <a:avLst/>
          </a:prstGeom>
          <a:noFill/>
        </p:spPr>
        <p:txBody>
          <a:bodyPr wrap="square" lIns="18288" rIns="18288" tIns="9144" bIns="9144" anchor="ctr">
            <a:spAutoFit/>
          </a:bodyPr>
          <a:lstStyle/>
          <a:p>
            <a:pPr algn="l">
              <a:lnSpc>
                <a:spcPct val="108000"/>
              </a:lnSpc>
              <a:spcAft>
                <a:spcPts val="400"/>
              </a:spcAft>
            </a:pPr>
            <a:r>
              <a:rPr sz="1350" b="0">
                <a:solidFill>
                  <a:srgbClr val="151714"/>
                </a:solidFill>
                <a:latin typeface="Arial Black"/>
              </a:rPr>
              <a:t>P2 · after demand</a:t>
            </a:r>
          </a:p>
        </p:txBody>
      </p:sp>
      <p:sp>
        <p:nvSpPr>
          <p:cNvPr id="21" name="TextBox 20"/>
          <p:cNvSpPr txBox="1"/>
          <p:nvPr/>
        </p:nvSpPr>
        <p:spPr>
          <a:xfrm>
            <a:off x="8193023" y="2130552"/>
            <a:ext cx="3227832" cy="390448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Push and background completion</a:t>
            </a:r>
          </a:p>
          <a:p>
            <a:pPr algn="l" marL="219456" indent="-182880">
              <a:lnSpc>
                <a:spcPct val="108000"/>
              </a:lnSpc>
              <a:spcAft>
                <a:spcPts val="400"/>
              </a:spcAft>
              <a:buFont typeface="Arial"/>
              <a:buChar char="•"/>
            </a:pPr>
            <a:r>
              <a:rPr sz="1350" b="0">
                <a:solidFill>
                  <a:srgbClr val="151714"/>
                </a:solidFill>
                <a:latin typeface="Segoe UI"/>
              </a:rPr>
              <a:t>Biometric lock, tablets</a:t>
            </a:r>
          </a:p>
          <a:p>
            <a:pPr algn="l" marL="219456" indent="-182880">
              <a:lnSpc>
                <a:spcPct val="108000"/>
              </a:lnSpc>
              <a:spcAft>
                <a:spcPts val="400"/>
              </a:spcAft>
              <a:buFont typeface="Arial"/>
              <a:buChar char="•"/>
            </a:pPr>
            <a:r>
              <a:rPr sz="1350" b="0">
                <a:solidFill>
                  <a:srgbClr val="151714"/>
                </a:solidFill>
                <a:latin typeface="Segoe UI"/>
              </a:rPr>
              <a:t>Localisation and RTL</a:t>
            </a:r>
          </a:p>
          <a:p>
            <a:pPr algn="l" marL="219456" indent="-182880">
              <a:lnSpc>
                <a:spcPct val="108000"/>
              </a:lnSpc>
              <a:spcAft>
                <a:spcPts val="400"/>
              </a:spcAft>
              <a:buFont typeface="Arial"/>
              <a:buChar char="•"/>
            </a:pPr>
            <a:r>
              <a:rPr sz="1350" b="0">
                <a:solidFill>
                  <a:srgbClr val="151714"/>
                </a:solidFill>
                <a:latin typeface="Segoe UI"/>
              </a:rPr>
              <a:t>Widgets, attachments, voice</a:t>
            </a:r>
          </a:p>
          <a:p>
            <a:pPr algn="l" marL="219456" indent="-182880">
              <a:lnSpc>
                <a:spcPct val="108000"/>
              </a:lnSpc>
              <a:spcAft>
                <a:spcPts val="400"/>
              </a:spcAft>
              <a:buFont typeface="Arial"/>
              <a:buChar char="•"/>
            </a:pPr>
            <a:r>
              <a:rPr sz="1350" b="0">
                <a:solidFill>
                  <a:srgbClr val="151714"/>
                </a:solidFill>
                <a:latin typeface="Segoe UI"/>
              </a:rPr>
              <a:t>Ask My Team, payments — separate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START SMALL, PROVE THE RISKY PARTS</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Recommended first milestone</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§14</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16</a:t>
            </a:r>
          </a:p>
        </p:txBody>
      </p:sp>
      <p:sp>
        <p:nvSpPr>
          <p:cNvPr id="7" name="Rectangle 6"/>
          <p:cNvSpPr/>
          <p:nvPr/>
        </p:nvSpPr>
        <p:spPr>
          <a:xfrm>
            <a:off x="612647" y="1709928"/>
            <a:ext cx="6309360" cy="50292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6309360" cy="5029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645920"/>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1</a:t>
            </a:r>
          </a:p>
        </p:txBody>
      </p:sp>
      <p:sp>
        <p:nvSpPr>
          <p:cNvPr id="10" name="TextBox 9"/>
          <p:cNvSpPr txBox="1"/>
          <p:nvPr/>
        </p:nvSpPr>
        <p:spPr>
          <a:xfrm>
            <a:off x="1188720" y="1645920"/>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Sign in to a synthetic staging account</a:t>
            </a:r>
          </a:p>
        </p:txBody>
      </p:sp>
      <p:sp>
        <p:nvSpPr>
          <p:cNvPr id="11" name="Rectangle 10"/>
          <p:cNvSpPr/>
          <p:nvPr/>
        </p:nvSpPr>
        <p:spPr>
          <a:xfrm>
            <a:off x="548640" y="2267712"/>
            <a:ext cx="6309360" cy="5029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2267712"/>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2</a:t>
            </a:r>
          </a:p>
        </p:txBody>
      </p:sp>
      <p:sp>
        <p:nvSpPr>
          <p:cNvPr id="13" name="TextBox 12"/>
          <p:cNvSpPr txBox="1"/>
          <p:nvPr/>
        </p:nvSpPr>
        <p:spPr>
          <a:xfrm>
            <a:off x="1188720" y="2267712"/>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Stream one Modeer reply</a:t>
            </a:r>
          </a:p>
        </p:txBody>
      </p:sp>
      <p:sp>
        <p:nvSpPr>
          <p:cNvPr id="14" name="Rectangle 13"/>
          <p:cNvSpPr/>
          <p:nvPr/>
        </p:nvSpPr>
        <p:spPr>
          <a:xfrm>
            <a:off x="548640" y="2889504"/>
            <a:ext cx="6309360" cy="50292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5800" y="2889504"/>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3</a:t>
            </a:r>
          </a:p>
        </p:txBody>
      </p:sp>
      <p:sp>
        <p:nvSpPr>
          <p:cNvPr id="16" name="TextBox 15"/>
          <p:cNvSpPr txBox="1"/>
          <p:nvPr/>
        </p:nvSpPr>
        <p:spPr>
          <a:xfrm>
            <a:off x="1188720" y="2889504"/>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Drop the connection mid-reply</a:t>
            </a:r>
          </a:p>
        </p:txBody>
      </p:sp>
      <p:sp>
        <p:nvSpPr>
          <p:cNvPr id="17" name="Rectangle 16"/>
          <p:cNvSpPr/>
          <p:nvPr/>
        </p:nvSpPr>
        <p:spPr>
          <a:xfrm>
            <a:off x="548640" y="3511296"/>
            <a:ext cx="6309360" cy="5029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511296"/>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4</a:t>
            </a:r>
          </a:p>
        </p:txBody>
      </p:sp>
      <p:sp>
        <p:nvSpPr>
          <p:cNvPr id="19" name="TextBox 18"/>
          <p:cNvSpPr txBox="1"/>
          <p:nvPr/>
        </p:nvSpPr>
        <p:spPr>
          <a:xfrm>
            <a:off x="1188720" y="3511296"/>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Reload the stored partial result</a:t>
            </a:r>
          </a:p>
        </p:txBody>
      </p:sp>
      <p:sp>
        <p:nvSpPr>
          <p:cNvPr id="20" name="Rectangle 19"/>
          <p:cNvSpPr/>
          <p:nvPr/>
        </p:nvSpPr>
        <p:spPr>
          <a:xfrm>
            <a:off x="548640" y="4133088"/>
            <a:ext cx="6309360" cy="502920"/>
          </a:xfrm>
          <a:prstGeom prst="rect">
            <a:avLst/>
          </a:prstGeom>
          <a:solidFill>
            <a:srgbClr val="FFDA45"/>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 y="4133088"/>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5</a:t>
            </a:r>
          </a:p>
        </p:txBody>
      </p:sp>
      <p:sp>
        <p:nvSpPr>
          <p:cNvPr id="22" name="TextBox 21"/>
          <p:cNvSpPr txBox="1"/>
          <p:nvPr/>
        </p:nvSpPr>
        <p:spPr>
          <a:xfrm>
            <a:off x="1188720" y="4133088"/>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Try again — no duplicate spend</a:t>
            </a:r>
          </a:p>
        </p:txBody>
      </p:sp>
      <p:sp>
        <p:nvSpPr>
          <p:cNvPr id="23" name="Rectangle 22"/>
          <p:cNvSpPr/>
          <p:nvPr/>
        </p:nvSpPr>
        <p:spPr>
          <a:xfrm>
            <a:off x="548640" y="4754880"/>
            <a:ext cx="6309360" cy="5029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4754880"/>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6</a:t>
            </a:r>
          </a:p>
        </p:txBody>
      </p:sp>
      <p:sp>
        <p:nvSpPr>
          <p:cNvPr id="25" name="TextBox 24"/>
          <p:cNvSpPr txBox="1"/>
          <p:nvPr/>
        </p:nvSpPr>
        <p:spPr>
          <a:xfrm>
            <a:off x="1188720" y="4754880"/>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Sign out everywhere → session rejected</a:t>
            </a:r>
          </a:p>
        </p:txBody>
      </p:sp>
      <p:sp>
        <p:nvSpPr>
          <p:cNvPr id="26" name="Rectangle 25"/>
          <p:cNvSpPr/>
          <p:nvPr/>
        </p:nvSpPr>
        <p:spPr>
          <a:xfrm>
            <a:off x="548640" y="5376672"/>
            <a:ext cx="6309360" cy="50292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5800" y="5376672"/>
            <a:ext cx="457200" cy="502920"/>
          </a:xfrm>
          <a:prstGeom prst="rect">
            <a:avLst/>
          </a:prstGeom>
          <a:noFill/>
        </p:spPr>
        <p:txBody>
          <a:bodyPr wrap="square" lIns="18288" rIns="18288" tIns="9144" bIns="9144" anchor="ctr">
            <a:spAutoFit/>
          </a:bodyPr>
          <a:lstStyle/>
          <a:p>
            <a:pPr algn="l">
              <a:lnSpc>
                <a:spcPct val="108000"/>
              </a:lnSpc>
              <a:spcAft>
                <a:spcPts val="400"/>
              </a:spcAft>
            </a:pPr>
            <a:r>
              <a:rPr sz="1800" b="0">
                <a:solidFill>
                  <a:srgbClr val="CC1757"/>
                </a:solidFill>
                <a:latin typeface="Arial Black"/>
              </a:rPr>
              <a:t>7</a:t>
            </a:r>
          </a:p>
        </p:txBody>
      </p:sp>
      <p:sp>
        <p:nvSpPr>
          <p:cNvPr id="28" name="TextBox 27"/>
          <p:cNvSpPr txBox="1"/>
          <p:nvPr/>
        </p:nvSpPr>
        <p:spPr>
          <a:xfrm>
            <a:off x="1188720" y="5376672"/>
            <a:ext cx="5577840" cy="502920"/>
          </a:xfrm>
          <a:prstGeom prst="rect">
            <a:avLst/>
          </a:prstGeom>
          <a:noFill/>
        </p:spPr>
        <p:txBody>
          <a:bodyPr wrap="square" lIns="18288" rIns="18288" tIns="9144" bIns="9144" anchor="ctr">
            <a:spAutoFit/>
          </a:bodyPr>
          <a:lstStyle/>
          <a:p>
            <a:pPr algn="l">
              <a:lnSpc>
                <a:spcPct val="108000"/>
              </a:lnSpc>
              <a:spcAft>
                <a:spcPts val="400"/>
              </a:spcAft>
            </a:pPr>
            <a:r>
              <a:rPr sz="1500" b="0">
                <a:solidFill>
                  <a:srgbClr val="151714"/>
                </a:solidFill>
                <a:latin typeface="Segoe UI Semibold"/>
              </a:rPr>
              <a:t>Private notes absent at provider input</a:t>
            </a:r>
          </a:p>
        </p:txBody>
      </p:sp>
      <p:sp>
        <p:nvSpPr>
          <p:cNvPr id="29" name="Rectangle 28"/>
          <p:cNvSpPr/>
          <p:nvPr/>
        </p:nvSpPr>
        <p:spPr>
          <a:xfrm>
            <a:off x="7242048" y="1709928"/>
            <a:ext cx="4480560" cy="4480560"/>
          </a:xfrm>
          <a:prstGeom prst="rect">
            <a:avLst/>
          </a:prstGeom>
          <a:solidFill>
            <a:srgbClr val="15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78040" y="1645920"/>
            <a:ext cx="4480560" cy="4480560"/>
          </a:xfrm>
          <a:prstGeom prst="rect">
            <a:avLst/>
          </a:prstGeom>
          <a:solidFill>
            <a:srgbClr val="FFFCF2"/>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178040" y="1645920"/>
            <a:ext cx="4480560" cy="420624"/>
          </a:xfrm>
          <a:prstGeom prst="rect">
            <a:avLst/>
          </a:prstGeom>
          <a:solidFill>
            <a:srgbClr val="FF438A"/>
          </a:solidFill>
          <a:ln w="25400">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306055" y="1700784"/>
            <a:ext cx="4224528" cy="329184"/>
          </a:xfrm>
          <a:prstGeom prst="rect">
            <a:avLst/>
          </a:prstGeom>
          <a:noFill/>
        </p:spPr>
        <p:txBody>
          <a:bodyPr wrap="square" lIns="18288" rIns="18288" tIns="9144" bIns="9144" anchor="ctr">
            <a:spAutoFit/>
          </a:bodyPr>
          <a:lstStyle/>
          <a:p>
            <a:pPr algn="l">
              <a:lnSpc>
                <a:spcPct val="108000"/>
              </a:lnSpc>
              <a:spcAft>
                <a:spcPts val="400"/>
              </a:spcAft>
            </a:pPr>
            <a:r>
              <a:rPr sz="1400" b="0">
                <a:solidFill>
                  <a:srgbClr val="151714"/>
                </a:solidFill>
                <a:latin typeface="Arial Black"/>
              </a:rPr>
              <a:t>Owner decisions</a:t>
            </a:r>
          </a:p>
        </p:txBody>
      </p:sp>
      <p:sp>
        <p:nvSpPr>
          <p:cNvPr id="33" name="TextBox 32"/>
          <p:cNvSpPr txBox="1"/>
          <p:nvPr/>
        </p:nvSpPr>
        <p:spPr>
          <a:xfrm>
            <a:off x="7324344" y="2176272"/>
            <a:ext cx="4187952" cy="3858768"/>
          </a:xfrm>
          <a:prstGeom prst="rect">
            <a:avLst/>
          </a:prstGeom>
          <a:noFill/>
        </p:spPr>
        <p:txBody>
          <a:bodyPr wrap="square" lIns="18288" rIns="18288" tIns="9144" bIns="9144" anchor="t">
            <a:spAutoFit/>
          </a:bodyPr>
          <a:lstStyle/>
          <a:p>
            <a:pPr algn="l" marL="219456" indent="-182880">
              <a:lnSpc>
                <a:spcPct val="108000"/>
              </a:lnSpc>
              <a:spcAft>
                <a:spcPts val="400"/>
              </a:spcAft>
              <a:buFont typeface="Arial"/>
              <a:buChar char="•"/>
            </a:pPr>
            <a:r>
              <a:rPr sz="1350" b="0">
                <a:solidFill>
                  <a:srgbClr val="151714"/>
                </a:solidFill>
                <a:latin typeface="Segoe UI"/>
              </a:rPr>
              <a:t>Team skills and staffing</a:t>
            </a:r>
          </a:p>
          <a:p>
            <a:pPr algn="l" marL="219456" indent="-182880">
              <a:lnSpc>
                <a:spcPct val="108000"/>
              </a:lnSpc>
              <a:spcAft>
                <a:spcPts val="400"/>
              </a:spcAft>
              <a:buFont typeface="Arial"/>
              <a:buChar char="•"/>
            </a:pPr>
            <a:r>
              <a:rPr sz="1350" b="0">
                <a:solidFill>
                  <a:srgbClr val="151714"/>
                </a:solidFill>
                <a:latin typeface="Segoe UI"/>
              </a:rPr>
              <a:t>Account mode and support policy</a:t>
            </a:r>
          </a:p>
          <a:p>
            <a:pPr algn="l" marL="219456" indent="-182880">
              <a:lnSpc>
                <a:spcPct val="108000"/>
              </a:lnSpc>
              <a:spcAft>
                <a:spcPts val="400"/>
              </a:spcAft>
              <a:buFont typeface="Arial"/>
              <a:buChar char="•"/>
            </a:pPr>
            <a:r>
              <a:rPr sz="1350" b="0">
                <a:solidFill>
                  <a:srgbClr val="151714"/>
                </a:solidFill>
                <a:latin typeface="Segoe UI"/>
              </a:rPr>
              <a:t>AI-sharing consent wording</a:t>
            </a:r>
          </a:p>
          <a:p>
            <a:pPr algn="l" marL="219456" indent="-182880">
              <a:lnSpc>
                <a:spcPct val="108000"/>
              </a:lnSpc>
              <a:spcAft>
                <a:spcPts val="400"/>
              </a:spcAft>
              <a:buFont typeface="Arial"/>
              <a:buChar char="•"/>
            </a:pPr>
            <a:r>
              <a:rPr sz="1350" b="0">
                <a:solidFill>
                  <a:srgbClr val="151714"/>
                </a:solidFill>
                <a:latin typeface="Segoe UI"/>
              </a:rPr>
              <a:t>Countries, ages, languages, min OS</a:t>
            </a:r>
          </a:p>
          <a:p>
            <a:pPr algn="l" marL="219456" indent="-182880">
              <a:lnSpc>
                <a:spcPct val="108000"/>
              </a:lnSpc>
              <a:spcAft>
                <a:spcPts val="400"/>
              </a:spcAft>
              <a:buFont typeface="Arial"/>
              <a:buChar char="•"/>
            </a:pPr>
            <a:r>
              <a:rPr sz="1350" b="0">
                <a:solidFill>
                  <a:srgbClr val="151714"/>
                </a:solidFill>
                <a:latin typeface="Segoe UI"/>
              </a:rPr>
              <a:t>Developer accounts and signing keys</a:t>
            </a:r>
          </a:p>
          <a:p>
            <a:pPr algn="l" marL="219456" indent="-182880">
              <a:lnSpc>
                <a:spcPct val="108000"/>
              </a:lnSpc>
              <a:spcAft>
                <a:spcPts val="400"/>
              </a:spcAft>
              <a:buFont typeface="Arial"/>
              <a:buChar char="•"/>
            </a:pPr>
            <a:r>
              <a:rPr sz="1350" b="0">
                <a:solidFill>
                  <a:srgbClr val="151714"/>
                </a:solidFill>
                <a:latin typeface="Segoe UI"/>
              </a:rPr>
              <a:t>Cache retention; analytics or none</a:t>
            </a:r>
          </a:p>
          <a:p>
            <a:pPr algn="l" marL="219456" indent="-182880">
              <a:lnSpc>
                <a:spcPct val="108000"/>
              </a:lnSpc>
              <a:spcAft>
                <a:spcPts val="400"/>
              </a:spcAft>
              <a:buFont typeface="Arial"/>
              <a:buChar char="•"/>
            </a:pPr>
            <a:r>
              <a:rPr sz="1350" b="0">
                <a:solidFill>
                  <a:srgbClr val="151714"/>
                </a:solidFill>
                <a:latin typeface="Segoe UI"/>
              </a:rPr>
              <a:t>Artwork and font rights</a:t>
            </a:r>
          </a:p>
        </p:txBody>
      </p:sp>
      <p:sp>
        <p:nvSpPr>
          <p:cNvPr id="34" name="Rectangle 33"/>
          <p:cNvSpPr/>
          <p:nvPr/>
        </p:nvSpPr>
        <p:spPr>
          <a:xfrm>
            <a:off x="548640" y="6035040"/>
            <a:ext cx="2651760" cy="274320"/>
          </a:xfrm>
          <a:prstGeom prst="rect">
            <a:avLst/>
          </a:prstGeom>
          <a:solidFill>
            <a:srgbClr val="FFD6E5"/>
          </a:solidFill>
          <a:ln w="15875">
            <a:solidFill>
              <a:srgbClr val="151714"/>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1050" spc="60">
                <a:solidFill>
                  <a:srgbClr val="151714"/>
                </a:solidFill>
                <a:latin typeface="Segoe UI Semibold"/>
              </a:rPr>
              <a:t>PROPOSED · AFTER WEB GATES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A1 · Verification sources for time-sensitive claims</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Fetched 2026-09-15 via automated page retrieval · re-verify at implementation and submission</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17</a:t>
            </a:r>
          </a:p>
        </p:txBody>
      </p:sp>
      <p:graphicFrame>
        <p:nvGraphicFramePr>
          <p:cNvPr id="7" name="Table 6"/>
          <p:cNvGraphicFramePr>
            <a:graphicFrameLocks noGrp="1"/>
          </p:cNvGraphicFramePr>
          <p:nvPr/>
        </p:nvGraphicFramePr>
        <p:xfrm>
          <a:off x="548640" y="1554480"/>
          <a:ext cx="11100815" cy="4626864"/>
        </p:xfrm>
        <a:graphic>
          <a:graphicData uri="http://schemas.openxmlformats.org/drawingml/2006/table">
            <a:tbl>
              <a:tblPr firstRow="1" bandRow="1">
                <a:tableStyleId>{5940675A-B579-460E-94D1-54222C63F5DA}</a:tableStyleId>
              </a:tblPr>
              <a:tblGrid>
                <a:gridCol w="3853175"/>
                <a:gridCol w="4954083"/>
                <a:gridCol w="2293557"/>
              </a:tblGrid>
              <a:tr h="420624">
                <a:tc>
                  <a:txBody>
                    <a:bodyPr wrap="square"/>
                    <a:lstStyle/>
                    <a:p>
                      <a:r>
                        <a:rPr sz="1200">
                          <a:solidFill>
                            <a:srgbClr val="151714"/>
                          </a:solidFill>
                          <a:latin typeface="Segoe UI Semibold"/>
                        </a:rPr>
                        <a:t>Claim</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00">
                          <a:solidFill>
                            <a:srgbClr val="151714"/>
                          </a:solidFill>
                          <a:latin typeface="Segoe UI Semibold"/>
                        </a:rPr>
                        <a:t>Source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00">
                          <a:solidFill>
                            <a:srgbClr val="151714"/>
                          </a:solidFill>
                          <a:latin typeface="Segoe UI Semibold"/>
                        </a:rPr>
                        <a:t>Checked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420624">
                <a:tc>
                  <a:txBody>
                    <a:bodyPr wrap="square"/>
                    <a:lstStyle/>
                    <a:p>
                      <a:r>
                        <a:rPr sz="1200">
                          <a:solidFill>
                            <a:srgbClr val="151714"/>
                          </a:solidFill>
                          <a:latin typeface="Segoe UI"/>
                        </a:rPr>
                        <a:t>Xcode 26 + iOS 26 SDK for uploads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developer.apple.com/news/upcoming-requirements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20624">
                <a:tc>
                  <a:txBody>
                    <a:bodyPr wrap="square"/>
                    <a:lstStyle/>
                    <a:p>
                      <a:r>
                        <a:rPr sz="1200">
                          <a:solidFill>
                            <a:srgbClr val="151714"/>
                          </a:solidFill>
                          <a:latin typeface="Segoe UI"/>
                        </a:rPr>
                        <a:t>Third-party AI disclosure; in-app deletion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App Review Guidelines 5.1.2(i), 5.1.1(v)</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20624">
                <a:tc>
                  <a:txBody>
                    <a:bodyPr wrap="square"/>
                    <a:lstStyle/>
                    <a:p>
                      <a:r>
                        <a:rPr sz="1200">
                          <a:solidFill>
                            <a:srgbClr val="151714"/>
                          </a:solidFill>
                          <a:latin typeface="Segoe UI"/>
                        </a:rPr>
                        <a:t>TestFlight external review; 10,000 testers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App Store Connect help · invite external testers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20624">
                <a:tc>
                  <a:txBody>
                    <a:bodyPr wrap="square"/>
                    <a:lstStyle/>
                    <a:p>
                      <a:r>
                        <a:rPr sz="1200">
                          <a:solidFill>
                            <a:srgbClr val="151714"/>
                          </a:solidFill>
                          <a:latin typeface="Segoe UI"/>
                        </a:rPr>
                        <a:t>Target API 36 from Aug 31, 2026</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developer.android.com · target-sdk</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20624">
                <a:tc>
                  <a:txBody>
                    <a:bodyPr wrap="square"/>
                    <a:lstStyle/>
                    <a:p>
                      <a:r>
                        <a:rPr sz="1200">
                          <a:solidFill>
                            <a:srgbClr val="151714"/>
                          </a:solidFill>
                          <a:latin typeface="Segoe UI"/>
                        </a:rPr>
                        <a:t>In-app + web account deletion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Play Console help 13327111</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20624">
                <a:tc>
                  <a:txBody>
                    <a:bodyPr wrap="square"/>
                    <a:lstStyle/>
                    <a:p>
                      <a:r>
                        <a:rPr sz="1200">
                          <a:solidFill>
                            <a:srgbClr val="151714"/>
                          </a:solidFill>
                          <a:latin typeface="Segoe UI"/>
                        </a:rPr>
                        <a:t>12 testers × 14 days (newer personal accounts)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Play Console help 14151465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20624">
                <a:tc>
                  <a:txBody>
                    <a:bodyPr wrap="square"/>
                    <a:lstStyle/>
                    <a:p>
                      <a:r>
                        <a:rPr sz="1200">
                          <a:solidFill>
                            <a:srgbClr val="151714"/>
                          </a:solidFill>
                          <a:latin typeface="Segoe UI"/>
                        </a:rPr>
                        <a:t>AI content reporting in app</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Play Console help 13985936</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20624">
                <a:tc>
                  <a:txBody>
                    <a:bodyPr wrap="square"/>
                    <a:lstStyle/>
                    <a:p>
                      <a:r>
                        <a:rPr sz="1200">
                          <a:solidFill>
                            <a:srgbClr val="151714"/>
                          </a:solidFill>
                          <a:latin typeface="Segoe UI"/>
                        </a:rPr>
                        <a:t>expo/fetch streaming; SecureStore limits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docs.expo.dev (SDK 57 pages)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2026-09-15</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420624">
                <a:tc>
                  <a:txBody>
                    <a:bodyPr wrap="square"/>
                    <a:lstStyle/>
                    <a:p>
                      <a:r>
                        <a:rPr sz="1200">
                          <a:solidFill>
                            <a:srgbClr val="151714"/>
                          </a:solidFill>
                          <a:latin typeface="Segoe UI"/>
                        </a:rPr>
                        <a:t>“Use a framework such as Expo”</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151714"/>
                          </a:solidFill>
                          <a:latin typeface="Segoe UI"/>
                        </a:rPr>
                        <a:t>reactnative.dev environment setup</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00">
                          <a:solidFill>
                            <a:srgbClr val="CC1757"/>
                          </a:solidFill>
                          <a:latin typeface="Segoe UI"/>
                        </a:rPr>
                        <a:t>2026-09-13 · not rechecked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420624">
                <a:tc>
                  <a:txBody>
                    <a:bodyPr wrap="square"/>
                    <a:lstStyle/>
                    <a:p>
                      <a:r>
                        <a:rPr sz="1200">
                          <a:solidFill>
                            <a:srgbClr val="151714"/>
                          </a:solidFill>
                          <a:latin typeface="Segoe UI"/>
                        </a:rPr>
                        <a:t>App Privacy · Data safety forms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151714"/>
                          </a:solidFill>
                          <a:latin typeface="Segoe UI"/>
                        </a:rPr>
                        <a:t>Apple / Google help pages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00">
                          <a:solidFill>
                            <a:srgbClr val="CC1757"/>
                          </a:solidFill>
                          <a:latin typeface="Segoe UI"/>
                        </a:rPr>
                        <a:t>2026-09-13 · not rechecked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DF"/>
        </a:solidFill>
        <a:effectLst/>
      </p:bgPr>
    </p:bg>
    <p:spTree>
      <p:nvGrpSpPr>
        <p:cNvPr id="1" name=""/>
        <p:cNvGrpSpPr/>
        <p:nvPr/>
      </p:nvGrpSpPr>
      <p:grpSpPr/>
      <p:sp>
        <p:nvSpPr>
          <p:cNvPr id="2" name="TextBox 1"/>
          <p:cNvSpPr txBox="1"/>
          <p:nvPr/>
        </p:nvSpPr>
        <p:spPr>
          <a:xfrm>
            <a:off x="548640" y="347472"/>
            <a:ext cx="8686800" cy="292608"/>
          </a:xfrm>
          <a:prstGeom prst="rect">
            <a:avLst/>
          </a:prstGeom>
          <a:noFill/>
        </p:spPr>
        <p:txBody>
          <a:bodyPr wrap="square" lIns="18288" rIns="18288" tIns="9144" bIns="9144" anchor="t">
            <a:spAutoFit/>
          </a:bodyPr>
          <a:lstStyle/>
          <a:p>
            <a:pPr algn="l">
              <a:lnSpc>
                <a:spcPct val="108000"/>
              </a:lnSpc>
              <a:spcAft>
                <a:spcPts val="400"/>
              </a:spcAft>
            </a:pPr>
            <a:r>
              <a:rPr sz="1100" b="0" spc="200">
                <a:solidFill>
                  <a:srgbClr val="43483F"/>
                </a:solidFill>
                <a:latin typeface="Segoe UI Semibold"/>
              </a:rPr>
              <a:t>APPENDIX</a:t>
            </a:r>
          </a:p>
        </p:txBody>
      </p:sp>
      <p:sp>
        <p:nvSpPr>
          <p:cNvPr id="3" name="TextBox 2"/>
          <p:cNvSpPr txBox="1"/>
          <p:nvPr/>
        </p:nvSpPr>
        <p:spPr>
          <a:xfrm>
            <a:off x="548640" y="566928"/>
            <a:ext cx="11064240" cy="868680"/>
          </a:xfrm>
          <a:prstGeom prst="rect">
            <a:avLst/>
          </a:prstGeom>
          <a:noFill/>
        </p:spPr>
        <p:txBody>
          <a:bodyPr wrap="square" lIns="18288" rIns="18288" tIns="9144" bIns="9144" anchor="t">
            <a:spAutoFit/>
          </a:bodyPr>
          <a:lstStyle/>
          <a:p>
            <a:pPr algn="l">
              <a:lnSpc>
                <a:spcPct val="108000"/>
              </a:lnSpc>
              <a:spcAft>
                <a:spcPts val="400"/>
              </a:spcAft>
            </a:pPr>
            <a:r>
              <a:rPr sz="3000" b="0">
                <a:solidFill>
                  <a:srgbClr val="151714"/>
                </a:solidFill>
                <a:latin typeface="Arial Black"/>
              </a:rPr>
              <a:t>A2 · Native API work items in detail</a:t>
            </a:r>
          </a:p>
        </p:txBody>
      </p:sp>
      <p:cxnSp>
        <p:nvCxnSpPr>
          <p:cNvPr id="4" name="Connector 3"/>
          <p:cNvCxnSpPr/>
          <p:nvPr/>
        </p:nvCxnSpPr>
        <p:spPr>
          <a:xfrm>
            <a:off x="548640" y="6382512"/>
            <a:ext cx="11091672" cy="0"/>
          </a:xfrm>
          <a:prstGeom prst="line">
            <a:avLst/>
          </a:prstGeom>
          <a:ln w="12700">
            <a:solidFill>
              <a:srgbClr val="15171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19088"/>
            <a:ext cx="9692640" cy="310896"/>
          </a:xfrm>
          <a:prstGeom prst="rect">
            <a:avLst/>
          </a:prstGeom>
          <a:noFill/>
        </p:spPr>
        <p:txBody>
          <a:bodyPr wrap="square" lIns="18288" rIns="18288" tIns="9144" bIns="9144" anchor="t">
            <a:spAutoFit/>
          </a:bodyPr>
          <a:lstStyle/>
          <a:p>
            <a:pPr algn="l">
              <a:lnSpc>
                <a:spcPct val="108000"/>
              </a:lnSpc>
              <a:spcAft>
                <a:spcPts val="400"/>
              </a:spcAft>
            </a:pPr>
            <a:r>
              <a:rPr sz="1050" b="0">
                <a:solidFill>
                  <a:srgbClr val="43483F"/>
                </a:solidFill>
                <a:latin typeface="Segoe UI"/>
              </a:rPr>
              <a:t>docs/MOBILE-ROADMAP.md §5–7, §13</a:t>
            </a:r>
          </a:p>
        </p:txBody>
      </p:sp>
      <p:sp>
        <p:nvSpPr>
          <p:cNvPr id="6" name="TextBox 5"/>
          <p:cNvSpPr txBox="1"/>
          <p:nvPr/>
        </p:nvSpPr>
        <p:spPr>
          <a:xfrm>
            <a:off x="10241280" y="6419088"/>
            <a:ext cx="1399032" cy="310896"/>
          </a:xfrm>
          <a:prstGeom prst="rect">
            <a:avLst/>
          </a:prstGeom>
          <a:noFill/>
        </p:spPr>
        <p:txBody>
          <a:bodyPr wrap="square" lIns="18288" rIns="18288" tIns="9144" bIns="9144" anchor="t">
            <a:spAutoFit/>
          </a:bodyPr>
          <a:lstStyle/>
          <a:p>
            <a:pPr algn="r">
              <a:lnSpc>
                <a:spcPct val="108000"/>
              </a:lnSpc>
              <a:spcAft>
                <a:spcPts val="400"/>
              </a:spcAft>
            </a:pPr>
            <a:r>
              <a:rPr sz="1050" b="0">
                <a:solidFill>
                  <a:srgbClr val="43483F"/>
                </a:solidFill>
                <a:latin typeface="Segoe UI Semibold"/>
              </a:rPr>
              <a:t>Mobile · 18</a:t>
            </a:r>
          </a:p>
        </p:txBody>
      </p:sp>
      <p:graphicFrame>
        <p:nvGraphicFramePr>
          <p:cNvPr id="7" name="Table 6"/>
          <p:cNvGraphicFramePr>
            <a:graphicFrameLocks noGrp="1"/>
          </p:cNvGraphicFramePr>
          <p:nvPr/>
        </p:nvGraphicFramePr>
        <p:xfrm>
          <a:off x="548640" y="1554480"/>
          <a:ext cx="11100814" cy="3968496"/>
        </p:xfrm>
        <a:graphic>
          <a:graphicData uri="http://schemas.openxmlformats.org/drawingml/2006/table">
            <a:tbl>
              <a:tblPr firstRow="1" bandRow="1">
                <a:tableStyleId>{5940675A-B579-460E-94D1-54222C63F5DA}</a:tableStyleId>
              </a:tblPr>
              <a:tblGrid>
                <a:gridCol w="1743103"/>
                <a:gridCol w="5779763"/>
                <a:gridCol w="3577948"/>
              </a:tblGrid>
              <a:tr h="566928">
                <a:tc>
                  <a:txBody>
                    <a:bodyPr wrap="square"/>
                    <a:lstStyle/>
                    <a:p>
                      <a:r>
                        <a:rPr sz="1250">
                          <a:solidFill>
                            <a:srgbClr val="151714"/>
                          </a:solidFill>
                          <a:latin typeface="Segoe UI Semibold"/>
                        </a:rPr>
                        <a:t>Item</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Contract to define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c>
                  <a:txBody>
                    <a:bodyPr wrap="square"/>
                    <a:lstStyle/>
                    <a:p>
                      <a:r>
                        <a:rPr sz="1250">
                          <a:solidFill>
                            <a:srgbClr val="151714"/>
                          </a:solidFill>
                          <a:latin typeface="Segoe UI Semibold"/>
                        </a:rPr>
                        <a:t>Test before MVP</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DA45"/>
                    </a:solidFill>
                  </a:tcPr>
                </a:tc>
              </a:tr>
              <a:tr h="566928">
                <a:tc>
                  <a:txBody>
                    <a:bodyPr wrap="square"/>
                    <a:lstStyle/>
                    <a:p>
                      <a:r>
                        <a:rPr sz="1250">
                          <a:solidFill>
                            <a:srgbClr val="151714"/>
                          </a:solidFill>
                          <a:latin typeface="Segoe UI Semibold"/>
                        </a:rPr>
                        <a:t>Native sessions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Access token TTL · rotating refresh · per-device record · family reuse detection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Replay, rotation race, revoke all</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66928">
                <a:tc>
                  <a:txBody>
                    <a:bodyPr wrap="square"/>
                    <a:lstStyle/>
                    <a:p>
                      <a:r>
                        <a:rPr sz="1250">
                          <a:solidFill>
                            <a:srgbClr val="151714"/>
                          </a:solidFill>
                          <a:latin typeface="Segoe UI Semibold"/>
                        </a:rPr>
                        <a:t>Operation identity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Idempotency key + payload fingerprint · durable turn · lease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Duplicate taps, two devices, worker crash</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66928">
                <a:tc>
                  <a:txBody>
                    <a:bodyPr wrap="square"/>
                    <a:lstStyle/>
                    <a:p>
                      <a:r>
                        <a:rPr sz="1250">
                          <a:solidFill>
                            <a:srgbClr val="151714"/>
                          </a:solidFill>
                          <a:latin typeface="Segoe UI Semibold"/>
                        </a:rPr>
                        <a:t>Reconciliation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Status endpoint · stored transcript as truth · no auto-resend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Background, OS kill, airplane mode</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66928">
                <a:tc>
                  <a:txBody>
                    <a:bodyPr wrap="square"/>
                    <a:lstStyle/>
                    <a:p>
                      <a:r>
                        <a:rPr sz="1250">
                          <a:solidFill>
                            <a:srgbClr val="151714"/>
                          </a:solidFill>
                          <a:latin typeface="Segoe UI Semibold"/>
                        </a:rPr>
                        <a:t>Errors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Stable codes: auth · allowance · provider limit · interrupted · memory</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Each code surfaced and announced</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r h="566928">
                <a:tc>
                  <a:txBody>
                    <a:bodyPr wrap="square"/>
                    <a:lstStyle/>
                    <a:p>
                      <a:r>
                        <a:rPr sz="1250">
                          <a:solidFill>
                            <a:srgbClr val="151714"/>
                          </a:solidFill>
                          <a:latin typeface="Segoe UI Semibold"/>
                        </a:rPr>
                        <a:t>Pagination</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Cursor for conversations and messages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c>
                  <a:txBody>
                    <a:bodyPr wrap="square"/>
                    <a:lstStyle/>
                    <a:p>
                      <a:r>
                        <a:rPr sz="1250">
                          <a:solidFill>
                            <a:srgbClr val="151714"/>
                          </a:solidFill>
                          <a:latin typeface="Segoe UI"/>
                        </a:rPr>
                        <a:t>Large histories on old devices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CF2"/>
                    </a:solidFill>
                  </a:tcPr>
                </a:tc>
              </a:tr>
              <a:tr h="566928">
                <a:tc>
                  <a:txBody>
                    <a:bodyPr wrap="square"/>
                    <a:lstStyle/>
                    <a:p>
                      <a:r>
                        <a:rPr sz="1250">
                          <a:solidFill>
                            <a:srgbClr val="151714"/>
                          </a:solidFill>
                          <a:latin typeface="Segoe UI Semibold"/>
                        </a:rPr>
                        <a:t>Store support</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AI report intake · web deletion page · API version header</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c>
                  <a:txBody>
                    <a:bodyPr wrap="square"/>
                    <a:lstStyle/>
                    <a:p>
                      <a:r>
                        <a:rPr sz="1250">
                          <a:solidFill>
                            <a:srgbClr val="151714"/>
                          </a:solidFill>
                          <a:latin typeface="Segoe UI"/>
                        </a:rPr>
                        <a:t>Reports reach reviewers; page loads</a:t>
                      </a:r>
                    </a:p>
                  </a:txBody>
                  <a:tcPr marL="64008" marR="64008" marT="27432" marB="27432" anchor="ctr">
                    <a:lnL w="12700">
                      <a:solidFill>
                        <a:srgbClr val="151714"/>
                      </a:solidFill>
                    </a:lnL>
                    <a:lnR w="12700">
                      <a:solidFill>
                        <a:srgbClr val="151714"/>
                      </a:solidFill>
                    </a:lnR>
                    <a:lnT w="12700">
                      <a:solidFill>
                        <a:srgbClr val="151714"/>
                      </a:solidFill>
                    </a:lnT>
                    <a:lnB w="12700">
                      <a:solidFill>
                        <a:srgbClr val="151714"/>
                      </a:solidFill>
                    </a:lnB>
                    <a:solidFill>
                      <a:srgbClr val="FFF7D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